
<file path=[Content_Types].xml><?xml version="1.0" encoding="utf-8"?>
<Types xmlns="http://schemas.openxmlformats.org/package/2006/content-types">
  <Default Extension="xlsx" ContentType="application/vnd.openxmlformats-officedocument.spreadsheetml.sheet"/>
  <Default Extension="wmf" ContentType="image/x-wmf"/>
  <Default Extension="png" ContentType="image/png"/>
  <Default Extension="jpg" ContentType="image/jpeg"/>
  <Default Extension="jpeg" ContentType="image/jpeg"/>
  <Default Extension="xml" ContentType="application/xml"/>
  <Default Extension="emf" ContentType="image/x-emf"/>
  <Default Extension="rels" ContentType="application/vnd.openxmlformats-package.relationships+xml"/>
  <Default Extension="bin" ContentType="application/vnd.openxmlformats-officedocument.oleObject"/>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s/slide50.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3.xml" ContentType="application/vnd.openxmlformats-officedocument.presentationml.slide+xml"/>
  <Override PartName="/ppt/slides/slide37.xml" ContentType="application/vnd.openxmlformats-officedocument.presentationml.slide+xml"/>
  <Override PartName="/ppt/slides/slide51.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19.xml" ContentType="application/vnd.openxmlformats-officedocument.presentationml.slide+xml"/>
  <Override PartName="/ppt/slides/slide4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33.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21.xml" ContentType="application/vnd.openxmlformats-officedocument.presentationml.slide+xml"/>
  <Override PartName="/ppt/slides/slide44.xml" ContentType="application/vnd.openxmlformats-officedocument.presentationml.slide+xml"/>
  <Override PartName="/ppt/slides/slide6.xml" ContentType="application/vnd.openxmlformats-officedocument.presentationml.slide+xml"/>
  <Override PartName="/ppt/slides/slide1.xml" ContentType="application/vnd.openxmlformats-officedocument.presentationml.slide+xml"/>
  <Override PartName="/ppt/slides/slide26.xml" ContentType="application/vnd.openxmlformats-officedocument.presentationml.slide+xml"/>
  <Override PartName="/ppt/slideLayouts/slideLayout8.xml" ContentType="application/vnd.openxmlformats-officedocument.presentationml.slideLayout+xml"/>
  <Override PartName="/ppt/slides/slide34.xml" ContentType="application/vnd.openxmlformats-officedocument.presentationml.slide+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slides/slide5.xml" ContentType="application/vnd.openxmlformats-officedocument.presentationml.slide+xml"/>
  <Override PartName="/ppt/slides/slide48.xml" ContentType="application/vnd.openxmlformats-officedocument.presentationml.slide+xml"/>
  <Override PartName="/ppt/slides/slide4.xml" ContentType="application/vnd.openxmlformats-officedocument.presentationml.slide+xml"/>
  <Override PartName="/ppt/slides/slide27.xml" ContentType="application/vnd.openxmlformats-officedocument.presentationml.slide+xml"/>
  <Override PartName="/ppt/slideMasters/slideMaster2.xml" ContentType="application/vnd.openxmlformats-officedocument.presentationml.slideMaster+xml"/>
  <Override PartName="/ppt/slideLayouts/slideLayout4.xml" ContentType="application/vnd.openxmlformats-officedocument.presentationml.slideLayout+xml"/>
  <Override PartName="/ppt/slides/slide3.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slides/slide25.xml" ContentType="application/vnd.openxmlformats-officedocument.presentationml.slide+xml"/>
  <Override PartName="/ppt/theme/theme5.xml" ContentType="application/vnd.openxmlformats-officedocument.theme+xml"/>
  <Override PartName="/ppt/slideLayouts/slideLayout3.xml" ContentType="application/vnd.openxmlformats-officedocument.presentationml.slideLayout+xml"/>
  <Override PartName="/ppt/theme/theme4.xml" ContentType="application/vnd.openxmlformats-officedocument.theme+xml"/>
  <Override PartName="/ppt/slideMasters/slideMaster4.xml" ContentType="application/vnd.openxmlformats-officedocument.presentationml.slideMaster+xml"/>
  <Override PartName="/ppt/slides/slide22.xml" ContentType="application/vnd.openxmlformats-officedocument.presentationml.slide+xml"/>
  <Override PartName="/ppt/slides/slide47.xml" ContentType="application/vnd.openxmlformats-officedocument.presentationml.slide+xml"/>
  <Override PartName="/ppt/theme/theme3.xml" ContentType="application/vnd.openxmlformats-officedocument.theme+xml"/>
  <Override PartName="/ppt/slideLayouts/slideLayout7.xml" ContentType="application/vnd.openxmlformats-officedocument.presentationml.slideLayout+xml"/>
  <Override PartName="/ppt/slides/slide14.xml" ContentType="application/vnd.openxmlformats-officedocument.presentationml.slide+xml"/>
  <Override PartName="/ppt/slides/slide40.xml" ContentType="application/vnd.openxmlformats-officedocument.presentationml.slide+xml"/>
  <Override PartName="/ppt/slideMasters/slideMaster1.xml" ContentType="application/vnd.openxmlformats-officedocument.presentationml.slideMaster+xml"/>
  <Override PartName="/ppt/theme/theme2.xml" ContentType="application/vnd.openxmlformats-officedocument.theme+xml"/>
  <Override PartName="/ppt/tableStyles.xml" ContentType="application/vnd.openxmlformats-officedocument.presentationml.tableStyles+xml"/>
  <Override PartName="/ppt/slides/slide16.xml" ContentType="application/vnd.openxmlformats-officedocument.presentationml.slide+xml"/>
  <Override PartName="/ppt/slides/slide41.xml" ContentType="application/vnd.openxmlformats-officedocument.presentationml.slide+xml"/>
  <Override PartName="/ppt/slideLayouts/slideLayout1.xml" ContentType="application/vnd.openxmlformats-officedocument.presentationml.slideLayout+xml"/>
  <Override PartName="/ppt/theme/theme1.xml" ContentType="application/vnd.openxmlformats-officedocument.theme+xml"/>
  <Override PartName="/ppt/slides/slide28.xml" ContentType="application/vnd.openxmlformats-officedocument.presentationml.slide+xml"/>
  <Override PartName="/ppt/slides/slide2.xml" ContentType="application/vnd.openxmlformats-officedocument.presentationml.slide+xml"/>
  <Override PartName="/ppt/slides/slide39.xml" ContentType="application/vnd.openxmlformats-officedocument.presentationml.slide+xml"/>
  <Override PartName="/ppt/viewProps.xml" ContentType="application/vnd.openxmlformats-officedocument.presentationml.viewProps+xml"/>
  <Override PartName="/ppt/slides/slide49.xml" ContentType="application/vnd.openxmlformats-officedocument.presentationml.slide+xml"/>
  <Override PartName="/ppt/slideLayouts/slideLayout6.xml" ContentType="application/vnd.openxmlformats-officedocument.presentationml.slideLayout+xml"/>
  <Override PartName="/ppt/presProps.xml" ContentType="application/vnd.openxmlformats-officedocument.presentationml.presProps+xml"/>
  <Override PartName="/ppt/slides/slide38.xml" ContentType="application/vnd.openxmlformats-officedocument.presentationml.slide+xml"/>
  <Override PartName="/ppt/slides/slide18.xml" ContentType="application/vnd.openxmlformats-officedocument.presentationml.slide+xml"/>
  <Override PartName="/ppt/slideMasters/slideMaster3.xml" ContentType="application/vnd.openxmlformats-officedocument.presentationml.slideMaster+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 id="2147483650" r:id="rId2"/>
    <p:sldMasterId id="2147483654" r:id="rId3"/>
    <p:sldMasterId id="2147483656" r:id="rId4"/>
  </p:sldMasterIdLst>
  <p:notesMasterIdLst>
    <p:notesMasterId r:id="rId61"/>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Lst>
  <p:sldSz cx="9144000" cy="6858000"/>
  <p:notesSz cx="9144000" cy="6858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p:scale>
          <a:sx n="116" d="112"/>
          <a:sy n="105" d="108"/>
        </p:scale>
        <p:origin x="114" y="101"/>
      </p:cViewPr>
      <p:guideLst>
        <p:guide pos="2880"/>
        <p:guide pos="2160" orient="horz"/>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theme" Target="theme/theme1.xml"/><Relationship Id="rId6" Type="http://schemas.openxmlformats.org/officeDocument/2006/relationships/theme" Target="theme/theme2.xml"/><Relationship Id="rId7" Type="http://schemas.openxmlformats.org/officeDocument/2006/relationships/theme" Target="theme/theme3.xml"/><Relationship Id="rId8" Type="http://schemas.openxmlformats.org/officeDocument/2006/relationships/theme" Target="theme/theme4.xml"/><Relationship Id="rId9" Type="http://schemas.openxmlformats.org/officeDocument/2006/relationships/theme" Target="theme/theme5.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notesMaster" Target="notesMasters/notesMaster1.xml"/><Relationship Id="rId62" Type="http://schemas.openxmlformats.org/officeDocument/2006/relationships/presProps" Target="presProps.xml" /><Relationship Id="rId63" Type="http://schemas.openxmlformats.org/officeDocument/2006/relationships/tableStyles" Target="tableStyles.xml" /><Relationship Id="rId64"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spTree>
      <p:nvGrpSpPr>
        <p:cNvPr id="1" name=""/>
        <p:cNvGrpSpPr/>
        <p:nvPr/>
      </p:nvGrpSpPr>
      <p:grpSpPr bwMode="auto">
        <a:xfrm>
          <a:off x="0" y="0"/>
          <a:ext cx="0" cy="0"/>
          <a:chOff x="0" y="0"/>
          <a:chExt cx="0" cy="0"/>
        </a:xfrm>
      </p:grpSpPr>
      <p:sp>
        <p:nvSpPr>
          <p:cNvPr id="482" name=""/>
          <p:cNvSpPr/>
          <p:nvPr/>
        </p:nvSpPr>
        <p:spPr bwMode="auto">
          <a:xfrm>
            <a:off x="0" y="0"/>
            <a:ext cx="6886800" cy="9622800"/>
          </a:xfrm>
          <a:prstGeom prst="rect">
            <a:avLst/>
          </a:prstGeom>
          <a:solidFill>
            <a:srgbClr val="FFFFFF"/>
          </a:solidFill>
          <a:ln w="0">
            <a:noFill/>
          </a:ln>
        </p:spPr>
        <p:txBody>
          <a:bodyPr lIns="90000" tIns="45000" rIns="90000" bIns="45000" anchor="ctr" anchorCtr="1">
            <a:noAutofit/>
          </a:bodyPr>
          <a:p>
            <a:pPr>
              <a:defRPr/>
            </a:pPr>
            <a:endParaRPr lang="en-US" sz="1800" b="0" strike="noStrike" spc="-1">
              <a:solidFill>
                <a:srgbClr val="000000"/>
              </a:solidFill>
              <a:latin typeface="Arial"/>
            </a:endParaRPr>
          </a:p>
        </p:txBody>
      </p:sp>
      <p:sp>
        <p:nvSpPr>
          <p:cNvPr id="483" name="PlaceHolder 1"/>
          <p:cNvSpPr>
            <a:spLocks noGrp="1"/>
          </p:cNvSpPr>
          <p:nvPr>
            <p:ph type="hdr"/>
          </p:nvPr>
        </p:nvSpPr>
        <p:spPr bwMode="auto">
          <a:xfrm>
            <a:off x="-360" y="0"/>
            <a:ext cx="2986200" cy="480960"/>
          </a:xfrm>
          <a:prstGeom prst="rect">
            <a:avLst/>
          </a:prstGeom>
          <a:noFill/>
          <a:ln w="0">
            <a:noFill/>
          </a:ln>
        </p:spPr>
        <p:txBody>
          <a:bodyPr lIns="90000" tIns="46800" rIns="90000" bIns="46800" anchor="t">
            <a:noAutofit/>
          </a:bodyPr>
          <a:p>
            <a:pPr marL="216000"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200" b="0" strike="noStrike" spc="-1">
                <a:solidFill>
                  <a:srgbClr val="000000"/>
                </a:solidFill>
                <a:latin typeface="Times New Roman"/>
              </a:rPr>
              <a:t>&lt;header&gt;</a:t>
            </a:r>
            <a:endParaRPr lang="en-US" sz="1200" b="0" strike="noStrike" spc="-1">
              <a:solidFill>
                <a:srgbClr val="000000"/>
              </a:solidFill>
              <a:latin typeface="Times New Roman"/>
            </a:endParaRPr>
          </a:p>
        </p:txBody>
      </p:sp>
      <p:sp>
        <p:nvSpPr>
          <p:cNvPr id="484" name="PlaceHolder 2"/>
          <p:cNvSpPr>
            <a:spLocks noGrp="1"/>
          </p:cNvSpPr>
          <p:nvPr>
            <p:ph type="dt" idx="6"/>
          </p:nvPr>
        </p:nvSpPr>
        <p:spPr bwMode="auto">
          <a:xfrm>
            <a:off x="3900600" y="0"/>
            <a:ext cx="2985840" cy="480960"/>
          </a:xfrm>
          <a:prstGeom prst="rect">
            <a:avLst/>
          </a:prstGeom>
          <a:noFill/>
          <a:ln w="0">
            <a:noFill/>
          </a:ln>
        </p:spPr>
        <p:txBody>
          <a:bodyPr lIns="90000" tIns="46800" rIns="90000" bIns="46800" anchor="t">
            <a:noAutofit/>
          </a:bodyPr>
          <a:lstStyle>
            <a:lvl1pPr marL="216000"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ru-RU" sz="1200" b="0" strike="noStrike" spc="-1">
                <a:solidFill>
                  <a:srgbClr val="000000"/>
                </a:solidFill>
                <a:latin typeface="Times New Roman"/>
              </a:defRPr>
            </a:lvl1pPr>
          </a:lstStyle>
          <a:p>
            <a:pPr marL="216000"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200" b="0" strike="noStrike" spc="-1">
                <a:solidFill>
                  <a:srgbClr val="000000"/>
                </a:solidFill>
                <a:latin typeface="Times New Roman"/>
              </a:rPr>
              <a:t>&lt;date/time&gt;</a:t>
            </a:r>
            <a:endParaRPr lang="en-US" sz="1200" b="0" strike="noStrike" spc="-1">
              <a:solidFill>
                <a:srgbClr val="000000"/>
              </a:solidFill>
              <a:latin typeface="Times New Roman"/>
            </a:endParaRPr>
          </a:p>
        </p:txBody>
      </p:sp>
      <p:sp>
        <p:nvSpPr>
          <p:cNvPr id="485" name="PlaceHolder 3"/>
          <p:cNvSpPr>
            <a:spLocks noGrp="1"/>
          </p:cNvSpPr>
          <p:nvPr>
            <p:ph type="sldImg"/>
          </p:nvPr>
        </p:nvSpPr>
        <p:spPr bwMode="auto">
          <a:xfrm>
            <a:off x="1039680" y="722160"/>
            <a:ext cx="4811760" cy="3608640"/>
          </a:xfrm>
          <a:prstGeom prst="rect">
            <a:avLst/>
          </a:prstGeom>
          <a:solidFill>
            <a:srgbClr val="FFFFFF"/>
          </a:solidFill>
          <a:ln w="9360">
            <a:solidFill>
              <a:srgbClr val="000000"/>
            </a:solidFill>
            <a:miter/>
          </a:ln>
        </p:spPr>
        <p:txBody>
          <a:bodyPr lIns="90000" tIns="46800" rIns="90000" bIns="46800" anchor="ctr">
            <a:noAutofit/>
          </a:bodyPr>
          <a:p>
            <a:pPr indent="0">
              <a:lnSpc>
                <a:spcPct val="90000"/>
              </a:lnSpc>
              <a:spcBef>
                <a:spcPts val="137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4400" b="0" strike="noStrike" spc="-1">
                <a:solidFill>
                  <a:srgbClr val="005695"/>
                </a:solidFill>
                <a:latin typeface="Futura Lt"/>
              </a:rPr>
              <a:t>Click to move the slide</a:t>
            </a:r>
            <a:endParaRPr lang="en-US" sz="4400" b="0" strike="noStrike" spc="-1">
              <a:solidFill>
                <a:srgbClr val="005695"/>
              </a:solidFill>
              <a:latin typeface="Futura Lt"/>
            </a:endParaRPr>
          </a:p>
        </p:txBody>
      </p:sp>
      <p:sp>
        <p:nvSpPr>
          <p:cNvPr id="486" name="PlaceHolder 4"/>
          <p:cNvSpPr>
            <a:spLocks noGrp="1"/>
          </p:cNvSpPr>
          <p:nvPr>
            <p:ph type="body"/>
          </p:nvPr>
        </p:nvSpPr>
        <p:spPr bwMode="auto">
          <a:xfrm>
            <a:off x="689040" y="4570200"/>
            <a:ext cx="5510160" cy="4330440"/>
          </a:xfrm>
          <a:prstGeom prst="rect">
            <a:avLst/>
          </a:prstGeom>
          <a:noFill/>
          <a:ln w="0">
            <a:noFill/>
          </a:ln>
        </p:spPr>
        <p:txBody>
          <a:bodyPr lIns="90000" tIns="46800" rIns="90000" bIns="46800" anchor="t">
            <a:noAutofit/>
          </a:bodyPr>
          <a:p>
            <a:pPr indent="0">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200" b="0" strike="noStrike" spc="-1">
                <a:solidFill>
                  <a:srgbClr val="000000"/>
                </a:solidFill>
                <a:latin typeface="Arial"/>
              </a:rPr>
              <a:t>Click to edit the notes format</a:t>
            </a:r>
            <a:endParaRPr lang="en-US" sz="1200" b="0" strike="noStrike" spc="-1">
              <a:solidFill>
                <a:srgbClr val="000000"/>
              </a:solidFill>
              <a:latin typeface="Arial"/>
            </a:endParaRPr>
          </a:p>
        </p:txBody>
      </p:sp>
      <p:sp>
        <p:nvSpPr>
          <p:cNvPr id="487" name="PlaceHolder 5"/>
          <p:cNvSpPr>
            <a:spLocks noGrp="1"/>
          </p:cNvSpPr>
          <p:nvPr>
            <p:ph type="ftr" idx="7"/>
          </p:nvPr>
        </p:nvSpPr>
        <p:spPr bwMode="auto">
          <a:xfrm>
            <a:off x="-360" y="9140760"/>
            <a:ext cx="2986200" cy="480960"/>
          </a:xfrm>
          <a:prstGeom prst="rect">
            <a:avLst/>
          </a:prstGeom>
          <a:noFill/>
          <a:ln w="0">
            <a:noFill/>
          </a:ln>
        </p:spPr>
        <p:txBody>
          <a:bodyPr lIns="90000" tIns="46800" rIns="90000" bIns="46800" anchor="b">
            <a:noAutofit/>
          </a:bodyPr>
          <a:lstStyle>
            <a:lvl1pPr marL="216000"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ru-RU" sz="1200" b="0" strike="noStrike" spc="-1">
                <a:solidFill>
                  <a:srgbClr val="000000"/>
                </a:solidFill>
                <a:latin typeface="Times New Roman"/>
              </a:defRPr>
            </a:lvl1pPr>
          </a:lstStyle>
          <a:p>
            <a:pPr marL="216000"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200" b="0" strike="noStrike" spc="-1">
                <a:solidFill>
                  <a:srgbClr val="000000"/>
                </a:solidFill>
                <a:latin typeface="Times New Roman"/>
              </a:rPr>
              <a:t>&lt;footer&gt;</a:t>
            </a:r>
            <a:endParaRPr lang="en-US" sz="1200" b="0" strike="noStrike" spc="-1">
              <a:solidFill>
                <a:srgbClr val="000000"/>
              </a:solidFill>
              <a:latin typeface="Times New Roman"/>
            </a:endParaRPr>
          </a:p>
        </p:txBody>
      </p:sp>
      <p:sp>
        <p:nvSpPr>
          <p:cNvPr id="488" name="PlaceHolder 6"/>
          <p:cNvSpPr>
            <a:spLocks noGrp="1"/>
          </p:cNvSpPr>
          <p:nvPr>
            <p:ph type="sldNum" idx="8"/>
          </p:nvPr>
        </p:nvSpPr>
        <p:spPr bwMode="auto">
          <a:xfrm>
            <a:off x="3900600" y="9140760"/>
            <a:ext cx="2985840" cy="480960"/>
          </a:xfrm>
          <a:prstGeom prst="rect">
            <a:avLst/>
          </a:prstGeom>
          <a:noFill/>
          <a:ln w="0">
            <a:noFill/>
          </a:ln>
        </p:spPr>
        <p:txBody>
          <a:bodyPr lIns="90000" tIns="46800" rIns="90000" bIns="46800" anchor="b">
            <a:noAutofit/>
          </a:bodyPr>
          <a:lstStyle>
            <a:lvl1pPr marL="216000"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ru-RU" sz="1200" b="0" strike="noStrike" spc="-1">
                <a:solidFill>
                  <a:srgbClr val="000000"/>
                </a:solidFill>
                <a:latin typeface="Times New Roman"/>
              </a:defRPr>
            </a:lvl1pPr>
          </a:lstStyle>
          <a:p>
            <a:pPr marL="216000"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fld id="{F63D1662-F2AB-4BDD-964E-3640131A37E0}" type="slidenum">
              <a:rPr lang="ru-RU" sz="1200" b="0" strike="noStrike" spc="-1">
                <a:solidFill>
                  <a:srgbClr val="000000"/>
                </a:solidFill>
                <a:latin typeface="Times New Roman"/>
              </a:rPr>
              <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8" name="PlaceHolder 1"/>
          <p:cNvSpPr>
            <a:spLocks noGrp="1"/>
          </p:cNvSpPr>
          <p:nvPr>
            <p:ph type="sldImg"/>
          </p:nvPr>
        </p:nvSpPr>
        <p:spPr bwMode="auto">
          <a:xfrm>
            <a:off x="1039680" y="722160"/>
            <a:ext cx="4811760" cy="3608640"/>
          </a:xfrm>
          <a:prstGeom prst="rect">
            <a:avLst/>
          </a:prstGeom>
          <a:ln w="0">
            <a:noFill/>
          </a:ln>
        </p:spPr>
      </p:sp>
      <p:sp>
        <p:nvSpPr>
          <p:cNvPr id="989" name="PlaceHolder 2"/>
          <p:cNvSpPr>
            <a:spLocks noGrp="1"/>
          </p:cNvSpPr>
          <p:nvPr>
            <p:ph type="body"/>
          </p:nvPr>
        </p:nvSpPr>
        <p:spPr bwMode="auto">
          <a:xfrm>
            <a:off x="689040" y="4570200"/>
            <a:ext cx="5510160" cy="4330440"/>
          </a:xfrm>
          <a:prstGeom prst="rect">
            <a:avLst/>
          </a:prstGeom>
          <a:noFill/>
          <a:ln w="0">
            <a:noFill/>
          </a:ln>
        </p:spPr>
        <p:txBody>
          <a:bodyPr lIns="90000" tIns="46800" rIns="90000" bIns="46800" anchor="t">
            <a:noAutofit/>
          </a:bodyPr>
          <a:p>
            <a:pPr indent="0">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200" b="0" strike="noStrike" spc="-1">
                <a:solidFill>
                  <a:srgbClr val="000000"/>
                </a:solidFill>
                <a:latin typeface="Arial"/>
              </a:rPr>
              <a:t>См. Стр. 952 чудо-книги</a:t>
            </a:r>
            <a:endParaRPr lang="en-US" sz="1200" b="0" strike="noStrike" spc="-1">
              <a:solidFill>
                <a:srgbClr val="000000"/>
              </a:solidFill>
              <a:latin typeface="Arial"/>
            </a:endParaRP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0" name="PlaceHolder 1"/>
          <p:cNvSpPr>
            <a:spLocks noGrp="1"/>
          </p:cNvSpPr>
          <p:nvPr>
            <p:ph type="sldImg"/>
          </p:nvPr>
        </p:nvSpPr>
        <p:spPr bwMode="auto">
          <a:xfrm>
            <a:off x="1469880" y="906480"/>
            <a:ext cx="4138920" cy="3103560"/>
          </a:xfrm>
          <a:prstGeom prst="rect">
            <a:avLst/>
          </a:prstGeom>
          <a:ln w="0">
            <a:noFill/>
          </a:ln>
        </p:spPr>
      </p:sp>
      <p:sp>
        <p:nvSpPr>
          <p:cNvPr id="991" name="PlaceHolder 2"/>
          <p:cNvSpPr>
            <a:spLocks noGrp="1"/>
          </p:cNvSpPr>
          <p:nvPr>
            <p:ph type="body"/>
          </p:nvPr>
        </p:nvSpPr>
        <p:spPr bwMode="auto">
          <a:xfrm>
            <a:off x="1080720" y="4309560"/>
            <a:ext cx="4925880" cy="3622680"/>
          </a:xfrm>
          <a:prstGeom prst="rect">
            <a:avLst/>
          </a:prstGeom>
          <a:noFill/>
          <a:ln w="0">
            <a:noFill/>
          </a:ln>
        </p:spPr>
        <p:txBody>
          <a:bodyPr lIns="0" tIns="0" rIns="0" bIns="0" anchor="t">
            <a:noAutofit/>
          </a:bodyPr>
          <a:p>
            <a:pPr marL="216000" indent="-216000">
              <a:lnSpc>
                <a:spcPct val="95000"/>
              </a:lnSpc>
              <a:buNone/>
              <a:tabLst>
                <a:tab pos="0" algn="l"/>
                <a:tab pos="723960" algn="l"/>
                <a:tab pos="1447920" algn="l"/>
                <a:tab pos="2171880" algn="l"/>
                <a:tab pos="2895480" algn="l"/>
                <a:tab pos="3619440" algn="l"/>
                <a:tab pos="4343400" algn="l"/>
                <a:tab pos="5067360" algn="l"/>
                <a:tab pos="5391000" algn="l"/>
                <a:tab pos="5840280" algn="l"/>
                <a:tab pos="6289560" algn="l"/>
                <a:tab pos="6738840" algn="l"/>
                <a:tab pos="7188120" algn="l"/>
                <a:tab pos="7637400" algn="l"/>
                <a:tab pos="8086680" algn="l"/>
                <a:tab pos="8535960" algn="l"/>
                <a:tab pos="8985240" algn="l"/>
                <a:tab pos="9434520" algn="l"/>
                <a:tab pos="9883800" algn="l"/>
                <a:tab pos="10333079" algn="l"/>
                <a:tab pos="10782360" algn="l"/>
              </a:tabLst>
              <a:defRPr/>
            </a:pPr>
            <a:r>
              <a:rPr lang="en-GB" sz="1400" b="0" strike="noStrike" spc="-1">
                <a:solidFill>
                  <a:srgbClr val="000000"/>
                </a:solidFill>
                <a:latin typeface="Bitstream Vera Serif"/>
              </a:rPr>
              <a:t>(1) How to merge fairly?</a:t>
            </a:r>
            <a:endParaRPr lang="en-US" sz="1400" b="0" strike="noStrike" spc="-1">
              <a:solidFill>
                <a:srgbClr val="000000"/>
              </a:solidFill>
              <a:latin typeface="Arial"/>
            </a:endParaRPr>
          </a:p>
          <a:p>
            <a:pPr marL="216000" indent="-216000">
              <a:lnSpc>
                <a:spcPct val="95000"/>
              </a:lnSpc>
              <a:buNone/>
              <a:tabLst>
                <a:tab pos="0" algn="l"/>
                <a:tab pos="723960" algn="l"/>
                <a:tab pos="1447920" algn="l"/>
                <a:tab pos="2171880" algn="l"/>
                <a:tab pos="2895480" algn="l"/>
                <a:tab pos="3619440" algn="l"/>
                <a:tab pos="4343400" algn="l"/>
                <a:tab pos="5067360" algn="l"/>
                <a:tab pos="5391000" algn="l"/>
                <a:tab pos="5840280" algn="l"/>
                <a:tab pos="6289560" algn="l"/>
                <a:tab pos="6738840" algn="l"/>
                <a:tab pos="7188120" algn="l"/>
                <a:tab pos="7637400" algn="l"/>
                <a:tab pos="8086680" algn="l"/>
                <a:tab pos="8535960" algn="l"/>
                <a:tab pos="8985240" algn="l"/>
                <a:tab pos="9434520" algn="l"/>
                <a:tab pos="9883800" algn="l"/>
                <a:tab pos="10333079" algn="l"/>
                <a:tab pos="10782360" algn="l"/>
              </a:tabLst>
              <a:defRPr/>
            </a:pPr>
            <a:endParaRPr lang="en-US" sz="1400" b="0" strike="noStrike" spc="-1">
              <a:solidFill>
                <a:srgbClr val="000000"/>
              </a:solidFill>
              <a:latin typeface="Arial"/>
            </a:endParaRPr>
          </a:p>
          <a:p>
            <a:pPr marL="216000" indent="-216000">
              <a:lnSpc>
                <a:spcPct val="95000"/>
              </a:lnSpc>
              <a:buNone/>
              <a:tabLst>
                <a:tab pos="0" algn="l"/>
                <a:tab pos="723960" algn="l"/>
                <a:tab pos="1447920" algn="l"/>
                <a:tab pos="2171880" algn="l"/>
                <a:tab pos="2895480" algn="l"/>
                <a:tab pos="3619440" algn="l"/>
                <a:tab pos="4343400" algn="l"/>
                <a:tab pos="5067360" algn="l"/>
                <a:tab pos="5391000" algn="l"/>
                <a:tab pos="5840280" algn="l"/>
                <a:tab pos="6289560" algn="l"/>
                <a:tab pos="6738840" algn="l"/>
                <a:tab pos="7188120" algn="l"/>
                <a:tab pos="7637400" algn="l"/>
                <a:tab pos="8086680" algn="l"/>
                <a:tab pos="8535960" algn="l"/>
                <a:tab pos="8985240" algn="l"/>
                <a:tab pos="9434520" algn="l"/>
                <a:tab pos="9883800" algn="l"/>
                <a:tab pos="10333079" algn="l"/>
                <a:tab pos="10782360" algn="l"/>
              </a:tabLst>
              <a:defRPr/>
            </a:pPr>
            <a:r>
              <a:rPr lang="en-GB" sz="1400" b="0" strike="noStrike" spc="-1">
                <a:solidFill>
                  <a:srgbClr val="000000"/>
                </a:solidFill>
                <a:latin typeface="Bitstream Vera Serif"/>
              </a:rPr>
              <a:t>     </a:t>
            </a:r>
            <a:r>
              <a:rPr lang="en-GB" sz="1400" b="0" strike="noStrike" spc="-1">
                <a:solidFill>
                  <a:srgbClr val="000000"/>
                </a:solidFill>
                <a:latin typeface="Bitstream Vera Serif"/>
              </a:rPr>
              <a:t>How to normalize the channels' evaluation scores in similar scale? Sometime rank can be used as a method of normalization.</a:t>
            </a:r>
            <a:endParaRPr lang="en-US" sz="1400" b="0" strike="noStrike" spc="-1">
              <a:solidFill>
                <a:srgbClr val="000000"/>
              </a:solidFill>
              <a:latin typeface="Arial"/>
            </a:endParaRPr>
          </a:p>
          <a:p>
            <a:pPr marL="216000" indent="-216000">
              <a:lnSpc>
                <a:spcPct val="95000"/>
              </a:lnSpc>
              <a:buNone/>
              <a:tabLst>
                <a:tab pos="0" algn="l"/>
                <a:tab pos="723960" algn="l"/>
                <a:tab pos="1447920" algn="l"/>
                <a:tab pos="2171880" algn="l"/>
                <a:tab pos="2895480" algn="l"/>
                <a:tab pos="3619440" algn="l"/>
                <a:tab pos="4343400" algn="l"/>
                <a:tab pos="5067360" algn="l"/>
                <a:tab pos="5391000" algn="l"/>
                <a:tab pos="5840280" algn="l"/>
                <a:tab pos="6289560" algn="l"/>
                <a:tab pos="6738840" algn="l"/>
                <a:tab pos="7188120" algn="l"/>
                <a:tab pos="7637400" algn="l"/>
                <a:tab pos="8086680" algn="l"/>
                <a:tab pos="8535960" algn="l"/>
                <a:tab pos="8985240" algn="l"/>
                <a:tab pos="9434520" algn="l"/>
                <a:tab pos="9883800" algn="l"/>
                <a:tab pos="10333079" algn="l"/>
                <a:tab pos="10782360" algn="l"/>
              </a:tabLst>
              <a:defRPr/>
            </a:pPr>
            <a:r>
              <a:rPr lang="en-GB" sz="1400" b="0" strike="noStrike" spc="-1">
                <a:solidFill>
                  <a:srgbClr val="000000"/>
                </a:solidFill>
                <a:latin typeface="Bitstream Vera Serif"/>
              </a:rPr>
              <a:t>     </a:t>
            </a:r>
            <a:r>
              <a:rPr lang="en-GB" sz="1400" b="0" strike="noStrike" spc="-1">
                <a:solidFill>
                  <a:srgbClr val="000000"/>
                </a:solidFill>
                <a:latin typeface="Bitstream Vera Serif"/>
              </a:rPr>
              <a:t>Tuning merging parameters  in the best way.</a:t>
            </a:r>
            <a:endParaRPr lang="en-US" sz="1400" b="0" strike="noStrike" spc="-1">
              <a:solidFill>
                <a:srgbClr val="000000"/>
              </a:solidFill>
              <a:latin typeface="Arial"/>
            </a:endParaRPr>
          </a:p>
          <a:p>
            <a:pPr marL="216000" indent="-216000">
              <a:lnSpc>
                <a:spcPct val="95000"/>
              </a:lnSpc>
              <a:buNone/>
              <a:tabLst>
                <a:tab pos="0" algn="l"/>
                <a:tab pos="723960" algn="l"/>
                <a:tab pos="1447920" algn="l"/>
                <a:tab pos="2171880" algn="l"/>
                <a:tab pos="2895480" algn="l"/>
                <a:tab pos="3619440" algn="l"/>
                <a:tab pos="4343400" algn="l"/>
                <a:tab pos="5067360" algn="l"/>
                <a:tab pos="5391000" algn="l"/>
                <a:tab pos="5840280" algn="l"/>
                <a:tab pos="6289560" algn="l"/>
                <a:tab pos="6738840" algn="l"/>
                <a:tab pos="7188120" algn="l"/>
                <a:tab pos="7637400" algn="l"/>
                <a:tab pos="8086680" algn="l"/>
                <a:tab pos="8535960" algn="l"/>
                <a:tab pos="8985240" algn="l"/>
                <a:tab pos="9434520" algn="l"/>
                <a:tab pos="9883800" algn="l"/>
                <a:tab pos="10333079" algn="l"/>
                <a:tab pos="10782360" algn="l"/>
              </a:tabLst>
              <a:defRPr/>
            </a:pPr>
            <a:endParaRPr lang="en-US" sz="1400" b="0" strike="noStrike" spc="-1">
              <a:solidFill>
                <a:srgbClr val="000000"/>
              </a:solidFill>
              <a:latin typeface="Arial"/>
            </a:endParaRPr>
          </a:p>
          <a:p>
            <a:pPr marL="216000" indent="-216000">
              <a:lnSpc>
                <a:spcPct val="95000"/>
              </a:lnSpc>
              <a:buNone/>
              <a:tabLst>
                <a:tab pos="0" algn="l"/>
                <a:tab pos="723960" algn="l"/>
                <a:tab pos="1447920" algn="l"/>
                <a:tab pos="2171880" algn="l"/>
                <a:tab pos="2895480" algn="l"/>
                <a:tab pos="3619440" algn="l"/>
                <a:tab pos="4343400" algn="l"/>
                <a:tab pos="5067360" algn="l"/>
                <a:tab pos="5391000" algn="l"/>
                <a:tab pos="5840280" algn="l"/>
                <a:tab pos="6289560" algn="l"/>
                <a:tab pos="6738840" algn="l"/>
                <a:tab pos="7188120" algn="l"/>
                <a:tab pos="7637400" algn="l"/>
                <a:tab pos="8086680" algn="l"/>
                <a:tab pos="8535960" algn="l"/>
                <a:tab pos="8985240" algn="l"/>
                <a:tab pos="9434520" algn="l"/>
                <a:tab pos="9883800" algn="l"/>
                <a:tab pos="10333079" algn="l"/>
                <a:tab pos="10782360" algn="l"/>
              </a:tabLst>
              <a:defRPr/>
            </a:pPr>
            <a:r>
              <a:rPr lang="en-GB" sz="1400" b="0" strike="noStrike" spc="-1">
                <a:solidFill>
                  <a:srgbClr val="000000"/>
                </a:solidFill>
                <a:latin typeface="Bitstream Vera Serif"/>
              </a:rPr>
              <a:t>(2) How to merge efficiently?</a:t>
            </a:r>
            <a:endParaRPr lang="en-US" sz="1400" b="0" strike="noStrike" spc="-1">
              <a:solidFill>
                <a:srgbClr val="000000"/>
              </a:solidFill>
              <a:latin typeface="Arial"/>
            </a:endParaRPr>
          </a:p>
          <a:p>
            <a:pPr marL="216000" indent="-216000">
              <a:lnSpc>
                <a:spcPct val="95000"/>
              </a:lnSpc>
              <a:buNone/>
              <a:tabLst>
                <a:tab pos="0" algn="l"/>
                <a:tab pos="723960" algn="l"/>
                <a:tab pos="1447920" algn="l"/>
                <a:tab pos="2171880" algn="l"/>
                <a:tab pos="2895480" algn="l"/>
                <a:tab pos="3619440" algn="l"/>
                <a:tab pos="4343400" algn="l"/>
                <a:tab pos="5067360" algn="l"/>
                <a:tab pos="5391000" algn="l"/>
                <a:tab pos="5840280" algn="l"/>
                <a:tab pos="6289560" algn="l"/>
                <a:tab pos="6738840" algn="l"/>
                <a:tab pos="7188120" algn="l"/>
                <a:tab pos="7637400" algn="l"/>
                <a:tab pos="8086680" algn="l"/>
                <a:tab pos="8535960" algn="l"/>
                <a:tab pos="8985240" algn="l"/>
                <a:tab pos="9434520" algn="l"/>
                <a:tab pos="9883800" algn="l"/>
                <a:tab pos="10333079" algn="l"/>
                <a:tab pos="10782360" algn="l"/>
              </a:tabLst>
              <a:defRPr/>
            </a:pPr>
            <a:endParaRPr lang="en-US" sz="1400" b="0" strike="noStrike" spc="-1">
              <a:solidFill>
                <a:srgbClr val="000000"/>
              </a:solidFill>
              <a:latin typeface="Arial"/>
            </a:endParaRPr>
          </a:p>
          <a:p>
            <a:pPr marL="216000" indent="-216000">
              <a:lnSpc>
                <a:spcPct val="95000"/>
              </a:lnSpc>
              <a:buNone/>
              <a:tabLst>
                <a:tab pos="0" algn="l"/>
                <a:tab pos="723960" algn="l"/>
                <a:tab pos="1447920" algn="l"/>
                <a:tab pos="2171880" algn="l"/>
                <a:tab pos="2895480" algn="l"/>
                <a:tab pos="3619440" algn="l"/>
                <a:tab pos="4343400" algn="l"/>
                <a:tab pos="5067360" algn="l"/>
                <a:tab pos="5391000" algn="l"/>
                <a:tab pos="5840280" algn="l"/>
                <a:tab pos="6289560" algn="l"/>
                <a:tab pos="6738840" algn="l"/>
                <a:tab pos="7188120" algn="l"/>
                <a:tab pos="7637400" algn="l"/>
                <a:tab pos="8086680" algn="l"/>
                <a:tab pos="8535960" algn="l"/>
                <a:tab pos="8985240" algn="l"/>
                <a:tab pos="9434520" algn="l"/>
                <a:tab pos="9883800" algn="l"/>
                <a:tab pos="10333079" algn="l"/>
                <a:tab pos="10782360" algn="l"/>
              </a:tabLst>
              <a:defRPr/>
            </a:pPr>
            <a:r>
              <a:rPr lang="en-GB" sz="1400" b="0" strike="noStrike" spc="-1">
                <a:solidFill>
                  <a:srgbClr val="000000"/>
                </a:solidFill>
                <a:latin typeface="Bitstream Vera Serif"/>
              </a:rPr>
              <a:t>     </a:t>
            </a:r>
            <a:r>
              <a:rPr lang="en-GB" sz="1400" b="0" strike="noStrike" spc="-1">
                <a:solidFill>
                  <a:srgbClr val="000000"/>
                </a:solidFill>
                <a:latin typeface="Bitstream Vera Serif"/>
              </a:rPr>
              <a:t>It is not necessary to merge the full result list. Truncated list merge is preferred. </a:t>
            </a:r>
            <a:endParaRPr lang="en-US" sz="1400" b="0" strike="noStrike" spc="-1">
              <a:solidFill>
                <a:srgbClr val="000000"/>
              </a:solidFill>
              <a:latin typeface="Arial"/>
            </a:endParaRPr>
          </a:p>
          <a:p>
            <a:pPr marL="216000" indent="-216000">
              <a:lnSpc>
                <a:spcPct val="95000"/>
              </a:lnSpc>
              <a:buNone/>
              <a:tabLst>
                <a:tab pos="0" algn="l"/>
                <a:tab pos="723960" algn="l"/>
                <a:tab pos="1447920" algn="l"/>
                <a:tab pos="2171880" algn="l"/>
                <a:tab pos="2895480" algn="l"/>
                <a:tab pos="3619440" algn="l"/>
                <a:tab pos="4343400" algn="l"/>
                <a:tab pos="5067360" algn="l"/>
                <a:tab pos="5391000" algn="l"/>
                <a:tab pos="5840280" algn="l"/>
                <a:tab pos="6289560" algn="l"/>
                <a:tab pos="6738840" algn="l"/>
                <a:tab pos="7188120" algn="l"/>
                <a:tab pos="7637400" algn="l"/>
                <a:tab pos="8086680" algn="l"/>
                <a:tab pos="8535960" algn="l"/>
                <a:tab pos="8985240" algn="l"/>
                <a:tab pos="9434520" algn="l"/>
                <a:tab pos="9883800" algn="l"/>
                <a:tab pos="10333079" algn="l"/>
                <a:tab pos="10782360" algn="l"/>
              </a:tabLst>
              <a:defRPr/>
            </a:pPr>
            <a:endParaRPr lang="en-US" sz="1400" b="0" strike="noStrike" spc="-1">
              <a:solidFill>
                <a:srgbClr val="000000"/>
              </a:solidFill>
              <a:latin typeface="Arial"/>
            </a:endParaRPr>
          </a:p>
          <a:p>
            <a:pPr marL="216000" indent="-216000">
              <a:lnSpc>
                <a:spcPct val="95000"/>
              </a:lnSpc>
              <a:buNone/>
              <a:tabLst>
                <a:tab pos="0" algn="l"/>
                <a:tab pos="723960" algn="l"/>
                <a:tab pos="1447920" algn="l"/>
                <a:tab pos="2171880" algn="l"/>
                <a:tab pos="2895480" algn="l"/>
                <a:tab pos="3619440" algn="l"/>
                <a:tab pos="4343400" algn="l"/>
                <a:tab pos="5067360" algn="l"/>
                <a:tab pos="5391000" algn="l"/>
                <a:tab pos="5840280" algn="l"/>
                <a:tab pos="6289560" algn="l"/>
                <a:tab pos="6738840" algn="l"/>
                <a:tab pos="7188120" algn="l"/>
                <a:tab pos="7637400" algn="l"/>
                <a:tab pos="8086680" algn="l"/>
                <a:tab pos="8535960" algn="l"/>
                <a:tab pos="8985240" algn="l"/>
                <a:tab pos="9434520" algn="l"/>
                <a:tab pos="9883800" algn="l"/>
                <a:tab pos="10333079" algn="l"/>
                <a:tab pos="10782360" algn="l"/>
              </a:tabLst>
              <a:defRPr/>
            </a:pPr>
            <a:r>
              <a:rPr lang="en-GB" sz="1400" b="0" strike="noStrike" spc="-1">
                <a:solidFill>
                  <a:srgbClr val="000000"/>
                </a:solidFill>
                <a:latin typeface="Bitstream Vera Serif"/>
              </a:rPr>
              <a:t>     </a:t>
            </a:r>
            <a:r>
              <a:rPr lang="en-GB" sz="1400" b="0" strike="noStrike" spc="-1">
                <a:solidFill>
                  <a:srgbClr val="000000"/>
                </a:solidFill>
                <a:latin typeface="Bitstream Vera Serif"/>
              </a:rPr>
              <a:t>Merge can be executed in parallel,hierarchy merge or pair-wise merge can be used.</a:t>
            </a:r>
            <a:endParaRPr lang="en-US" sz="1400" b="0" strike="noStrike" spc="-1">
              <a:solidFill>
                <a:srgbClr val="000000"/>
              </a:solidFill>
              <a:latin typeface="Arial"/>
            </a:endParaRPr>
          </a:p>
          <a:p>
            <a:pPr marL="216000" indent="-216000">
              <a:lnSpc>
                <a:spcPct val="95000"/>
              </a:lnSpc>
              <a:buNone/>
              <a:tabLst>
                <a:tab pos="0" algn="l"/>
                <a:tab pos="723960" algn="l"/>
                <a:tab pos="1447920" algn="l"/>
                <a:tab pos="2171880" algn="l"/>
                <a:tab pos="2895480" algn="l"/>
                <a:tab pos="3619440" algn="l"/>
                <a:tab pos="4343400" algn="l"/>
                <a:tab pos="5067360" algn="l"/>
                <a:tab pos="5391000" algn="l"/>
                <a:tab pos="5840280" algn="l"/>
                <a:tab pos="6289560" algn="l"/>
                <a:tab pos="6738840" algn="l"/>
                <a:tab pos="7188120" algn="l"/>
                <a:tab pos="7637400" algn="l"/>
                <a:tab pos="8086680" algn="l"/>
                <a:tab pos="8535960" algn="l"/>
                <a:tab pos="8985240" algn="l"/>
                <a:tab pos="9434520" algn="l"/>
                <a:tab pos="9883800" algn="l"/>
                <a:tab pos="10333079" algn="l"/>
                <a:tab pos="10782360" algn="l"/>
              </a:tabLst>
              <a:defRPr/>
            </a:pPr>
            <a:endParaRPr lang="en-US" sz="1400" b="0" strike="noStrike" spc="-1">
              <a:solidFill>
                <a:srgbClr val="000000"/>
              </a:solidFill>
              <a:latin typeface="Arial"/>
            </a:endParaRPr>
          </a:p>
          <a:p>
            <a:pPr marL="216000" indent="-216000">
              <a:lnSpc>
                <a:spcPct val="95000"/>
              </a:lnSpc>
              <a:buNone/>
              <a:tabLst>
                <a:tab pos="0" algn="l"/>
                <a:tab pos="723960" algn="l"/>
                <a:tab pos="1447920" algn="l"/>
                <a:tab pos="2171880" algn="l"/>
                <a:tab pos="2895480" algn="l"/>
                <a:tab pos="3619440" algn="l"/>
                <a:tab pos="4343400" algn="l"/>
                <a:tab pos="5067360" algn="l"/>
                <a:tab pos="5391000" algn="l"/>
                <a:tab pos="5840280" algn="l"/>
                <a:tab pos="6289560" algn="l"/>
                <a:tab pos="6738840" algn="l"/>
                <a:tab pos="7188120" algn="l"/>
                <a:tab pos="7637400" algn="l"/>
                <a:tab pos="8086680" algn="l"/>
                <a:tab pos="8535960" algn="l"/>
                <a:tab pos="8985240" algn="l"/>
                <a:tab pos="9434520" algn="l"/>
                <a:tab pos="9883800" algn="l"/>
                <a:tab pos="10333079" algn="l"/>
                <a:tab pos="10782360" algn="l"/>
              </a:tabLst>
              <a:defRPr/>
            </a:pPr>
            <a:r>
              <a:rPr lang="en-GB" sz="1400" b="0" strike="noStrike" spc="-1">
                <a:solidFill>
                  <a:srgbClr val="000000"/>
                </a:solidFill>
                <a:latin typeface="Bitstream Vera Serif"/>
              </a:rPr>
              <a:t>(3) How to merge effectively?</a:t>
            </a:r>
            <a:endParaRPr lang="en-US" sz="1400" b="0" strike="noStrike" spc="-1">
              <a:solidFill>
                <a:srgbClr val="000000"/>
              </a:solidFill>
              <a:latin typeface="Arial"/>
            </a:endParaRPr>
          </a:p>
          <a:p>
            <a:pPr marL="216000" indent="-216000">
              <a:lnSpc>
                <a:spcPct val="95000"/>
              </a:lnSpc>
              <a:buNone/>
              <a:tabLst>
                <a:tab pos="0" algn="l"/>
                <a:tab pos="723960" algn="l"/>
                <a:tab pos="1447920" algn="l"/>
                <a:tab pos="2171880" algn="l"/>
                <a:tab pos="2895480" algn="l"/>
                <a:tab pos="3619440" algn="l"/>
                <a:tab pos="4343400" algn="l"/>
                <a:tab pos="5067360" algn="l"/>
                <a:tab pos="5391000" algn="l"/>
                <a:tab pos="5840280" algn="l"/>
                <a:tab pos="6289560" algn="l"/>
                <a:tab pos="6738840" algn="l"/>
                <a:tab pos="7188120" algn="l"/>
                <a:tab pos="7637400" algn="l"/>
                <a:tab pos="8086680" algn="l"/>
                <a:tab pos="8535960" algn="l"/>
                <a:tab pos="8985240" algn="l"/>
                <a:tab pos="9434520" algn="l"/>
                <a:tab pos="9883800" algn="l"/>
                <a:tab pos="10333079" algn="l"/>
                <a:tab pos="10782360" algn="l"/>
              </a:tabLst>
              <a:defRPr/>
            </a:pPr>
            <a:endParaRPr lang="en-US" sz="1400" b="0" strike="noStrike" spc="-1">
              <a:solidFill>
                <a:srgbClr val="000000"/>
              </a:solidFill>
              <a:latin typeface="Arial"/>
            </a:endParaRPr>
          </a:p>
          <a:p>
            <a:pPr marL="216000" indent="-216000">
              <a:lnSpc>
                <a:spcPct val="95000"/>
              </a:lnSpc>
              <a:buNone/>
              <a:tabLst>
                <a:tab pos="0" algn="l"/>
                <a:tab pos="723960" algn="l"/>
                <a:tab pos="1447920" algn="l"/>
                <a:tab pos="2171880" algn="l"/>
                <a:tab pos="2895480" algn="l"/>
                <a:tab pos="3619440" algn="l"/>
                <a:tab pos="4343400" algn="l"/>
                <a:tab pos="5067360" algn="l"/>
                <a:tab pos="5391000" algn="l"/>
                <a:tab pos="5840280" algn="l"/>
                <a:tab pos="6289560" algn="l"/>
                <a:tab pos="6738840" algn="l"/>
                <a:tab pos="7188120" algn="l"/>
                <a:tab pos="7637400" algn="l"/>
                <a:tab pos="8086680" algn="l"/>
                <a:tab pos="8535960" algn="l"/>
                <a:tab pos="8985240" algn="l"/>
                <a:tab pos="9434520" algn="l"/>
                <a:tab pos="9883800" algn="l"/>
                <a:tab pos="10333079" algn="l"/>
                <a:tab pos="10782360" algn="l"/>
              </a:tabLst>
              <a:defRPr/>
            </a:pPr>
            <a:r>
              <a:rPr lang="en-GB" sz="1400" b="0" strike="noStrike" spc="-1">
                <a:solidFill>
                  <a:srgbClr val="000000"/>
                </a:solidFill>
                <a:latin typeface="Bitstream Vera Serif"/>
              </a:rPr>
              <a:t>     </a:t>
            </a:r>
            <a:r>
              <a:rPr lang="en-GB" sz="1400" b="0" strike="noStrike" spc="-1">
                <a:solidFill>
                  <a:srgbClr val="000000"/>
                </a:solidFill>
                <a:latin typeface="Bitstream Vera Serif"/>
              </a:rPr>
              <a:t>Different merging algorithms perform differently for specific dataset. Merging algorithms such as COMBSUM, COMBMIN, COMBMAX (Shaw 1995).</a:t>
            </a:r>
            <a:endParaRPr lang="en-US" sz="1400" b="0" strike="noStrike" spc="-1">
              <a:solidFill>
                <a:srgbClr val="000000"/>
              </a:solidFill>
              <a:latin typeface="Arial"/>
            </a:endParaRPr>
          </a:p>
          <a:p>
            <a:pPr marL="216000" indent="-216000">
              <a:lnSpc>
                <a:spcPct val="95000"/>
              </a:lnSpc>
              <a:buNone/>
              <a:tabLst>
                <a:tab pos="0" algn="l"/>
                <a:tab pos="723960" algn="l"/>
                <a:tab pos="1447920" algn="l"/>
                <a:tab pos="2171880" algn="l"/>
                <a:tab pos="2895480" algn="l"/>
                <a:tab pos="3619440" algn="l"/>
                <a:tab pos="4343400" algn="l"/>
                <a:tab pos="5067360" algn="l"/>
                <a:tab pos="5391000" algn="l"/>
                <a:tab pos="5840280" algn="l"/>
                <a:tab pos="6289560" algn="l"/>
                <a:tab pos="6738840" algn="l"/>
                <a:tab pos="7188120" algn="l"/>
                <a:tab pos="7637400" algn="l"/>
                <a:tab pos="8086680" algn="l"/>
                <a:tab pos="8535960" algn="l"/>
                <a:tab pos="8985240" algn="l"/>
                <a:tab pos="9434520" algn="l"/>
                <a:tab pos="9883800" algn="l"/>
                <a:tab pos="10333079" algn="l"/>
                <a:tab pos="10782360" algn="l"/>
              </a:tabLst>
              <a:defRPr/>
            </a:pPr>
            <a:r>
              <a:rPr lang="en-GB" sz="1400" b="0" strike="noStrike" spc="-1">
                <a:solidFill>
                  <a:srgbClr val="000000"/>
                </a:solidFill>
                <a:latin typeface="Bitstream Vera Serif"/>
              </a:rPr>
              <a:t>     </a:t>
            </a:r>
            <a:r>
              <a:rPr lang="en-GB" sz="1400" b="0" strike="noStrike" spc="-1">
                <a:solidFill>
                  <a:srgbClr val="000000"/>
                </a:solidFill>
                <a:latin typeface="Bitstream Vera Serif"/>
              </a:rPr>
              <a:t>Fuzzy-AND merge and fuzzy-OR merge (Wu 2000) can be used.</a:t>
            </a:r>
            <a:endParaRPr lang="en-US" sz="1400" b="0" strike="noStrike" spc="-1">
              <a:solidFill>
                <a:srgbClr val="000000"/>
              </a:solidFill>
              <a:latin typeface="Arial"/>
            </a:endParaRPr>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itle" userDrawn="1">
  <p:cSld name="Title17">
    <p:spTree>
      <p:nvGrpSpPr>
        <p:cNvPr id="1" name=""/>
        <p:cNvGrpSpPr/>
        <p:nvPr/>
      </p:nvGrpSpPr>
      <p:grpSpPr bwMode="auto">
        <a:xfrm>
          <a:off x="0" y="0"/>
          <a:ext cx="0" cy="0"/>
          <a:chOff x="0" y="0"/>
          <a:chExt cx="0" cy="0"/>
        </a:xfrm>
      </p:grpSpPr>
      <p:sp>
        <p:nvSpPr>
          <p:cNvPr id="472"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3600" b="0" strike="noStrike" spc="-1">
              <a:solidFill>
                <a:srgbClr val="000000"/>
              </a:solidFill>
              <a:latin typeface="Futura Bk"/>
            </a:endParaRPr>
          </a:p>
        </p:txBody>
      </p:sp>
      <p:sp>
        <p:nvSpPr>
          <p:cNvPr id="473" name="PlaceHolder 2"/>
          <p:cNvSpPr>
            <a:spLocks noGrp="1"/>
          </p:cNvSpPr>
          <p:nvPr>
            <p:ph type="subTitle"/>
          </p:nvPr>
        </p:nvSpPr>
        <p:spPr bwMode="auto">
          <a:xfrm>
            <a:off x="399600" y="1447920"/>
            <a:ext cx="8272440" cy="4587840"/>
          </a:xfrm>
          <a:prstGeom prst="rect">
            <a:avLst/>
          </a:prstGeom>
          <a:noFill/>
          <a:ln w="0">
            <a:noFill/>
          </a:ln>
        </p:spPr>
        <p:txBody>
          <a:bodyPr lIns="0" tIns="0" rIns="0" bIns="0" anchor="ctr">
            <a:noAutofit/>
          </a:bodyPr>
          <a:p>
            <a:pPr indent="0">
              <a:lnSpc>
                <a:spcPct val="90000"/>
              </a:lnSpc>
              <a:spcBef>
                <a:spcPts val="624"/>
              </a:spcBef>
              <a:spcAft>
                <a:spcPts val="249"/>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2000" b="0" strike="noStrike" spc="-1">
              <a:solidFill>
                <a:srgbClr val="05A6FF"/>
              </a:solidFill>
              <a:latin typeface="Futura Bk"/>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xAndObj" userDrawn="1">
  <p:cSld name="Title16">
    <p:spTree>
      <p:nvGrpSpPr>
        <p:cNvPr id="1" name=""/>
        <p:cNvGrpSpPr/>
        <p:nvPr/>
      </p:nvGrpSpPr>
      <p:grpSpPr bwMode="auto">
        <a:xfrm>
          <a:off x="0" y="0"/>
          <a:ext cx="0" cy="0"/>
          <a:chOff x="0" y="0"/>
          <a:chExt cx="0" cy="0"/>
        </a:xfrm>
      </p:grpSpPr>
      <p:sp>
        <p:nvSpPr>
          <p:cNvPr id="434"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3600" b="0" strike="noStrike" spc="-1">
              <a:solidFill>
                <a:srgbClr val="000000"/>
              </a:solidFill>
              <a:latin typeface="Futura Bk"/>
            </a:endParaRPr>
          </a:p>
        </p:txBody>
      </p:sp>
      <p:sp>
        <p:nvSpPr>
          <p:cNvPr id="435" name="PlaceHolder 2"/>
          <p:cNvSpPr>
            <a:spLocks noGrp="1"/>
          </p:cNvSpPr>
          <p:nvPr>
            <p:ph/>
          </p:nvPr>
        </p:nvSpPr>
        <p:spPr bwMode="auto">
          <a:xfrm>
            <a:off x="399600" y="1447920"/>
            <a:ext cx="8272440" cy="4587840"/>
          </a:xfrm>
          <a:prstGeom prst="rect">
            <a:avLst/>
          </a:prstGeom>
          <a:noFill/>
          <a:ln w="0">
            <a:noFill/>
          </a:ln>
        </p:spPr>
        <p:txBody>
          <a:bodyPr lIns="90000" tIns="46800" rIns="90000" bIns="46800" anchor="t">
            <a:normAutofit/>
          </a:bodyPr>
          <a:p>
            <a:pPr indent="0">
              <a:lnSpc>
                <a:spcPct val="90000"/>
              </a:lnSpc>
              <a:spcBef>
                <a:spcPts val="876"/>
              </a:spcBef>
              <a:spcAft>
                <a:spcPts val="349"/>
              </a:spcAft>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2800" b="0" strike="noStrike" spc="-1">
              <a:solidFill>
                <a:srgbClr val="000000"/>
              </a:solidFill>
              <a:latin typeface="Futura Bk"/>
            </a:endParaRPr>
          </a:p>
        </p:txBody>
      </p:sp>
      <p:sp>
        <p:nvSpPr>
          <p:cNvPr id="436" name="PlaceHolder 3"/>
          <p:cNvSpPr>
            <a:spLocks noGrp="1"/>
          </p:cNvSpPr>
          <p:nvPr>
            <p:ph/>
          </p:nvPr>
        </p:nvSpPr>
        <p:spPr bwMode="auto">
          <a:xfrm>
            <a:off x="399600" y="1447920"/>
            <a:ext cx="8272440" cy="4587840"/>
          </a:xfrm>
          <a:prstGeom prst="rect">
            <a:avLst/>
          </a:prstGeom>
          <a:noFill/>
          <a:ln w="0">
            <a:noFill/>
          </a:ln>
        </p:spPr>
        <p:txBody>
          <a:bodyPr lIns="90000" tIns="46800" rIns="90000" bIns="46800" anchor="t">
            <a:normAutofit/>
          </a:bodyPr>
          <a:p>
            <a:pPr indent="0">
              <a:lnSpc>
                <a:spcPct val="90000"/>
              </a:lnSpc>
              <a:spcBef>
                <a:spcPts val="876"/>
              </a:spcBef>
              <a:spcAft>
                <a:spcPts val="349"/>
              </a:spcAft>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2800" b="0" strike="noStrike" spc="-1">
              <a:solidFill>
                <a:srgbClr val="000000"/>
              </a:solidFill>
              <a:latin typeface="Futura Bk"/>
            </a:endParaRPr>
          </a:p>
        </p:txBody>
      </p:sp>
      <p:sp>
        <p:nvSpPr>
          <p:cNvPr id="5" name="PlaceHolder 4"/>
          <p:cNvSpPr>
            <a:spLocks noGrp="1"/>
          </p:cNvSpPr>
          <p:nvPr>
            <p:ph type="ftr" idx="5"/>
          </p:nvPr>
        </p:nvSpPr>
        <p:spPr bwMode="auto"/>
        <p:txBody>
          <a:bodyPr/>
          <a:p>
            <a:pPr>
              <a:defRPr/>
            </a:pPr>
            <a:r>
              <a:rPr/>
              <a:t>Footer</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 userDrawn="1">
  <p:cSld name="Title16">
    <p:spTree>
      <p:nvGrpSpPr>
        <p:cNvPr id="1" name=""/>
        <p:cNvGrpSpPr/>
        <p:nvPr/>
      </p:nvGrpSpPr>
      <p:grpSpPr bwMode="auto">
        <a:xfrm>
          <a:off x="0" y="0"/>
          <a:ext cx="0" cy="0"/>
          <a:chOff x="0" y="0"/>
          <a:chExt cx="0" cy="0"/>
        </a:xfrm>
      </p:grpSpPr>
      <p:sp>
        <p:nvSpPr>
          <p:cNvPr id="437"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3600" b="0" strike="noStrike" spc="-1">
              <a:solidFill>
                <a:srgbClr val="000000"/>
              </a:solidFill>
              <a:latin typeface="Futura Bk"/>
            </a:endParaRPr>
          </a:p>
        </p:txBody>
      </p:sp>
      <p:sp>
        <p:nvSpPr>
          <p:cNvPr id="438" name="PlaceHolder 2"/>
          <p:cNvSpPr>
            <a:spLocks noGrp="1"/>
          </p:cNvSpPr>
          <p:nvPr>
            <p:ph/>
          </p:nvPr>
        </p:nvSpPr>
        <p:spPr bwMode="auto">
          <a:xfrm>
            <a:off x="399600" y="1447920"/>
            <a:ext cx="8272440" cy="4587840"/>
          </a:xfrm>
          <a:prstGeom prst="rect">
            <a:avLst/>
          </a:prstGeom>
          <a:noFill/>
          <a:ln w="0">
            <a:noFill/>
          </a:ln>
        </p:spPr>
        <p:txBody>
          <a:bodyPr lIns="90000" tIns="46800" rIns="90000" bIns="46800" anchor="t">
            <a:normAutofit/>
          </a:bodyPr>
          <a:p>
            <a:pPr indent="0">
              <a:lnSpc>
                <a:spcPct val="90000"/>
              </a:lnSpc>
              <a:spcBef>
                <a:spcPts val="876"/>
              </a:spcBef>
              <a:spcAft>
                <a:spcPts val="349"/>
              </a:spcAft>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2800" b="0" strike="noStrike" spc="-1">
              <a:solidFill>
                <a:srgbClr val="000000"/>
              </a:solidFill>
              <a:latin typeface="Futura Bk"/>
            </a:endParaRPr>
          </a:p>
        </p:txBody>
      </p:sp>
      <p:sp>
        <p:nvSpPr>
          <p:cNvPr id="4" name="PlaceHolder 3"/>
          <p:cNvSpPr>
            <a:spLocks noGrp="1"/>
          </p:cNvSpPr>
          <p:nvPr>
            <p:ph type="ftr" idx="5"/>
          </p:nvPr>
        </p:nvSpPr>
        <p:spPr bwMode="auto"/>
        <p:txBody>
          <a:bodyPr/>
          <a:p>
            <a:pPr>
              <a:defRPr/>
            </a:pPr>
            <a:r>
              <a:rPr/>
              <a:t>Footer</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x" userDrawn="1">
  <p:cSld name="Title16">
    <p:spTree>
      <p:nvGrpSpPr>
        <p:cNvPr id="1" name=""/>
        <p:cNvGrpSpPr/>
        <p:nvPr/>
      </p:nvGrpSpPr>
      <p:grpSpPr bwMode="auto">
        <a:xfrm>
          <a:off x="0" y="0"/>
          <a:ext cx="0" cy="0"/>
          <a:chOff x="0" y="0"/>
          <a:chExt cx="0" cy="0"/>
        </a:xfrm>
      </p:grpSpPr>
      <p:sp>
        <p:nvSpPr>
          <p:cNvPr id="439"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3600" b="0" strike="noStrike" spc="-1">
              <a:solidFill>
                <a:srgbClr val="000000"/>
              </a:solidFill>
              <a:latin typeface="Futura Bk"/>
            </a:endParaRPr>
          </a:p>
        </p:txBody>
      </p:sp>
      <p:sp>
        <p:nvSpPr>
          <p:cNvPr id="440" name="PlaceHolder 2"/>
          <p:cNvSpPr>
            <a:spLocks noGrp="1"/>
          </p:cNvSpPr>
          <p:nvPr>
            <p:ph/>
          </p:nvPr>
        </p:nvSpPr>
        <p:spPr bwMode="auto">
          <a:xfrm>
            <a:off x="399600" y="1447920"/>
            <a:ext cx="8272440" cy="4587840"/>
          </a:xfrm>
          <a:prstGeom prst="rect">
            <a:avLst/>
          </a:prstGeom>
          <a:noFill/>
          <a:ln w="0">
            <a:noFill/>
          </a:ln>
        </p:spPr>
        <p:txBody>
          <a:bodyPr lIns="90000" tIns="46800" rIns="90000" bIns="46800" anchor="t">
            <a:normAutofit/>
          </a:bodyPr>
          <a:p>
            <a:pPr indent="0">
              <a:lnSpc>
                <a:spcPct val="90000"/>
              </a:lnSpc>
              <a:spcBef>
                <a:spcPts val="876"/>
              </a:spcBef>
              <a:spcAft>
                <a:spcPts val="349"/>
              </a:spcAft>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2800" b="0" strike="noStrike" spc="-1">
              <a:solidFill>
                <a:srgbClr val="000000"/>
              </a:solidFill>
              <a:latin typeface="Futura Bk"/>
            </a:endParaRPr>
          </a:p>
        </p:txBody>
      </p:sp>
      <p:sp>
        <p:nvSpPr>
          <p:cNvPr id="4" name="PlaceHolder 3"/>
          <p:cNvSpPr>
            <a:spLocks noGrp="1"/>
          </p:cNvSpPr>
          <p:nvPr>
            <p:ph type="ftr" idx="5"/>
          </p:nvPr>
        </p:nvSpPr>
        <p:spPr bwMode="auto"/>
        <p:txBody>
          <a:bodyPr/>
          <a:p>
            <a:pPr>
              <a:defRPr/>
            </a:pPr>
            <a:r>
              <a:rPr/>
              <a:t>Footer</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x" userDrawn="1">
  <p:cSld name="Title8">
    <p:spTree>
      <p:nvGrpSpPr>
        <p:cNvPr id="1" name=""/>
        <p:cNvGrpSpPr/>
        <p:nvPr/>
      </p:nvGrpSpPr>
      <p:grpSpPr bwMode="auto">
        <a:xfrm>
          <a:off x="0" y="0"/>
          <a:ext cx="0" cy="0"/>
          <a:chOff x="0" y="0"/>
          <a:chExt cx="0" cy="0"/>
        </a:xfrm>
      </p:grpSpPr>
      <p:sp>
        <p:nvSpPr>
          <p:cNvPr id="230"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3600" b="0" strike="noStrike" spc="-1">
              <a:solidFill>
                <a:srgbClr val="000000"/>
              </a:solidFill>
              <a:latin typeface="Futura Bk"/>
            </a:endParaRPr>
          </a:p>
        </p:txBody>
      </p:sp>
      <p:sp>
        <p:nvSpPr>
          <p:cNvPr id="231" name="PlaceHolder 2"/>
          <p:cNvSpPr>
            <a:spLocks noGrp="1"/>
          </p:cNvSpPr>
          <p:nvPr>
            <p:ph/>
          </p:nvPr>
        </p:nvSpPr>
        <p:spPr bwMode="auto">
          <a:xfrm>
            <a:off x="399600" y="1447920"/>
            <a:ext cx="8272440" cy="4587840"/>
          </a:xfrm>
          <a:prstGeom prst="rect">
            <a:avLst/>
          </a:prstGeom>
          <a:noFill/>
          <a:ln w="0">
            <a:noFill/>
          </a:ln>
        </p:spPr>
        <p:txBody>
          <a:bodyPr lIns="90000" tIns="46800" rIns="90000" bIns="46800" anchor="t">
            <a:normAutofit/>
          </a:bodyPr>
          <a:p>
            <a:pPr indent="0">
              <a:lnSpc>
                <a:spcPct val="90000"/>
              </a:lnSpc>
              <a:spcBef>
                <a:spcPts val="876"/>
              </a:spcBef>
              <a:spcAft>
                <a:spcPts val="349"/>
              </a:spcAft>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2800" b="0" strike="noStrike" spc="-1">
              <a:solidFill>
                <a:srgbClr val="000000"/>
              </a:solidFill>
              <a:latin typeface="Futura Bk"/>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itleOnly" userDrawn="1">
  <p:cSld name="Title3">
    <p:spTree>
      <p:nvGrpSpPr>
        <p:cNvPr id="1" name=""/>
        <p:cNvGrpSpPr/>
        <p:nvPr/>
      </p:nvGrpSpPr>
      <p:grpSpPr bwMode="auto">
        <a:xfrm>
          <a:off x="0" y="0"/>
          <a:ext cx="0" cy="0"/>
          <a:chOff x="0" y="0"/>
          <a:chExt cx="0" cy="0"/>
        </a:xfrm>
      </p:grpSpPr>
      <p:sp>
        <p:nvSpPr>
          <p:cNvPr id="178"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3600" b="0" strike="noStrike" spc="-1">
              <a:solidFill>
                <a:srgbClr val="000000"/>
              </a:solidFill>
              <a:latin typeface="Futura Bk"/>
            </a:endParaRPr>
          </a:p>
        </p:txBody>
      </p:sp>
      <p:sp>
        <p:nvSpPr>
          <p:cNvPr id="3" name="PlaceHolder 2"/>
          <p:cNvSpPr>
            <a:spLocks noGrp="1"/>
          </p:cNvSpPr>
          <p:nvPr>
            <p:ph type="ftr" idx="1"/>
          </p:nvPr>
        </p:nvSpPr>
        <p:spPr bwMode="auto"/>
        <p:txBody>
          <a:bodyPr/>
          <a:p>
            <a:pPr>
              <a:defRPr/>
            </a:pPr>
            <a:r>
              <a:rPr/>
              <a:t>Footer</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 userDrawn="1">
  <p:cSld name="Title3">
    <p:spTree>
      <p:nvGrpSpPr>
        <p:cNvPr id="1" name=""/>
        <p:cNvGrpSpPr/>
        <p:nvPr/>
      </p:nvGrpSpPr>
      <p:grpSpPr bwMode="auto">
        <a:xfrm>
          <a:off x="0" y="0"/>
          <a:ext cx="0" cy="0"/>
          <a:chOff x="0" y="0"/>
          <a:chExt cx="0" cy="0"/>
        </a:xfrm>
      </p:grpSpPr>
      <p:sp>
        <p:nvSpPr>
          <p:cNvPr id="179"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3600" b="0" strike="noStrike" spc="-1">
              <a:solidFill>
                <a:srgbClr val="000000"/>
              </a:solidFill>
              <a:latin typeface="Futura Bk"/>
            </a:endParaRPr>
          </a:p>
        </p:txBody>
      </p:sp>
      <p:sp>
        <p:nvSpPr>
          <p:cNvPr id="180" name="PlaceHolder 2"/>
          <p:cNvSpPr>
            <a:spLocks noGrp="1"/>
          </p:cNvSpPr>
          <p:nvPr>
            <p:ph/>
          </p:nvPr>
        </p:nvSpPr>
        <p:spPr bwMode="auto">
          <a:xfrm>
            <a:off x="399600" y="1447920"/>
            <a:ext cx="8272440" cy="4587840"/>
          </a:xfrm>
          <a:prstGeom prst="rect">
            <a:avLst/>
          </a:prstGeom>
          <a:noFill/>
          <a:ln w="0">
            <a:noFill/>
          </a:ln>
        </p:spPr>
        <p:txBody>
          <a:bodyPr lIns="90000" tIns="46800" rIns="90000" bIns="46800" anchor="t">
            <a:normAutofit/>
          </a:bodyPr>
          <a:p>
            <a:pPr indent="0">
              <a:lnSpc>
                <a:spcPct val="90000"/>
              </a:lnSpc>
              <a:spcBef>
                <a:spcPts val="876"/>
              </a:spcBef>
              <a:spcAft>
                <a:spcPts val="349"/>
              </a:spcAft>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2800" b="0" strike="noStrike" spc="-1">
              <a:solidFill>
                <a:srgbClr val="000000"/>
              </a:solidFill>
              <a:latin typeface="Futura Bk"/>
            </a:endParaRPr>
          </a:p>
        </p:txBody>
      </p:sp>
      <p:sp>
        <p:nvSpPr>
          <p:cNvPr id="4" name="PlaceHolder 3"/>
          <p:cNvSpPr>
            <a:spLocks noGrp="1"/>
          </p:cNvSpPr>
          <p:nvPr>
            <p:ph type="ftr" idx="1"/>
          </p:nvPr>
        </p:nvSpPr>
        <p:spPr bwMode="auto"/>
        <p:txBody>
          <a:bodyPr/>
          <a:p>
            <a:pPr>
              <a:defRPr/>
            </a:pPr>
            <a:r>
              <a:rPr/>
              <a:t>Footer</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x" userDrawn="1">
  <p:cSld name="Title3">
    <p:spTree>
      <p:nvGrpSpPr>
        <p:cNvPr id="1" name=""/>
        <p:cNvGrpSpPr/>
        <p:nvPr/>
      </p:nvGrpSpPr>
      <p:grpSpPr bwMode="auto">
        <a:xfrm>
          <a:off x="0" y="0"/>
          <a:ext cx="0" cy="0"/>
          <a:chOff x="0" y="0"/>
          <a:chExt cx="0" cy="0"/>
        </a:xfrm>
      </p:grpSpPr>
      <p:sp>
        <p:nvSpPr>
          <p:cNvPr id="181"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3600" b="0" strike="noStrike" spc="-1">
              <a:solidFill>
                <a:srgbClr val="000000"/>
              </a:solidFill>
              <a:latin typeface="Futura Bk"/>
            </a:endParaRPr>
          </a:p>
        </p:txBody>
      </p:sp>
      <p:sp>
        <p:nvSpPr>
          <p:cNvPr id="182" name="PlaceHolder 2"/>
          <p:cNvSpPr>
            <a:spLocks noGrp="1"/>
          </p:cNvSpPr>
          <p:nvPr>
            <p:ph/>
          </p:nvPr>
        </p:nvSpPr>
        <p:spPr bwMode="auto">
          <a:xfrm>
            <a:off x="399600" y="1447920"/>
            <a:ext cx="8272440" cy="4587840"/>
          </a:xfrm>
          <a:prstGeom prst="rect">
            <a:avLst/>
          </a:prstGeom>
          <a:noFill/>
          <a:ln w="0">
            <a:noFill/>
          </a:ln>
        </p:spPr>
        <p:txBody>
          <a:bodyPr lIns="90000" tIns="46800" rIns="90000" bIns="46800" anchor="t">
            <a:normAutofit/>
          </a:bodyPr>
          <a:p>
            <a:pPr indent="0">
              <a:lnSpc>
                <a:spcPct val="90000"/>
              </a:lnSpc>
              <a:spcBef>
                <a:spcPts val="876"/>
              </a:spcBef>
              <a:spcAft>
                <a:spcPts val="349"/>
              </a:spcAft>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2800" b="0" strike="noStrike" spc="-1">
              <a:solidFill>
                <a:srgbClr val="000000"/>
              </a:solidFill>
              <a:latin typeface="Futura Bk"/>
            </a:endParaRPr>
          </a:p>
        </p:txBody>
      </p:sp>
      <p:sp>
        <p:nvSpPr>
          <p:cNvPr id="4" name="PlaceHolder 3"/>
          <p:cNvSpPr>
            <a:spLocks noGrp="1"/>
          </p:cNvSpPr>
          <p:nvPr>
            <p:ph type="ftr" idx="1"/>
          </p:nvPr>
        </p:nvSpPr>
        <p:spPr bwMode="auto"/>
        <p:txBody>
          <a:bodyPr/>
          <a:p>
            <a:pPr>
              <a:defRPr/>
            </a:pPr>
            <a:r>
              <a:rPr/>
              <a:t>Footer</a:t>
            </a:r>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s>
</file>

<file path=ppt/slideMasters/_rels/slideMaster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theme" Target="../theme/theme2.xml"/><Relationship Id="rId5" Type="http://schemas.openxmlformats.org/officeDocument/2006/relationships/image" Target="../media/image2.png"/></Relationships>
</file>

<file path=ppt/slideMasters/_rels/slideMaster3.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3.xml"/><Relationship Id="rId3" Type="http://schemas.openxmlformats.org/officeDocument/2006/relationships/image" Target="../media/image3.png"/><Relationship Id="rId4" Type="http://schemas.openxmlformats.org/officeDocument/2006/relationships/image" Target="../media/image4.png"/></Relationships>
</file>

<file path=ppt/slideMasters/_rels/slideMaster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theme" Target="../theme/theme4.xml"/><Relationship Id="rId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FFFFFF"/>
        </a:solidFill>
      </p:bgPr>
    </p:bg>
    <p:spTree>
      <p:nvGrpSpPr>
        <p:cNvPr id="1" name=""/>
        <p:cNvGrpSpPr/>
        <p:nvPr/>
      </p:nvGrpSpPr>
      <p:grpSpPr bwMode="auto">
        <a:xfrm>
          <a:off x="0" y="0"/>
          <a:ext cx="0" cy="0"/>
          <a:chOff x="0" y="0"/>
          <a:chExt cx="0" cy="0"/>
        </a:xfrm>
      </p:grpSpPr>
      <p:sp>
        <p:nvSpPr>
          <p:cNvPr id="441" name="PlaceHolder 1"/>
          <p:cNvSpPr>
            <a:spLocks noGrp="1"/>
          </p:cNvSpPr>
          <p:nvPr>
            <p:ph type="title"/>
          </p:nvPr>
        </p:nvSpPr>
        <p:spPr bwMode="auto">
          <a:xfrm>
            <a:off x="428400" y="2304720"/>
            <a:ext cx="7057800" cy="1881000"/>
          </a:xfrm>
          <a:prstGeom prst="rect">
            <a:avLst/>
          </a:prstGeom>
          <a:noFill/>
          <a:ln w="0">
            <a:noFill/>
          </a:ln>
        </p:spPr>
        <p:txBody>
          <a:bodyPr lIns="90000" tIns="46800" rIns="90000" bIns="46800" anchor="b">
            <a:noAutofit/>
          </a:bodyPr>
          <a:p>
            <a:pPr indent="0">
              <a:lnSpc>
                <a:spcPct val="90000"/>
              </a:lnSpc>
              <a:spcBef>
                <a:spcPts val="137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4400" b="0" strike="noStrike" spc="-1">
                <a:solidFill>
                  <a:srgbClr val="005695"/>
                </a:solidFill>
                <a:latin typeface="Futura Lt"/>
              </a:rPr>
              <a:t>Click to edit the title text format</a:t>
            </a:r>
            <a:endParaRPr lang="en-US" sz="4400" b="0" strike="noStrike" spc="-1">
              <a:solidFill>
                <a:srgbClr val="005695"/>
              </a:solidFill>
              <a:latin typeface="Futura Lt"/>
            </a:endParaRPr>
          </a:p>
        </p:txBody>
      </p:sp>
      <p:sp>
        <p:nvSpPr>
          <p:cNvPr id="442" name=""/>
          <p:cNvSpPr/>
          <p:nvPr/>
        </p:nvSpPr>
        <p:spPr bwMode="auto">
          <a:xfrm>
            <a:off x="433439" y="6377039"/>
            <a:ext cx="6019920" cy="231480"/>
          </a:xfrm>
          <a:prstGeom prst="rect">
            <a:avLst/>
          </a:prstGeom>
          <a:noFill/>
          <a:ln w="0">
            <a:noFill/>
          </a:ln>
        </p:spPr>
        <p:style>
          <a:lnRef idx="0"/>
          <a:fillRef idx="0"/>
          <a:effectRef idx="0"/>
          <a:fontRef idx="minor"/>
        </p:style>
        <p:txBody>
          <a:bodyPr lIns="90000" tIns="46800" rIns="90000" bIns="46800" anchor="t">
            <a:spAutoFit/>
          </a:bodyPr>
          <a:p>
            <a:pPr indent="0">
              <a:lnSpc>
                <a:spcPct val="100000"/>
              </a:lnSpc>
              <a:spcBef>
                <a:spcPts val="56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900" b="0" strike="noStrike" spc="-1">
                <a:solidFill>
                  <a:srgbClr val="848589"/>
                </a:solidFill>
                <a:latin typeface="Futura Bk"/>
              </a:rPr>
              <a:t>© 2008 Hewlett-Packard Company</a:t>
            </a:r>
            <a:endParaRPr lang="en-US" sz="900" b="0" strike="noStrike" spc="-1">
              <a:solidFill>
                <a:srgbClr val="000000"/>
              </a:solidFill>
              <a:latin typeface="Arial"/>
            </a:endParaRPr>
          </a:p>
        </p:txBody>
      </p:sp>
      <p:sp>
        <p:nvSpPr>
          <p:cNvPr id="443" name="Freeform 6"/>
          <p:cNvSpPr/>
          <p:nvPr/>
        </p:nvSpPr>
        <p:spPr bwMode="auto">
          <a:xfrm>
            <a:off x="8715240" y="177840"/>
            <a:ext cx="287640" cy="727200"/>
          </a:xfrm>
          <a:prstGeom prst="pie">
            <a:avLst>
              <a:gd name="adj1" fmla="val 0"/>
              <a:gd name="adj2" fmla="val 16200000"/>
            </a:avLst>
          </a:prstGeom>
          <a:solidFill>
            <a:srgbClr val="00B6DE">
              <a:alpha val="40000"/>
            </a:srgbClr>
          </a:solidFill>
          <a:ln w="0">
            <a:noFill/>
          </a:ln>
        </p:spPr>
        <p:style>
          <a:lnRef idx="0"/>
          <a:fillRef idx="0"/>
          <a:effectRef idx="0"/>
          <a:fontRef idx="minor"/>
        </p:style>
        <p:txBody>
          <a:bodyPr lIns="90000" tIns="46800" rIns="90000" bIns="46800" anchor="t">
            <a:noAutofit/>
          </a:bodyPr>
          <a:p>
            <a:pPr indent="0">
              <a:lnSpc>
                <a:spcPct val="10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444" name="Freeform 12"/>
          <p:cNvSpPr/>
          <p:nvPr/>
        </p:nvSpPr>
        <p:spPr bwMode="auto">
          <a:xfrm flipH="1">
            <a:off x="7907400" y="378000"/>
            <a:ext cx="172800" cy="436320"/>
          </a:xfrm>
          <a:prstGeom prst="pie">
            <a:avLst>
              <a:gd name="adj1" fmla="val 0"/>
              <a:gd name="adj2" fmla="val 16200000"/>
            </a:avLst>
          </a:prstGeom>
          <a:solidFill>
            <a:srgbClr val="00B6DE">
              <a:alpha val="40000"/>
            </a:srgbClr>
          </a:solidFill>
          <a:ln w="0">
            <a:noFill/>
          </a:ln>
        </p:spPr>
        <p:style>
          <a:lnRef idx="0"/>
          <a:fillRef idx="0"/>
          <a:effectRef idx="0"/>
          <a:fontRef idx="minor"/>
        </p:style>
        <p:txBody>
          <a:bodyPr lIns="90000" tIns="46800" rIns="90000" bIns="46800" anchor="t">
            <a:noAutofit/>
          </a:bodyPr>
          <a:p>
            <a:pPr indent="0">
              <a:lnSpc>
                <a:spcPct val="10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445" name="Freeform 16"/>
          <p:cNvSpPr/>
          <p:nvPr/>
        </p:nvSpPr>
        <p:spPr bwMode="auto">
          <a:xfrm flipH="1">
            <a:off x="8247240" y="1014480"/>
            <a:ext cx="134640" cy="338040"/>
          </a:xfrm>
          <a:prstGeom prst="pie">
            <a:avLst>
              <a:gd name="adj1" fmla="val 0"/>
              <a:gd name="adj2" fmla="val 16200000"/>
            </a:avLst>
          </a:prstGeom>
          <a:solidFill>
            <a:srgbClr val="00B6DE">
              <a:alpha val="40000"/>
            </a:srgbClr>
          </a:solidFill>
          <a:ln w="0">
            <a:noFill/>
          </a:ln>
        </p:spPr>
        <p:style>
          <a:lnRef idx="0"/>
          <a:fillRef idx="0"/>
          <a:effectRef idx="0"/>
          <a:fontRef idx="minor"/>
        </p:style>
        <p:txBody>
          <a:bodyPr lIns="90000" tIns="46800" rIns="90000" bIns="46800" anchor="t">
            <a:noAutofit/>
          </a:bodyPr>
          <a:p>
            <a:pPr indent="0">
              <a:lnSpc>
                <a:spcPct val="10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446" name="Freeform 26"/>
          <p:cNvSpPr/>
          <p:nvPr/>
        </p:nvSpPr>
        <p:spPr bwMode="auto">
          <a:xfrm flipH="1">
            <a:off x="8112960" y="1860480"/>
            <a:ext cx="95400" cy="235080"/>
          </a:xfrm>
          <a:prstGeom prst="pie">
            <a:avLst>
              <a:gd name="adj1" fmla="val 0"/>
              <a:gd name="adj2" fmla="val 16200000"/>
            </a:avLst>
          </a:prstGeom>
          <a:solidFill>
            <a:srgbClr val="00B6DE">
              <a:alpha val="40000"/>
            </a:srgbClr>
          </a:solidFill>
          <a:ln w="0">
            <a:noFill/>
          </a:ln>
        </p:spPr>
        <p:style>
          <a:lnRef idx="0"/>
          <a:fillRef idx="0"/>
          <a:effectRef idx="0"/>
          <a:fontRef idx="minor"/>
        </p:style>
        <p:txBody>
          <a:bodyPr lIns="90000" tIns="46800" rIns="90000" bIns="46800" anchor="t">
            <a:noAutofit/>
          </a:bodyPr>
          <a:p>
            <a:pPr indent="0">
              <a:lnSpc>
                <a:spcPct val="10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447" name="Freeform 27"/>
          <p:cNvSpPr/>
          <p:nvPr/>
        </p:nvSpPr>
        <p:spPr bwMode="auto">
          <a:xfrm flipH="1">
            <a:off x="8827200" y="1808280"/>
            <a:ext cx="93960" cy="233280"/>
          </a:xfrm>
          <a:prstGeom prst="pie">
            <a:avLst>
              <a:gd name="adj1" fmla="val 0"/>
              <a:gd name="adj2" fmla="val 16200000"/>
            </a:avLst>
          </a:prstGeom>
          <a:solidFill>
            <a:srgbClr val="00B6DE">
              <a:alpha val="40000"/>
            </a:srgbClr>
          </a:solidFill>
          <a:ln w="0">
            <a:noFill/>
          </a:ln>
        </p:spPr>
        <p:style>
          <a:lnRef idx="0"/>
          <a:fillRef idx="0"/>
          <a:effectRef idx="0"/>
          <a:fontRef idx="minor"/>
        </p:style>
        <p:txBody>
          <a:bodyPr lIns="90000" tIns="46800" rIns="90000" bIns="46800" anchor="t">
            <a:noAutofit/>
          </a:bodyPr>
          <a:p>
            <a:pPr indent="0">
              <a:lnSpc>
                <a:spcPct val="10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448" name="Freeform 28"/>
          <p:cNvSpPr/>
          <p:nvPr/>
        </p:nvSpPr>
        <p:spPr bwMode="auto">
          <a:xfrm>
            <a:off x="8861400" y="2781360"/>
            <a:ext cx="93600" cy="233280"/>
          </a:xfrm>
          <a:prstGeom prst="pie">
            <a:avLst>
              <a:gd name="adj1" fmla="val 0"/>
              <a:gd name="adj2" fmla="val 16200000"/>
            </a:avLst>
          </a:prstGeom>
          <a:solidFill>
            <a:srgbClr val="00B6DE">
              <a:alpha val="40000"/>
            </a:srgbClr>
          </a:solidFill>
          <a:ln w="0">
            <a:noFill/>
          </a:ln>
        </p:spPr>
        <p:style>
          <a:lnRef idx="0"/>
          <a:fillRef idx="0"/>
          <a:effectRef idx="0"/>
          <a:fontRef idx="minor"/>
        </p:style>
        <p:txBody>
          <a:bodyPr lIns="90000" tIns="46800" rIns="90000" bIns="46800" anchor="t">
            <a:noAutofit/>
          </a:bodyPr>
          <a:p>
            <a:pPr indent="0">
              <a:lnSpc>
                <a:spcPct val="10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449" name="Freeform 29"/>
          <p:cNvSpPr/>
          <p:nvPr/>
        </p:nvSpPr>
        <p:spPr bwMode="auto">
          <a:xfrm>
            <a:off x="6413400" y="952560"/>
            <a:ext cx="93600" cy="233280"/>
          </a:xfrm>
          <a:prstGeom prst="pie">
            <a:avLst>
              <a:gd name="adj1" fmla="val 0"/>
              <a:gd name="adj2" fmla="val 16200000"/>
            </a:avLst>
          </a:prstGeom>
          <a:solidFill>
            <a:srgbClr val="00B6DE">
              <a:alpha val="40000"/>
            </a:srgbClr>
          </a:solidFill>
          <a:ln w="0">
            <a:noFill/>
          </a:ln>
        </p:spPr>
        <p:style>
          <a:lnRef idx="0"/>
          <a:fillRef idx="0"/>
          <a:effectRef idx="0"/>
          <a:fontRef idx="minor"/>
        </p:style>
        <p:txBody>
          <a:bodyPr lIns="90000" tIns="46800" rIns="90000" bIns="46800" anchor="t">
            <a:noAutofit/>
          </a:bodyPr>
          <a:p>
            <a:pPr indent="0">
              <a:lnSpc>
                <a:spcPct val="10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450" name="Freeform 30"/>
          <p:cNvSpPr/>
          <p:nvPr/>
        </p:nvSpPr>
        <p:spPr bwMode="auto">
          <a:xfrm>
            <a:off x="6862680" y="216000"/>
            <a:ext cx="93600" cy="233280"/>
          </a:xfrm>
          <a:prstGeom prst="pie">
            <a:avLst>
              <a:gd name="adj1" fmla="val 0"/>
              <a:gd name="adj2" fmla="val 16200000"/>
            </a:avLst>
          </a:prstGeom>
          <a:solidFill>
            <a:srgbClr val="00B6DE">
              <a:alpha val="40000"/>
            </a:srgbClr>
          </a:solidFill>
          <a:ln w="0">
            <a:noFill/>
          </a:ln>
        </p:spPr>
        <p:style>
          <a:lnRef idx="0"/>
          <a:fillRef idx="0"/>
          <a:effectRef idx="0"/>
          <a:fontRef idx="minor"/>
        </p:style>
        <p:txBody>
          <a:bodyPr lIns="90000" tIns="46800" rIns="90000" bIns="46800" anchor="t">
            <a:noAutofit/>
          </a:bodyPr>
          <a:p>
            <a:pPr indent="0">
              <a:lnSpc>
                <a:spcPct val="10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451" name="Freeform 31"/>
          <p:cNvSpPr/>
          <p:nvPr/>
        </p:nvSpPr>
        <p:spPr bwMode="auto">
          <a:xfrm flipH="1">
            <a:off x="7562880" y="163440"/>
            <a:ext cx="93600" cy="233280"/>
          </a:xfrm>
          <a:prstGeom prst="pie">
            <a:avLst>
              <a:gd name="adj1" fmla="val 0"/>
              <a:gd name="adj2" fmla="val 16200000"/>
            </a:avLst>
          </a:prstGeom>
          <a:solidFill>
            <a:srgbClr val="00B6DE">
              <a:alpha val="40000"/>
            </a:srgbClr>
          </a:solidFill>
          <a:ln w="0">
            <a:noFill/>
          </a:ln>
        </p:spPr>
        <p:style>
          <a:lnRef idx="0"/>
          <a:fillRef idx="0"/>
          <a:effectRef idx="0"/>
          <a:fontRef idx="minor"/>
        </p:style>
        <p:txBody>
          <a:bodyPr lIns="90000" tIns="46800" rIns="90000" bIns="46800" anchor="t">
            <a:noAutofit/>
          </a:bodyPr>
          <a:p>
            <a:pPr indent="0">
              <a:lnSpc>
                <a:spcPct val="10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452" name="Freeform 29"/>
          <p:cNvSpPr/>
          <p:nvPr/>
        </p:nvSpPr>
        <p:spPr bwMode="auto">
          <a:xfrm>
            <a:off x="7599240" y="2760840"/>
            <a:ext cx="95400" cy="236520"/>
          </a:xfrm>
          <a:prstGeom prst="pie">
            <a:avLst>
              <a:gd name="adj1" fmla="val 0"/>
              <a:gd name="adj2" fmla="val 16200000"/>
            </a:avLst>
          </a:prstGeom>
          <a:solidFill>
            <a:srgbClr val="00B6DE">
              <a:alpha val="40000"/>
            </a:srgbClr>
          </a:solidFill>
          <a:ln w="0">
            <a:noFill/>
          </a:ln>
        </p:spPr>
        <p:style>
          <a:lnRef idx="0"/>
          <a:fillRef idx="0"/>
          <a:effectRef idx="0"/>
          <a:fontRef idx="minor"/>
        </p:style>
        <p:txBody>
          <a:bodyPr lIns="90000" tIns="46800" rIns="90000" bIns="46800" anchor="t">
            <a:noAutofit/>
          </a:bodyPr>
          <a:p>
            <a:pPr indent="0">
              <a:lnSpc>
                <a:spcPct val="10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453" name="Freeform 30"/>
          <p:cNvSpPr/>
          <p:nvPr/>
        </p:nvSpPr>
        <p:spPr bwMode="auto">
          <a:xfrm>
            <a:off x="8620200" y="3576600"/>
            <a:ext cx="95040" cy="236520"/>
          </a:xfrm>
          <a:prstGeom prst="pie">
            <a:avLst>
              <a:gd name="adj1" fmla="val 0"/>
              <a:gd name="adj2" fmla="val 16200000"/>
            </a:avLst>
          </a:prstGeom>
          <a:solidFill>
            <a:srgbClr val="0071B4">
              <a:alpha val="39000"/>
            </a:srgbClr>
          </a:solidFill>
          <a:ln w="0">
            <a:noFill/>
          </a:ln>
        </p:spPr>
        <p:style>
          <a:lnRef idx="0"/>
          <a:fillRef idx="0"/>
          <a:effectRef idx="0"/>
          <a:fontRef idx="minor"/>
        </p:style>
        <p:txBody>
          <a:bodyPr lIns="90000" tIns="46800" rIns="90000" bIns="46800" anchor="t">
            <a:noAutofit/>
          </a:bodyPr>
          <a:p>
            <a:pPr indent="0">
              <a:lnSpc>
                <a:spcPct val="10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454" name="Freeform 31"/>
          <p:cNvSpPr/>
          <p:nvPr/>
        </p:nvSpPr>
        <p:spPr bwMode="auto">
          <a:xfrm>
            <a:off x="7499520" y="4336920"/>
            <a:ext cx="95040" cy="236520"/>
          </a:xfrm>
          <a:prstGeom prst="pie">
            <a:avLst>
              <a:gd name="adj1" fmla="val 0"/>
              <a:gd name="adj2" fmla="val 16200000"/>
            </a:avLst>
          </a:prstGeom>
          <a:solidFill>
            <a:srgbClr val="00B6DE">
              <a:alpha val="40000"/>
            </a:srgbClr>
          </a:solidFill>
          <a:ln w="0">
            <a:noFill/>
          </a:ln>
        </p:spPr>
        <p:style>
          <a:lnRef idx="0"/>
          <a:fillRef idx="0"/>
          <a:effectRef idx="0"/>
          <a:fontRef idx="minor"/>
        </p:style>
        <p:txBody>
          <a:bodyPr lIns="90000" tIns="46800" rIns="90000" bIns="46800" anchor="t">
            <a:noAutofit/>
          </a:bodyPr>
          <a:p>
            <a:pPr indent="0">
              <a:lnSpc>
                <a:spcPct val="10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455" name="Freeform 32"/>
          <p:cNvSpPr/>
          <p:nvPr/>
        </p:nvSpPr>
        <p:spPr bwMode="auto">
          <a:xfrm>
            <a:off x="5708520" y="372960"/>
            <a:ext cx="95400" cy="236520"/>
          </a:xfrm>
          <a:prstGeom prst="pie">
            <a:avLst>
              <a:gd name="adj1" fmla="val 0"/>
              <a:gd name="adj2" fmla="val 16200000"/>
            </a:avLst>
          </a:prstGeom>
          <a:solidFill>
            <a:srgbClr val="00B6DE">
              <a:alpha val="40000"/>
            </a:srgbClr>
          </a:solidFill>
          <a:ln w="0">
            <a:noFill/>
          </a:ln>
        </p:spPr>
        <p:style>
          <a:lnRef idx="0"/>
          <a:fillRef idx="0"/>
          <a:effectRef idx="0"/>
          <a:fontRef idx="minor"/>
        </p:style>
        <p:txBody>
          <a:bodyPr lIns="90000" tIns="46800" rIns="90000" bIns="46800" anchor="t">
            <a:noAutofit/>
          </a:bodyPr>
          <a:p>
            <a:pPr indent="0">
              <a:lnSpc>
                <a:spcPct val="10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456" name="Freeform 33"/>
          <p:cNvSpPr/>
          <p:nvPr/>
        </p:nvSpPr>
        <p:spPr bwMode="auto">
          <a:xfrm>
            <a:off x="4878360" y="363600"/>
            <a:ext cx="95400" cy="236520"/>
          </a:xfrm>
          <a:prstGeom prst="pie">
            <a:avLst>
              <a:gd name="adj1" fmla="val 0"/>
              <a:gd name="adj2" fmla="val 16200000"/>
            </a:avLst>
          </a:prstGeom>
          <a:solidFill>
            <a:srgbClr val="00B6DE">
              <a:alpha val="40000"/>
            </a:srgbClr>
          </a:solidFill>
          <a:ln w="0">
            <a:noFill/>
          </a:ln>
        </p:spPr>
        <p:style>
          <a:lnRef idx="0"/>
          <a:fillRef idx="0"/>
          <a:effectRef idx="0"/>
          <a:fontRef idx="minor"/>
        </p:style>
        <p:txBody>
          <a:bodyPr lIns="90000" tIns="46800" rIns="90000" bIns="46800" anchor="t">
            <a:noAutofit/>
          </a:bodyPr>
          <a:p>
            <a:pPr indent="0">
              <a:lnSpc>
                <a:spcPct val="10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457" name="Freeform 34"/>
          <p:cNvSpPr/>
          <p:nvPr/>
        </p:nvSpPr>
        <p:spPr bwMode="auto">
          <a:xfrm>
            <a:off x="4097160" y="1133640"/>
            <a:ext cx="95400" cy="236520"/>
          </a:xfrm>
          <a:prstGeom prst="pie">
            <a:avLst>
              <a:gd name="adj1" fmla="val 0"/>
              <a:gd name="adj2" fmla="val 16200000"/>
            </a:avLst>
          </a:prstGeom>
          <a:solidFill>
            <a:srgbClr val="00B6DE">
              <a:alpha val="40000"/>
            </a:srgbClr>
          </a:solidFill>
          <a:ln w="0">
            <a:noFill/>
          </a:ln>
        </p:spPr>
        <p:style>
          <a:lnRef idx="0"/>
          <a:fillRef idx="0"/>
          <a:effectRef idx="0"/>
          <a:fontRef idx="minor"/>
        </p:style>
        <p:txBody>
          <a:bodyPr lIns="90000" tIns="46800" rIns="90000" bIns="46800" anchor="t">
            <a:noAutofit/>
          </a:bodyPr>
          <a:p>
            <a:pPr indent="0">
              <a:lnSpc>
                <a:spcPct val="10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458" name="Freeform 35"/>
          <p:cNvSpPr/>
          <p:nvPr/>
        </p:nvSpPr>
        <p:spPr bwMode="auto">
          <a:xfrm flipH="1">
            <a:off x="6539039" y="1752480"/>
            <a:ext cx="93600" cy="236520"/>
          </a:xfrm>
          <a:prstGeom prst="pie">
            <a:avLst>
              <a:gd name="adj1" fmla="val 0"/>
              <a:gd name="adj2" fmla="val 16200000"/>
            </a:avLst>
          </a:prstGeom>
          <a:solidFill>
            <a:srgbClr val="00B6DE">
              <a:alpha val="40000"/>
            </a:srgbClr>
          </a:solidFill>
          <a:ln w="0">
            <a:noFill/>
          </a:ln>
        </p:spPr>
        <p:style>
          <a:lnRef idx="0"/>
          <a:fillRef idx="0"/>
          <a:effectRef idx="0"/>
          <a:fontRef idx="minor"/>
        </p:style>
        <p:txBody>
          <a:bodyPr lIns="90000" tIns="46800" rIns="90000" bIns="46800" anchor="t">
            <a:noAutofit/>
          </a:bodyPr>
          <a:p>
            <a:pPr indent="0">
              <a:lnSpc>
                <a:spcPct val="10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459" name="Freeform 36"/>
          <p:cNvSpPr/>
          <p:nvPr/>
        </p:nvSpPr>
        <p:spPr bwMode="auto">
          <a:xfrm>
            <a:off x="7443720" y="1274759"/>
            <a:ext cx="184320" cy="466560"/>
          </a:xfrm>
          <a:prstGeom prst="pie">
            <a:avLst>
              <a:gd name="adj1" fmla="val 0"/>
              <a:gd name="adj2" fmla="val 16200000"/>
            </a:avLst>
          </a:prstGeom>
          <a:solidFill>
            <a:srgbClr val="00B6DE">
              <a:alpha val="40000"/>
            </a:srgbClr>
          </a:solidFill>
          <a:ln w="0">
            <a:noFill/>
          </a:ln>
        </p:spPr>
        <p:style>
          <a:lnRef idx="0"/>
          <a:fillRef idx="0"/>
          <a:effectRef idx="0"/>
          <a:fontRef idx="minor"/>
        </p:style>
        <p:txBody>
          <a:bodyPr lIns="90000" tIns="46800" rIns="90000" bIns="46800" anchor="t">
            <a:noAutofit/>
          </a:bodyPr>
          <a:p>
            <a:pPr indent="0">
              <a:lnSpc>
                <a:spcPct val="10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460" name="Freeform 38"/>
          <p:cNvSpPr/>
          <p:nvPr/>
        </p:nvSpPr>
        <p:spPr bwMode="auto">
          <a:xfrm>
            <a:off x="8772480" y="1398600"/>
            <a:ext cx="95400" cy="235080"/>
          </a:xfrm>
          <a:prstGeom prst="pie">
            <a:avLst>
              <a:gd name="adj1" fmla="val 0"/>
              <a:gd name="adj2" fmla="val 16200000"/>
            </a:avLst>
          </a:prstGeom>
          <a:solidFill>
            <a:srgbClr val="00B6DE">
              <a:alpha val="40000"/>
            </a:srgbClr>
          </a:solidFill>
          <a:ln w="0">
            <a:noFill/>
          </a:ln>
        </p:spPr>
        <p:style>
          <a:lnRef idx="0"/>
          <a:fillRef idx="0"/>
          <a:effectRef idx="0"/>
          <a:fontRef idx="minor"/>
        </p:style>
        <p:txBody>
          <a:bodyPr lIns="90000" tIns="46800" rIns="90000" bIns="46800" anchor="t">
            <a:noAutofit/>
          </a:bodyPr>
          <a:p>
            <a:pPr indent="0">
              <a:lnSpc>
                <a:spcPct val="10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461" name="Freeform 39"/>
          <p:cNvSpPr/>
          <p:nvPr/>
        </p:nvSpPr>
        <p:spPr bwMode="auto">
          <a:xfrm>
            <a:off x="8434440" y="1781280"/>
            <a:ext cx="144360" cy="360360"/>
          </a:xfrm>
          <a:prstGeom prst="pie">
            <a:avLst>
              <a:gd name="adj1" fmla="val 0"/>
              <a:gd name="adj2" fmla="val 16200000"/>
            </a:avLst>
          </a:prstGeom>
          <a:solidFill>
            <a:srgbClr val="00B6DE">
              <a:alpha val="40000"/>
            </a:srgbClr>
          </a:solidFill>
          <a:ln w="0">
            <a:noFill/>
          </a:ln>
        </p:spPr>
        <p:style>
          <a:lnRef idx="0"/>
          <a:fillRef idx="0"/>
          <a:effectRef idx="0"/>
          <a:fontRef idx="minor"/>
        </p:style>
        <p:txBody>
          <a:bodyPr lIns="90000" tIns="46800" rIns="90000" bIns="46800" anchor="t">
            <a:noAutofit/>
          </a:bodyPr>
          <a:p>
            <a:pPr indent="0">
              <a:lnSpc>
                <a:spcPct val="10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462" name="Freeform 40"/>
          <p:cNvSpPr/>
          <p:nvPr/>
        </p:nvSpPr>
        <p:spPr bwMode="auto">
          <a:xfrm flipH="1">
            <a:off x="8332200" y="208080"/>
            <a:ext cx="174600" cy="434880"/>
          </a:xfrm>
          <a:prstGeom prst="pie">
            <a:avLst>
              <a:gd name="adj1" fmla="val 0"/>
              <a:gd name="adj2" fmla="val 16200000"/>
            </a:avLst>
          </a:prstGeom>
          <a:solidFill>
            <a:srgbClr val="00B6DE">
              <a:alpha val="40000"/>
            </a:srgbClr>
          </a:solidFill>
          <a:ln w="0">
            <a:noFill/>
          </a:ln>
        </p:spPr>
        <p:style>
          <a:lnRef idx="0"/>
          <a:fillRef idx="0"/>
          <a:effectRef idx="0"/>
          <a:fontRef idx="minor"/>
        </p:style>
        <p:txBody>
          <a:bodyPr lIns="90000" tIns="46800" rIns="90000" bIns="46800" anchor="t">
            <a:noAutofit/>
          </a:bodyPr>
          <a:p>
            <a:pPr indent="0">
              <a:lnSpc>
                <a:spcPct val="10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grpSp>
        <p:nvGrpSpPr>
          <p:cNvPr id="463" name="Group 25"/>
          <p:cNvGrpSpPr/>
          <p:nvPr/>
        </p:nvGrpSpPr>
        <p:grpSpPr bwMode="auto">
          <a:xfrm>
            <a:off x="544680" y="1460520"/>
            <a:ext cx="2949120" cy="1176480"/>
            <a:chOff x="544680" y="1460520"/>
            <a:chExt cx="2949120" cy="1176480"/>
          </a:xfrm>
        </p:grpSpPr>
        <p:sp>
          <p:nvSpPr>
            <p:cNvPr id="464" name="Freeform 26"/>
            <p:cNvSpPr/>
            <p:nvPr/>
          </p:nvSpPr>
          <p:spPr bwMode="auto">
            <a:xfrm>
              <a:off x="957600" y="1813320"/>
              <a:ext cx="1658520" cy="537120"/>
            </a:xfrm>
            <a:prstGeom prst="pie">
              <a:avLst>
                <a:gd name="adj1" fmla="val 0"/>
                <a:gd name="adj2" fmla="val 16200000"/>
              </a:avLst>
            </a:prstGeom>
            <a:solidFill>
              <a:srgbClr val="005595"/>
            </a:solidFill>
            <a:ln w="0">
              <a:noFill/>
            </a:ln>
          </p:spPr>
          <p:style>
            <a:lnRef idx="0"/>
            <a:fillRef idx="0"/>
            <a:effectRef idx="0"/>
            <a:fontRef idx="minor"/>
          </p:style>
          <p:txBody>
            <a:bodyPr lIns="90000" tIns="46800" rIns="90000" bIns="46800" anchor="t">
              <a:noAutofit/>
            </a:bodyPr>
            <a:p>
              <a:pPr>
                <a:lnSpc>
                  <a:spcPct val="100000"/>
                </a:lnSpc>
                <a:spcBef>
                  <a:spcPts val="10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grpSp>
          <p:nvGrpSpPr>
            <p:cNvPr id="465" name="Group 27"/>
            <p:cNvGrpSpPr/>
            <p:nvPr/>
          </p:nvGrpSpPr>
          <p:grpSpPr bwMode="auto">
            <a:xfrm>
              <a:off x="2656440" y="1630080"/>
              <a:ext cx="483840" cy="436680"/>
              <a:chOff x="2656440" y="1630080"/>
              <a:chExt cx="483840" cy="436680"/>
            </a:xfrm>
          </p:grpSpPr>
          <p:sp>
            <p:nvSpPr>
              <p:cNvPr id="466" name="Freeform 28"/>
              <p:cNvSpPr/>
              <p:nvPr/>
            </p:nvSpPr>
            <p:spPr bwMode="auto">
              <a:xfrm>
                <a:off x="2656440" y="1630080"/>
                <a:ext cx="217080" cy="330840"/>
              </a:xfrm>
              <a:prstGeom prst="pie">
                <a:avLst>
                  <a:gd name="adj1" fmla="val 0"/>
                  <a:gd name="adj2" fmla="val 16200000"/>
                </a:avLst>
              </a:prstGeom>
              <a:solidFill>
                <a:srgbClr val="005595"/>
              </a:solidFill>
              <a:ln w="0">
                <a:noFill/>
              </a:ln>
            </p:spPr>
            <p:style>
              <a:lnRef idx="0"/>
              <a:fillRef idx="0"/>
              <a:effectRef idx="0"/>
              <a:fontRef idx="minor"/>
            </p:style>
            <p:txBody>
              <a:bodyPr lIns="90000" tIns="46800" rIns="90000" bIns="46800" anchor="t">
                <a:noAutofit/>
              </a:bodyPr>
              <a:p>
                <a:pPr>
                  <a:lnSpc>
                    <a:spcPct val="100000"/>
                  </a:lnSpc>
                  <a:spcBef>
                    <a:spcPts val="10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467" name="Freeform 29"/>
              <p:cNvSpPr/>
              <p:nvPr/>
            </p:nvSpPr>
            <p:spPr bwMode="auto">
              <a:xfrm>
                <a:off x="2903760" y="1749240"/>
                <a:ext cx="236520" cy="317520"/>
              </a:xfrm>
              <a:prstGeom prst="pie">
                <a:avLst>
                  <a:gd name="adj1" fmla="val 0"/>
                  <a:gd name="adj2" fmla="val 16200000"/>
                </a:avLst>
              </a:prstGeom>
              <a:solidFill>
                <a:srgbClr val="005595"/>
              </a:solidFill>
              <a:ln w="0">
                <a:noFill/>
              </a:ln>
            </p:spPr>
            <p:style>
              <a:lnRef idx="0"/>
              <a:fillRef idx="0"/>
              <a:effectRef idx="0"/>
              <a:fontRef idx="minor"/>
            </p:style>
            <p:txBody>
              <a:bodyPr lIns="90000" tIns="46800" rIns="90000" bIns="46800" anchor="t">
                <a:noAutofit/>
              </a:bodyPr>
              <a:p>
                <a:pPr>
                  <a:lnSpc>
                    <a:spcPct val="100000"/>
                  </a:lnSpc>
                  <a:spcBef>
                    <a:spcPts val="10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grpSp>
        <p:sp>
          <p:nvSpPr>
            <p:cNvPr id="468" name="Freeform 30"/>
            <p:cNvSpPr/>
            <p:nvPr/>
          </p:nvSpPr>
          <p:spPr bwMode="auto">
            <a:xfrm>
              <a:off x="544680" y="1460520"/>
              <a:ext cx="468000" cy="1176480"/>
            </a:xfrm>
            <a:prstGeom prst="pie">
              <a:avLst>
                <a:gd name="adj1" fmla="val 0"/>
                <a:gd name="adj2" fmla="val 16200000"/>
              </a:avLst>
            </a:prstGeom>
            <a:solidFill>
              <a:srgbClr val="00B6DE"/>
            </a:solidFill>
            <a:ln w="0">
              <a:noFill/>
            </a:ln>
          </p:spPr>
          <p:style>
            <a:lnRef idx="0"/>
            <a:fillRef idx="0"/>
            <a:effectRef idx="0"/>
            <a:fontRef idx="minor"/>
          </p:style>
          <p:txBody>
            <a:bodyPr lIns="90000" tIns="46800" rIns="90000" bIns="46800" anchor="t">
              <a:noAutofit/>
            </a:bodyPr>
            <a:p>
              <a:pPr>
                <a:lnSpc>
                  <a:spcPct val="100000"/>
                </a:lnSpc>
                <a:spcBef>
                  <a:spcPts val="10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469" name="Freeform 31"/>
            <p:cNvSpPr/>
            <p:nvPr/>
          </p:nvSpPr>
          <p:spPr bwMode="auto">
            <a:xfrm flipH="1" flipV="1">
              <a:off x="3025800" y="1460520"/>
              <a:ext cx="468000" cy="1176480"/>
            </a:xfrm>
            <a:prstGeom prst="pie">
              <a:avLst>
                <a:gd name="adj1" fmla="val 0"/>
                <a:gd name="adj2" fmla="val 16200000"/>
              </a:avLst>
            </a:prstGeom>
            <a:solidFill>
              <a:srgbClr val="00B6DE"/>
            </a:solidFill>
            <a:ln w="0">
              <a:noFill/>
            </a:ln>
          </p:spPr>
          <p:style>
            <a:lnRef idx="0"/>
            <a:fillRef idx="0"/>
            <a:effectRef idx="0"/>
            <a:fontRef idx="minor"/>
          </p:style>
          <p:txBody>
            <a:bodyPr rot="10800000" lIns="90000" tIns="46800" rIns="90000" bIns="46800" anchor="t">
              <a:noAutofit/>
            </a:bodyPr>
            <a:p>
              <a:pPr>
                <a:lnSpc>
                  <a:spcPct val="100000"/>
                </a:lnSpc>
                <a:spcBef>
                  <a:spcPts val="10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grpSp>
      <p:pic>
        <p:nvPicPr>
          <p:cNvPr id="470" name="Picture 12" descr=""/>
          <p:cNvPicPr/>
          <p:nvPr/>
        </p:nvPicPr>
        <p:blipFill>
          <a:blip r:embed="rId3"/>
          <a:srcRect l="0" t="0" r="7757" b="20296"/>
          <a:stretch/>
        </p:blipFill>
        <p:spPr bwMode="auto">
          <a:xfrm>
            <a:off x="8386920" y="6362640"/>
            <a:ext cx="510840" cy="349200"/>
          </a:xfrm>
          <a:prstGeom prst="rect">
            <a:avLst/>
          </a:prstGeom>
          <a:ln w="0">
            <a:noFill/>
          </a:ln>
        </p:spPr>
      </p:pic>
      <p:sp>
        <p:nvSpPr>
          <p:cNvPr id="471" name="PlaceHolder 2"/>
          <p:cNvSpPr>
            <a:spLocks noGrp="1"/>
          </p:cNvSpPr>
          <p:nvPr>
            <p:ph type="body"/>
          </p:nvPr>
        </p:nvSpPr>
        <p:spPr bwMode="auto">
          <a:xfrm>
            <a:off x="457200" y="1604520"/>
            <a:ext cx="8229240" cy="3977280"/>
          </a:xfrm>
          <a:prstGeom prst="rect">
            <a:avLst/>
          </a:prstGeom>
          <a:noFill/>
          <a:ln w="0">
            <a:noFill/>
          </a:ln>
        </p:spPr>
        <p:txBody>
          <a:bodyPr lIns="0" tIns="0" rIns="0" bIns="0" anchor="t">
            <a:normAutofit/>
          </a:bodyPr>
          <a:p>
            <a:pPr indent="0">
              <a:lnSpc>
                <a:spcPct val="90000"/>
              </a:lnSpc>
              <a:spcBef>
                <a:spcPts val="624"/>
              </a:spcBef>
              <a:spcAft>
                <a:spcPts val="249"/>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5A6FF"/>
                </a:solidFill>
                <a:latin typeface="Futura Bk"/>
              </a:rPr>
              <a:t>Click to edit the outline text format</a:t>
            </a:r>
            <a:endParaRPr lang="en-US" sz="2000" b="0" strike="noStrike" spc="-1">
              <a:solidFill>
                <a:srgbClr val="05A6FF"/>
              </a:solidFill>
              <a:latin typeface="Futura Bk"/>
            </a:endParaRPr>
          </a:p>
          <a:p>
            <a:pPr marL="343080" lvl="1" indent="0" algn="ctr">
              <a:lnSpc>
                <a:spcPct val="90000"/>
              </a:lnSpc>
              <a:spcBef>
                <a:spcPts val="750"/>
              </a:spcBef>
              <a:spcAft>
                <a:spcPts val="3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FFFFFF"/>
                </a:solidFill>
                <a:latin typeface="Futura Bk"/>
              </a:rPr>
              <a:t>Second Outline Level</a:t>
            </a:r>
            <a:endParaRPr lang="en-US" sz="2400" b="0" strike="noStrike" spc="-1">
              <a:solidFill>
                <a:srgbClr val="FFFFFF"/>
              </a:solidFill>
              <a:latin typeface="Futura Bk"/>
            </a:endParaRPr>
          </a:p>
          <a:p>
            <a:pPr marL="685800" lvl="2" algn="ctr">
              <a:lnSpc>
                <a:spcPct val="90000"/>
              </a:lnSpc>
              <a:spcBef>
                <a:spcPts val="624"/>
              </a:spcBef>
              <a:spcAft>
                <a:spcPts val="249"/>
              </a:spcAft>
              <a:buClr>
                <a:srgbClr val="ABA69F"/>
              </a:buClr>
              <a:buSzPct val="85000"/>
              <a:buFont typeface="Futura Bk"/>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FFFFFF"/>
                </a:solidFill>
                <a:latin typeface="Futura Bk"/>
              </a:rPr>
              <a:t>Third Outline Level</a:t>
            </a:r>
            <a:endParaRPr lang="en-US" sz="2000" b="0" strike="noStrike" spc="-1">
              <a:solidFill>
                <a:srgbClr val="FFFFFF"/>
              </a:solidFill>
              <a:latin typeface="Futura Bk"/>
            </a:endParaRPr>
          </a:p>
          <a:p>
            <a:pPr marL="1028879" lvl="3" algn="ctr">
              <a:lnSpc>
                <a:spcPct val="90000"/>
              </a:lnSpc>
              <a:spcBef>
                <a:spcPts val="624"/>
              </a:spcBef>
              <a:spcAft>
                <a:spcPts val="249"/>
              </a:spcAft>
              <a:buClr>
                <a:srgbClr val="ABA69F"/>
              </a:buClr>
              <a:buSzPct val="85000"/>
              <a:buFont typeface="Futura Bk"/>
              <a:buChar char="−"/>
              <a:tabLst>
                <a:tab pos="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FFFFFF"/>
                </a:solidFill>
                <a:latin typeface="Futura Bk"/>
              </a:rPr>
              <a:t>Fourth Outline Level</a:t>
            </a:r>
            <a:endParaRPr lang="en-US" sz="2000" b="0" strike="noStrike" spc="-1">
              <a:solidFill>
                <a:srgbClr val="FFFFFF"/>
              </a:solidFill>
              <a:latin typeface="Futura Bk"/>
            </a:endParaRPr>
          </a:p>
          <a:p>
            <a:pPr marL="1371600" lvl="4" algn="ctr">
              <a:lnSpc>
                <a:spcPct val="90000"/>
              </a:lnSpc>
              <a:spcBef>
                <a:spcPts val="624"/>
              </a:spcBef>
              <a:spcAft>
                <a:spcPts val="249"/>
              </a:spcAft>
              <a:buClr>
                <a:srgbClr val="ABA69F"/>
              </a:buClr>
              <a:buSzPct val="85000"/>
              <a:buFont typeface="Futura Bk"/>
              <a:buChar char="•"/>
              <a:tabLst>
                <a:tab pos="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FFFFFF"/>
                </a:solidFill>
                <a:latin typeface="Futura Bk"/>
              </a:rPr>
              <a:t>Fifth Outline Level</a:t>
            </a:r>
            <a:endParaRPr lang="en-US" sz="2000" b="0" strike="noStrike" spc="-1">
              <a:solidFill>
                <a:srgbClr val="FFFFFF"/>
              </a:solidFill>
              <a:latin typeface="Futura Bk"/>
            </a:endParaRPr>
          </a:p>
          <a:p>
            <a:pPr marL="1371600" lvl="5">
              <a:spcBef>
                <a:spcPts val="499"/>
              </a:spcBef>
              <a:buClr>
                <a:srgbClr val="FFFFF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FFFFFF"/>
                </a:solidFill>
                <a:latin typeface="Futura Bk"/>
              </a:rPr>
              <a:t>Sixth Outline Level</a:t>
            </a:r>
            <a:endParaRPr lang="en-US" sz="2000" b="0" strike="noStrike" spc="-1">
              <a:solidFill>
                <a:srgbClr val="FFFFFF"/>
              </a:solidFill>
              <a:latin typeface="Futura Bk"/>
            </a:endParaRPr>
          </a:p>
          <a:p>
            <a:pPr marL="1371600" lvl="6">
              <a:spcBef>
                <a:spcPts val="499"/>
              </a:spcBef>
              <a:buClr>
                <a:srgbClr val="FFFFF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FFFFFF"/>
                </a:solidFill>
                <a:latin typeface="Futura Bk"/>
              </a:rPr>
              <a:t>Seventh Outline Level</a:t>
            </a:r>
            <a:endParaRPr lang="en-US" sz="2000" b="0" strike="noStrike" spc="-1">
              <a:solidFill>
                <a:srgbClr val="FFFFFF"/>
              </a:solidFill>
              <a:latin typeface="Futura Bk"/>
            </a:endParaRPr>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Masters/slideMaster2.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FFFFFF"/>
        </a:solidFill>
      </p:bgPr>
    </p:bg>
    <p:spTree>
      <p:nvGrpSpPr>
        <p:cNvPr id="1" name=""/>
        <p:cNvGrpSpPr/>
        <p:nvPr/>
      </p:nvGrpSpPr>
      <p:grpSpPr bwMode="auto">
        <a:xfrm>
          <a:off x="0" y="0"/>
          <a:ext cx="0" cy="0"/>
          <a:chOff x="0" y="0"/>
          <a:chExt cx="0" cy="0"/>
        </a:xfrm>
      </p:grpSpPr>
      <p:sp>
        <p:nvSpPr>
          <p:cNvPr id="428" name=""/>
          <p:cNvSpPr/>
          <p:nvPr/>
        </p:nvSpPr>
        <p:spPr bwMode="auto">
          <a:xfrm>
            <a:off x="0" y="1171440"/>
            <a:ext cx="257040" cy="5686560"/>
          </a:xfrm>
          <a:prstGeom prst="rect">
            <a:avLst/>
          </a:prstGeom>
          <a:solidFill>
            <a:srgbClr val="0071B4"/>
          </a:solidFill>
          <a:ln w="0">
            <a:noFill/>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429" name=""/>
          <p:cNvSpPr/>
          <p:nvPr/>
        </p:nvSpPr>
        <p:spPr bwMode="auto">
          <a:xfrm>
            <a:off x="0" y="0"/>
            <a:ext cx="257040" cy="1114560"/>
          </a:xfrm>
          <a:prstGeom prst="rect">
            <a:avLst/>
          </a:prstGeom>
          <a:solidFill>
            <a:srgbClr val="0071B4"/>
          </a:solidFill>
          <a:ln w="0">
            <a:noFill/>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430"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Click to edit the title text format</a:t>
            </a:r>
            <a:endParaRPr lang="en-US" sz="3600" b="0" strike="noStrike" spc="-1">
              <a:solidFill>
                <a:srgbClr val="000000"/>
              </a:solidFill>
              <a:latin typeface="Futura Bk"/>
            </a:endParaRPr>
          </a:p>
        </p:txBody>
      </p:sp>
      <p:sp>
        <p:nvSpPr>
          <p:cNvPr id="431" name="PlaceHolder 2"/>
          <p:cNvSpPr>
            <a:spLocks noGrp="1"/>
          </p:cNvSpPr>
          <p:nvPr>
            <p:ph type="body"/>
          </p:nvPr>
        </p:nvSpPr>
        <p:spPr bwMode="auto">
          <a:xfrm>
            <a:off x="399600" y="1447920"/>
            <a:ext cx="8272440" cy="4587840"/>
          </a:xfrm>
          <a:prstGeom prst="rect">
            <a:avLst/>
          </a:prstGeom>
          <a:noFill/>
          <a:ln w="0">
            <a:noFill/>
          </a:ln>
        </p:spPr>
        <p:txBody>
          <a:bodyPr lIns="90000" tIns="46800" rIns="90000" bIns="46800" anchor="t">
            <a:normAutofit/>
          </a:bodyPr>
          <a:p>
            <a:pPr marL="228600" indent="-228600">
              <a:lnSpc>
                <a:spcPct val="90000"/>
              </a:lnSpc>
              <a:spcBef>
                <a:spcPts val="876"/>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rPr>
              <a:t>Click to edit the outline text format</a:t>
            </a:r>
            <a:endParaRPr lang="en-US" sz="2800" b="0" strike="noStrike" spc="-1">
              <a:solidFill>
                <a:srgbClr val="000000"/>
              </a:solidFill>
              <a:latin typeface="Futura Bk"/>
            </a:endParaRPr>
          </a:p>
          <a:p>
            <a:pPr marL="571680" lvl="1" indent="-228600">
              <a:lnSpc>
                <a:spcPct val="90000"/>
              </a:lnSpc>
              <a:spcBef>
                <a:spcPts val="876"/>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rPr>
              <a:t>Second Outline Level</a:t>
            </a:r>
            <a:endParaRPr lang="en-US" sz="2800" b="0" strike="noStrike" spc="-1">
              <a:solidFill>
                <a:srgbClr val="000000"/>
              </a:solidFill>
              <a:latin typeface="Futura Bk"/>
            </a:endParaRPr>
          </a:p>
          <a:p>
            <a:pPr marL="914400" lvl="2" indent="-228600">
              <a:lnSpc>
                <a:spcPct val="90000"/>
              </a:lnSpc>
              <a:spcBef>
                <a:spcPts val="876"/>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rPr>
              <a:t>Third Outline Level</a:t>
            </a:r>
            <a:endParaRPr lang="en-US" sz="2800" b="0" strike="noStrike" spc="-1">
              <a:solidFill>
                <a:srgbClr val="000000"/>
              </a:solidFill>
              <a:latin typeface="Futura Bk"/>
            </a:endParaRPr>
          </a:p>
          <a:p>
            <a:pPr marL="1257480" lvl="3" indent="-228600">
              <a:lnSpc>
                <a:spcPct val="90000"/>
              </a:lnSpc>
              <a:spcBef>
                <a:spcPts val="876"/>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rPr>
              <a:t>Fourth Outline Level</a:t>
            </a:r>
            <a:endParaRPr lang="en-US" sz="2800" b="0" strike="noStrike" spc="-1">
              <a:solidFill>
                <a:srgbClr val="000000"/>
              </a:solidFill>
              <a:latin typeface="Futura Bk"/>
            </a:endParaRPr>
          </a:p>
          <a:p>
            <a:pPr marL="1600200" lvl="4" indent="-228600">
              <a:lnSpc>
                <a:spcPct val="90000"/>
              </a:lnSpc>
              <a:spcBef>
                <a:spcPts val="876"/>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rPr>
              <a:t>Fifth Outline Level</a:t>
            </a:r>
            <a:endParaRPr lang="en-US" sz="2800" b="0" strike="noStrike" spc="-1">
              <a:solidFill>
                <a:srgbClr val="000000"/>
              </a:solidFill>
              <a:latin typeface="Futura Bk"/>
            </a:endParaRPr>
          </a:p>
          <a:p>
            <a:pPr marL="1600200" lvl="5" indent="-228600">
              <a:lnSpc>
                <a:spcPct val="90000"/>
              </a:lnSpc>
              <a:spcBef>
                <a:spcPts val="876"/>
              </a:spcBef>
              <a:spcAft>
                <a:spcPts val="349"/>
              </a:spcAft>
              <a:buClr>
                <a:srgbClr val="000000"/>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rPr>
              <a:t>Sixth Outline Level</a:t>
            </a:r>
            <a:endParaRPr lang="en-US" sz="2800" b="0" strike="noStrike" spc="-1">
              <a:solidFill>
                <a:srgbClr val="000000"/>
              </a:solidFill>
              <a:latin typeface="Futura Bk"/>
            </a:endParaRPr>
          </a:p>
          <a:p>
            <a:pPr marL="1600200" lvl="6" indent="-228600">
              <a:lnSpc>
                <a:spcPct val="90000"/>
              </a:lnSpc>
              <a:spcBef>
                <a:spcPts val="876"/>
              </a:spcBef>
              <a:spcAft>
                <a:spcPts val="349"/>
              </a:spcAft>
              <a:buClr>
                <a:srgbClr val="000000"/>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rPr>
              <a:t>Seventh Outline Level</a:t>
            </a:r>
            <a:endParaRPr lang="en-US" sz="2800" b="0" strike="noStrike" spc="-1">
              <a:solidFill>
                <a:srgbClr val="000000"/>
              </a:solidFill>
              <a:latin typeface="Futura Bk"/>
            </a:endParaRPr>
          </a:p>
        </p:txBody>
      </p:sp>
      <p:sp>
        <p:nvSpPr>
          <p:cNvPr id="432" name="PlaceHolder 3"/>
          <p:cNvSpPr>
            <a:spLocks noGrp="1"/>
          </p:cNvSpPr>
          <p:nvPr>
            <p:ph type="ftr" idx="5"/>
          </p:nvPr>
        </p:nvSpPr>
        <p:spPr bwMode="auto">
          <a:xfrm>
            <a:off x="394920" y="6453000"/>
            <a:ext cx="6961320" cy="315720"/>
          </a:xfrm>
          <a:prstGeom prst="rect">
            <a:avLst/>
          </a:prstGeom>
          <a:noFill/>
          <a:ln w="0">
            <a:noFill/>
          </a:ln>
        </p:spPr>
        <p:txBody>
          <a:bodyPr lIns="90000" tIns="46800" rIns="90000" bIns="46800" anchor="b">
            <a:noAutofit/>
          </a:bodyPr>
          <a:lstStyle>
            <a:lvl1pPr indent="0">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900" b="0" strike="noStrike" spc="-1">
                <a:solidFill>
                  <a:srgbClr val="848589"/>
                </a:solidFill>
                <a:latin typeface="Futura Bk"/>
              </a:defRPr>
            </a:lvl1pPr>
          </a:lstStyle>
          <a:p>
            <a:pPr indent="0">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fld id="{DCBB9D22-E6D8-4F9C-B5DE-C8BCFD8B3B26}" type="slidenum">
              <a:rPr lang="en-US" sz="900" b="0" strike="noStrike" spc="-1">
                <a:solidFill>
                  <a:srgbClr val="848589"/>
                </a:solidFill>
                <a:latin typeface="Futura Bk"/>
              </a:rPr>
              <a:t/>
            </a:fld>
            <a:r>
              <a:rPr lang="en-US" sz="900" b="0" strike="noStrike" spc="-1">
                <a:solidFill>
                  <a:srgbClr val="848589"/>
                </a:solidFill>
                <a:latin typeface="Futura Bk"/>
              </a:rPr>
              <a:t>/51</a:t>
            </a:r>
            <a:endParaRPr lang="en-US" sz="900" b="0" strike="noStrike" spc="-1">
              <a:solidFill>
                <a:srgbClr val="000000"/>
              </a:solidFill>
              <a:latin typeface="Times New Roman"/>
            </a:endParaRPr>
          </a:p>
        </p:txBody>
      </p:sp>
      <p:pic>
        <p:nvPicPr>
          <p:cNvPr id="433" name="Picture 5" descr="LABSLogo_dark"/>
          <p:cNvPicPr/>
          <p:nvPr/>
        </p:nvPicPr>
        <p:blipFill>
          <a:blip r:embed="rId5"/>
          <a:stretch/>
        </p:blipFill>
        <p:spPr bwMode="auto">
          <a:xfrm>
            <a:off x="8118360" y="6365880"/>
            <a:ext cx="768600" cy="3096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Lst>
</p:sldMaster>
</file>

<file path=ppt/slideMasters/slideMaster3.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0071B4"/>
        </a:solidFill>
      </p:bgPr>
    </p:bg>
    <p:spTree>
      <p:nvGrpSpPr>
        <p:cNvPr id="1" name=""/>
        <p:cNvGrpSpPr/>
        <p:nvPr/>
      </p:nvGrpSpPr>
      <p:grpSpPr bwMode="auto">
        <a:xfrm>
          <a:off x="0" y="0"/>
          <a:ext cx="0" cy="0"/>
          <a:chOff x="0" y="0"/>
          <a:chExt cx="0" cy="0"/>
        </a:xfrm>
      </p:grpSpPr>
      <p:pic>
        <p:nvPicPr>
          <p:cNvPr id="226" name="" descr=""/>
          <p:cNvPicPr/>
          <p:nvPr/>
        </p:nvPicPr>
        <p:blipFill>
          <a:blip r:embed="rId3"/>
          <a:stretch/>
        </p:blipFill>
        <p:spPr bwMode="auto">
          <a:xfrm>
            <a:off x="0" y="0"/>
            <a:ext cx="9142560" cy="6858000"/>
          </a:xfrm>
          <a:prstGeom prst="rect">
            <a:avLst/>
          </a:prstGeom>
          <a:ln w="0">
            <a:noFill/>
          </a:ln>
        </p:spPr>
      </p:pic>
      <p:sp>
        <p:nvSpPr>
          <p:cNvPr id="227" name="PlaceHolder 1"/>
          <p:cNvSpPr>
            <a:spLocks noGrp="1"/>
          </p:cNvSpPr>
          <p:nvPr>
            <p:ph type="title"/>
          </p:nvPr>
        </p:nvSpPr>
        <p:spPr bwMode="auto">
          <a:xfrm>
            <a:off x="434520" y="533160"/>
            <a:ext cx="4776840" cy="3119400"/>
          </a:xfrm>
          <a:prstGeom prst="rect">
            <a:avLst/>
          </a:prstGeom>
          <a:noFill/>
          <a:ln w="0">
            <a:noFill/>
          </a:ln>
        </p:spPr>
        <p:txBody>
          <a:bodyPr lIns="90000" tIns="46800" rIns="90000" bIns="46800" anchor="t">
            <a:noAutofit/>
          </a:bodyPr>
          <a:p>
            <a:pPr indent="0">
              <a:spcBef>
                <a:spcPts val="27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4400" b="0" strike="noStrike" spc="-1">
                <a:solidFill>
                  <a:srgbClr val="FFFFFF"/>
                </a:solidFill>
                <a:latin typeface="Futura Lt"/>
              </a:rPr>
              <a:t>Click to edit the title text format</a:t>
            </a:r>
            <a:endParaRPr lang="en-US" sz="4400" b="0" strike="noStrike" spc="-1">
              <a:solidFill>
                <a:srgbClr val="FFFFFF"/>
              </a:solidFill>
              <a:latin typeface="Futura Lt"/>
            </a:endParaRPr>
          </a:p>
        </p:txBody>
      </p:sp>
      <p:pic>
        <p:nvPicPr>
          <p:cNvPr id="228" name="" descr=""/>
          <p:cNvPicPr/>
          <p:nvPr/>
        </p:nvPicPr>
        <p:blipFill>
          <a:blip r:embed="rId4"/>
          <a:stretch/>
        </p:blipFill>
        <p:spPr bwMode="auto">
          <a:xfrm>
            <a:off x="0" y="4025880"/>
            <a:ext cx="9142560" cy="1628640"/>
          </a:xfrm>
          <a:prstGeom prst="rect">
            <a:avLst/>
          </a:prstGeom>
          <a:ln w="0">
            <a:noFill/>
          </a:ln>
        </p:spPr>
      </p:pic>
      <p:sp>
        <p:nvSpPr>
          <p:cNvPr id="229" name="PlaceHolder 2"/>
          <p:cNvSpPr>
            <a:spLocks noGrp="1"/>
          </p:cNvSpPr>
          <p:nvPr>
            <p:ph type="body"/>
          </p:nvPr>
        </p:nvSpPr>
        <p:spPr bwMode="auto">
          <a:xfrm>
            <a:off x="457200" y="1604520"/>
            <a:ext cx="8229240" cy="3977280"/>
          </a:xfrm>
          <a:prstGeom prst="rect">
            <a:avLst/>
          </a:prstGeom>
          <a:noFill/>
          <a:ln w="0">
            <a:noFill/>
          </a:ln>
        </p:spPr>
        <p:txBody>
          <a:bodyPr lIns="0" tIns="0" rIns="0" bIns="0" anchor="t">
            <a:normAutofit/>
          </a:bodyPr>
          <a:p>
            <a:pPr marL="228600" indent="-228600">
              <a:lnSpc>
                <a:spcPct val="90000"/>
              </a:lnSpc>
              <a:spcBef>
                <a:spcPts val="1049"/>
              </a:spcBef>
              <a:spcAft>
                <a:spcPts val="349"/>
              </a:spcAft>
              <a:buClr>
                <a:srgbClr val="B2B3B5"/>
              </a:buClr>
              <a:buSzPct val="7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FFFFFF"/>
                </a:solidFill>
                <a:latin typeface="Futura Bk"/>
              </a:rPr>
              <a:t>Click to edit the outline text format</a:t>
            </a:r>
            <a:endParaRPr lang="en-US" sz="2800" b="0" strike="noStrike" spc="-1">
              <a:solidFill>
                <a:srgbClr val="FFFFFF"/>
              </a:solidFill>
              <a:latin typeface="Futura Bk"/>
            </a:endParaRPr>
          </a:p>
          <a:p>
            <a:pPr marL="571680" lvl="1" indent="-228600">
              <a:lnSpc>
                <a:spcPct val="90000"/>
              </a:lnSpc>
              <a:spcBef>
                <a:spcPts val="300"/>
              </a:spcBef>
              <a:spcAft>
                <a:spcPts val="300"/>
              </a:spcAft>
              <a:buClr>
                <a:srgbClr val="B2B3B5"/>
              </a:buClr>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FFFFFF"/>
                </a:solidFill>
                <a:latin typeface="Futura Bk"/>
              </a:rPr>
              <a:t>Second Outline Level</a:t>
            </a:r>
            <a:endParaRPr lang="en-US" sz="2400" b="0" strike="noStrike" spc="-1">
              <a:solidFill>
                <a:srgbClr val="FFFFFF"/>
              </a:solidFill>
              <a:latin typeface="Futura Bk"/>
            </a:endParaRPr>
          </a:p>
          <a:p>
            <a:pPr marL="914400" lvl="2" indent="-228600">
              <a:lnSpc>
                <a:spcPct val="90000"/>
              </a:lnSpc>
              <a:spcBef>
                <a:spcPts val="249"/>
              </a:spcBef>
              <a:spcAft>
                <a:spcPts val="249"/>
              </a:spcAft>
              <a:buClr>
                <a:srgbClr val="B2B3B5"/>
              </a:buClr>
              <a:buFont typeface="Futura Bk"/>
              <a:buChar char="•"/>
              <a:tabLst>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FFFFFF"/>
                </a:solidFill>
                <a:latin typeface="Futura Bk"/>
              </a:rPr>
              <a:t>Third Outline Level</a:t>
            </a:r>
            <a:endParaRPr lang="en-US" sz="2000" b="0" strike="noStrike" spc="-1">
              <a:solidFill>
                <a:srgbClr val="FFFFFF"/>
              </a:solidFill>
              <a:latin typeface="Futura Bk"/>
            </a:endParaRPr>
          </a:p>
          <a:p>
            <a:pPr marL="1257480" lvl="3" indent="-228600">
              <a:lnSpc>
                <a:spcPct val="90000"/>
              </a:lnSpc>
              <a:spcBef>
                <a:spcPts val="249"/>
              </a:spcBef>
              <a:spcAft>
                <a:spcPts val="249"/>
              </a:spcAft>
              <a:buClr>
                <a:srgbClr val="B2B3B5"/>
              </a:buClr>
              <a:buFont typeface="Futura Bk"/>
              <a:buChar char="−"/>
              <a:tabLst>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FFFFFF"/>
                </a:solidFill>
                <a:latin typeface="Futura Bk"/>
              </a:rPr>
              <a:t>Fourth Outline Level</a:t>
            </a:r>
            <a:endParaRPr lang="en-US" sz="2000" b="0" strike="noStrike" spc="-1">
              <a:solidFill>
                <a:srgbClr val="FFFFFF"/>
              </a:solidFill>
              <a:latin typeface="Futura Bk"/>
            </a:endParaRPr>
          </a:p>
          <a:p>
            <a:pPr marL="1600200" lvl="4" indent="-228600">
              <a:lnSpc>
                <a:spcPct val="90000"/>
              </a:lnSpc>
              <a:spcBef>
                <a:spcPts val="249"/>
              </a:spcBef>
              <a:spcAft>
                <a:spcPts val="249"/>
              </a:spcAft>
              <a:buClr>
                <a:srgbClr val="B2B3B5"/>
              </a:buClr>
              <a:buFont typeface="Futura Bk"/>
              <a:buChar char="•"/>
              <a:tabLst>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FFFFFF"/>
                </a:solidFill>
                <a:latin typeface="Futura Bk"/>
              </a:rPr>
              <a:t>Fifth Outline Level</a:t>
            </a:r>
            <a:endParaRPr lang="en-US" sz="2000" b="0" strike="noStrike" spc="-1">
              <a:solidFill>
                <a:srgbClr val="FFFFFF"/>
              </a:solidFill>
              <a:latin typeface="Futura Bk"/>
            </a:endParaRPr>
          </a:p>
          <a:p>
            <a:pPr marL="1600200" lvl="5" indent="-228600">
              <a:spcBef>
                <a:spcPts val="499"/>
              </a:spcBef>
              <a:buClr>
                <a:srgbClr val="FFFFFF"/>
              </a:buClr>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FFFFFF"/>
                </a:solidFill>
                <a:latin typeface="Futura Bk"/>
              </a:rPr>
              <a:t>Sixth Outline Level</a:t>
            </a:r>
            <a:endParaRPr lang="en-US" sz="2000" b="0" strike="noStrike" spc="-1">
              <a:solidFill>
                <a:srgbClr val="FFFFFF"/>
              </a:solidFill>
              <a:latin typeface="Futura Bk"/>
            </a:endParaRPr>
          </a:p>
          <a:p>
            <a:pPr marL="1600200" lvl="6" indent="-228600">
              <a:spcBef>
                <a:spcPts val="499"/>
              </a:spcBef>
              <a:buClr>
                <a:srgbClr val="FFFFFF"/>
              </a:buClr>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FFFFFF"/>
                </a:solidFill>
                <a:latin typeface="Futura Bk"/>
              </a:rPr>
              <a:t>Seventh Outline Level</a:t>
            </a:r>
            <a:endParaRPr lang="en-US" sz="2000" b="0" strike="noStrike" spc="-1">
              <a:solidFill>
                <a:srgbClr val="FFFFFF"/>
              </a:solidFill>
              <a:latin typeface="Futura Bk"/>
            </a:endParaRPr>
          </a:p>
        </p:txBody>
      </p:sp>
    </p:spTree>
  </p:cSld>
  <p:clrMap bg1="lt1" tx1="dk1" bg2="lt2" tx2="dk2" accent1="accent1" accent2="accent2" accent3="accent3" accent4="accent4" accent5="accent5" accent6="accent6" hlink="hlink" folHlink="folHlink"/>
  <p:sldLayoutIdLst>
    <p:sldLayoutId id="2147483655" r:id="rId1"/>
  </p:sldLayoutIdLst>
</p:sldMaster>
</file>

<file path=ppt/slideMasters/slideMaster4.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FFFFFF"/>
        </a:solidFill>
      </p:bgPr>
    </p:bg>
    <p:spTree>
      <p:nvGrpSpPr>
        <p:cNvPr id="1" name=""/>
        <p:cNvGrpSpPr/>
        <p:nvPr/>
      </p:nvGrpSpPr>
      <p:grpSpPr bwMode="auto">
        <a:xfrm>
          <a:off x="0" y="0"/>
          <a:ext cx="0" cy="0"/>
          <a:chOff x="0" y="0"/>
          <a:chExt cx="0" cy="0"/>
        </a:xfrm>
      </p:grpSpPr>
      <p:sp>
        <p:nvSpPr>
          <p:cNvPr id="172" name=""/>
          <p:cNvSpPr/>
          <p:nvPr/>
        </p:nvSpPr>
        <p:spPr bwMode="auto">
          <a:xfrm>
            <a:off x="0" y="1171440"/>
            <a:ext cx="257040" cy="5686560"/>
          </a:xfrm>
          <a:prstGeom prst="rect">
            <a:avLst/>
          </a:prstGeom>
          <a:solidFill>
            <a:srgbClr val="0071B4"/>
          </a:solidFill>
          <a:ln w="0">
            <a:noFill/>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173" name=""/>
          <p:cNvSpPr/>
          <p:nvPr/>
        </p:nvSpPr>
        <p:spPr bwMode="auto">
          <a:xfrm>
            <a:off x="0" y="0"/>
            <a:ext cx="257040" cy="1114560"/>
          </a:xfrm>
          <a:prstGeom prst="rect">
            <a:avLst/>
          </a:prstGeom>
          <a:solidFill>
            <a:srgbClr val="0071B4"/>
          </a:solidFill>
          <a:ln w="0">
            <a:noFill/>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174"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Click to edit the title text format</a:t>
            </a:r>
            <a:endParaRPr lang="en-US" sz="3600" b="0" strike="noStrike" spc="-1">
              <a:solidFill>
                <a:srgbClr val="000000"/>
              </a:solidFill>
              <a:latin typeface="Futura Bk"/>
            </a:endParaRPr>
          </a:p>
        </p:txBody>
      </p:sp>
      <p:sp>
        <p:nvSpPr>
          <p:cNvPr id="175" name="PlaceHolder 2"/>
          <p:cNvSpPr>
            <a:spLocks noGrp="1"/>
          </p:cNvSpPr>
          <p:nvPr>
            <p:ph type="body"/>
          </p:nvPr>
        </p:nvSpPr>
        <p:spPr bwMode="auto">
          <a:xfrm>
            <a:off x="399600" y="1447920"/>
            <a:ext cx="8272440" cy="4587840"/>
          </a:xfrm>
          <a:prstGeom prst="rect">
            <a:avLst/>
          </a:prstGeom>
          <a:noFill/>
          <a:ln w="0">
            <a:noFill/>
          </a:ln>
        </p:spPr>
        <p:txBody>
          <a:bodyPr lIns="90000" tIns="46800" rIns="90000" bIns="46800" anchor="t">
            <a:normAutofit/>
          </a:bodyPr>
          <a:p>
            <a:pPr marL="228600" indent="-228600">
              <a:lnSpc>
                <a:spcPct val="90000"/>
              </a:lnSpc>
              <a:spcBef>
                <a:spcPts val="876"/>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rPr>
              <a:t>Click to edit the outline text format</a:t>
            </a:r>
            <a:endParaRPr lang="en-US" sz="2800" b="0" strike="noStrike" spc="-1">
              <a:solidFill>
                <a:srgbClr val="000000"/>
              </a:solidFill>
              <a:latin typeface="Futura Bk"/>
            </a:endParaRPr>
          </a:p>
          <a:p>
            <a:pPr marL="571680" lvl="1" indent="-228600">
              <a:lnSpc>
                <a:spcPct val="90000"/>
              </a:lnSpc>
              <a:spcBef>
                <a:spcPts val="876"/>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rPr>
              <a:t>Second Outline Level</a:t>
            </a:r>
            <a:endParaRPr lang="en-US" sz="2800" b="0" strike="noStrike" spc="-1">
              <a:solidFill>
                <a:srgbClr val="000000"/>
              </a:solidFill>
              <a:latin typeface="Futura Bk"/>
            </a:endParaRPr>
          </a:p>
          <a:p>
            <a:pPr marL="914400" lvl="2" indent="-228600">
              <a:lnSpc>
                <a:spcPct val="90000"/>
              </a:lnSpc>
              <a:spcBef>
                <a:spcPts val="876"/>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rPr>
              <a:t>Third Outline Level</a:t>
            </a:r>
            <a:endParaRPr lang="en-US" sz="2800" b="0" strike="noStrike" spc="-1">
              <a:solidFill>
                <a:srgbClr val="000000"/>
              </a:solidFill>
              <a:latin typeface="Futura Bk"/>
            </a:endParaRPr>
          </a:p>
          <a:p>
            <a:pPr marL="1257480" lvl="3" indent="-228600">
              <a:lnSpc>
                <a:spcPct val="90000"/>
              </a:lnSpc>
              <a:spcBef>
                <a:spcPts val="876"/>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rPr>
              <a:t>Fourth Outline Level</a:t>
            </a:r>
            <a:endParaRPr lang="en-US" sz="2800" b="0" strike="noStrike" spc="-1">
              <a:solidFill>
                <a:srgbClr val="000000"/>
              </a:solidFill>
              <a:latin typeface="Futura Bk"/>
            </a:endParaRPr>
          </a:p>
          <a:p>
            <a:pPr marL="1600200" lvl="4" indent="-228600">
              <a:lnSpc>
                <a:spcPct val="90000"/>
              </a:lnSpc>
              <a:spcBef>
                <a:spcPts val="876"/>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rPr>
              <a:t>Fifth Outline Level</a:t>
            </a:r>
            <a:endParaRPr lang="en-US" sz="2800" b="0" strike="noStrike" spc="-1">
              <a:solidFill>
                <a:srgbClr val="000000"/>
              </a:solidFill>
              <a:latin typeface="Futura Bk"/>
            </a:endParaRPr>
          </a:p>
          <a:p>
            <a:pPr marL="1600200" lvl="5" indent="-228600">
              <a:lnSpc>
                <a:spcPct val="90000"/>
              </a:lnSpc>
              <a:spcBef>
                <a:spcPts val="876"/>
              </a:spcBef>
              <a:spcAft>
                <a:spcPts val="349"/>
              </a:spcAft>
              <a:buClr>
                <a:srgbClr val="000000"/>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rPr>
              <a:t>Sixth Outline Level</a:t>
            </a:r>
            <a:endParaRPr lang="en-US" sz="2800" b="0" strike="noStrike" spc="-1">
              <a:solidFill>
                <a:srgbClr val="000000"/>
              </a:solidFill>
              <a:latin typeface="Futura Bk"/>
            </a:endParaRPr>
          </a:p>
          <a:p>
            <a:pPr marL="1600200" lvl="6" indent="-228600">
              <a:lnSpc>
                <a:spcPct val="90000"/>
              </a:lnSpc>
              <a:spcBef>
                <a:spcPts val="876"/>
              </a:spcBef>
              <a:spcAft>
                <a:spcPts val="349"/>
              </a:spcAft>
              <a:buClr>
                <a:srgbClr val="000000"/>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rPr>
              <a:t>Seventh Outline Level</a:t>
            </a:r>
            <a:endParaRPr lang="en-US" sz="2800" b="0" strike="noStrike" spc="-1">
              <a:solidFill>
                <a:srgbClr val="000000"/>
              </a:solidFill>
              <a:latin typeface="Futura Bk"/>
            </a:endParaRPr>
          </a:p>
        </p:txBody>
      </p:sp>
      <p:sp>
        <p:nvSpPr>
          <p:cNvPr id="176" name="PlaceHolder 3"/>
          <p:cNvSpPr>
            <a:spLocks noGrp="1"/>
          </p:cNvSpPr>
          <p:nvPr>
            <p:ph type="ftr" idx="1"/>
          </p:nvPr>
        </p:nvSpPr>
        <p:spPr bwMode="auto">
          <a:xfrm>
            <a:off x="394920" y="6550200"/>
            <a:ext cx="6961320" cy="218880"/>
          </a:xfrm>
          <a:prstGeom prst="rect">
            <a:avLst/>
          </a:prstGeom>
          <a:noFill/>
          <a:ln w="0">
            <a:noFill/>
          </a:ln>
        </p:spPr>
        <p:txBody>
          <a:bodyPr lIns="90000" tIns="46800" rIns="90000" bIns="46800" anchor="b">
            <a:noAutofit/>
          </a:bodyPr>
          <a:lstStyle>
            <a:lvl1pPr indent="0">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900" b="0" strike="noStrike" spc="-1">
                <a:solidFill>
                  <a:srgbClr val="848589"/>
                </a:solidFill>
                <a:latin typeface="Futura Bk"/>
              </a:defRPr>
            </a:lvl1pPr>
          </a:lstStyle>
          <a:p>
            <a:pPr indent="0">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fld id="{185B9EE7-32B5-444F-BEDB-47577F1D22A3}" type="slidenum">
              <a:rPr lang="en-US" sz="900" b="0" strike="noStrike" spc="-1">
                <a:solidFill>
                  <a:srgbClr val="848589"/>
                </a:solidFill>
                <a:latin typeface="Futura Bk"/>
              </a:rPr>
              <a:t/>
            </a:fld>
            <a:r>
              <a:rPr lang="en-US" sz="900" b="0" strike="noStrike" spc="-1">
                <a:solidFill>
                  <a:srgbClr val="848589"/>
                </a:solidFill>
                <a:latin typeface="Futura Bk"/>
              </a:rPr>
              <a:t>/51</a:t>
            </a:r>
            <a:endParaRPr lang="en-US" sz="900" b="0" strike="noStrike" spc="-1">
              <a:solidFill>
                <a:srgbClr val="000000"/>
              </a:solidFill>
              <a:latin typeface="Times New Roman"/>
            </a:endParaRPr>
          </a:p>
        </p:txBody>
      </p:sp>
      <p:pic>
        <p:nvPicPr>
          <p:cNvPr id="177" name="Picture 5" descr="LABSLogo_dark"/>
          <p:cNvPicPr/>
          <p:nvPr/>
        </p:nvPicPr>
        <p:blipFill>
          <a:blip r:embed="rId5"/>
          <a:stretch/>
        </p:blipFill>
        <p:spPr bwMode="auto">
          <a:xfrm>
            <a:off x="8118360" y="6365880"/>
            <a:ext cx="768600" cy="3096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wmf"/></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jpg"/><Relationship Id="rId5" Type="http://schemas.openxmlformats.org/officeDocument/2006/relationships/image" Target="../media/image21.jpg"/><Relationship Id="rId6" Type="http://schemas.openxmlformats.org/officeDocument/2006/relationships/image" Target="../media/image22.jpg"/><Relationship Id="rId7" Type="http://schemas.openxmlformats.org/officeDocument/2006/relationships/image" Target="../media/image23.jpg"/><Relationship Id="rId8" Type="http://schemas.openxmlformats.org/officeDocument/2006/relationships/image" Target="../media/image24.jp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jp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wmf"/></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emf"/><Relationship Id="rId3" Type="http://schemas.openxmlformats.org/officeDocument/2006/relationships/oleObject" Target="../embeddings/oleObject1.bin"/></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emf"/><Relationship Id="rId3" Type="http://schemas.openxmlformats.org/officeDocument/2006/relationships/image" Target="../media/image29.emf"/><Relationship Id="rId4" Type="http://schemas.openxmlformats.org/officeDocument/2006/relationships/oleObject" Target="../embeddings/oleObject2.bin"/></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wmf"/><Relationship Id="rId3" Type="http://schemas.openxmlformats.org/officeDocument/2006/relationships/image" Target="../media/image31.wmf"/><Relationship Id="rId4" Type="http://schemas.openxmlformats.org/officeDocument/2006/relationships/image" Target="../media/image32.wmf"/></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wmf"/></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wmf"/></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wmf"/><Relationship Id="rId3" Type="http://schemas.openxmlformats.org/officeDocument/2006/relationships/image" Target="../media/image36.wmf"/></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jpg"/><Relationship Id="rId3" Type="http://schemas.openxmlformats.org/officeDocument/2006/relationships/image" Target="../media/image38.jpg"/></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9.jpg"/><Relationship Id="rId3" Type="http://schemas.openxmlformats.org/officeDocument/2006/relationships/image" Target="../media/image40.jp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1.jpg"/><Relationship Id="rId3" Type="http://schemas.openxmlformats.org/officeDocument/2006/relationships/image" Target="../media/image42.jpg"/><Relationship Id="rId4" Type="http://schemas.openxmlformats.org/officeDocument/2006/relationships/image" Target="../media/image43.jpg"/><Relationship Id="rId5" Type="http://schemas.openxmlformats.org/officeDocument/2006/relationships/image" Target="../media/image44.jpg"/><Relationship Id="rId6" Type="http://schemas.openxmlformats.org/officeDocument/2006/relationships/image" Target="../media/image45.jpg"/><Relationship Id="rId7" Type="http://schemas.openxmlformats.org/officeDocument/2006/relationships/image" Target="../media/image46.jpg"/><Relationship Id="rId8" Type="http://schemas.openxmlformats.org/officeDocument/2006/relationships/image" Target="../media/image47.jpg"/><Relationship Id="rId9" Type="http://schemas.openxmlformats.org/officeDocument/2006/relationships/image" Target="../media/image48.jpg"/><Relationship Id="rId10" Type="http://schemas.openxmlformats.org/officeDocument/2006/relationships/image" Target="../media/image49.jpg"/></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0.emf"/></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1.wmf"/></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2.emf"/><Relationship Id="rId3" Type="http://schemas.openxmlformats.org/officeDocument/2006/relationships/package" Target="../embeddings/Microsoft_Excel_Worksheet1.xlsx"/><Relationship Id="rId4" Type="http://schemas.openxmlformats.org/officeDocument/2006/relationships/image" Target="../media/image41.jpg"/><Relationship Id="rId5" Type="http://schemas.openxmlformats.org/officeDocument/2006/relationships/image" Target="../media/image42.jpg"/><Relationship Id="rId6" Type="http://schemas.openxmlformats.org/officeDocument/2006/relationships/image" Target="../media/image43.jpg"/><Relationship Id="rId7" Type="http://schemas.openxmlformats.org/officeDocument/2006/relationships/image" Target="../media/image53.jpg"/><Relationship Id="rId8" Type="http://schemas.openxmlformats.org/officeDocument/2006/relationships/image" Target="../media/image54.jpg"/><Relationship Id="rId9" Type="http://schemas.openxmlformats.org/officeDocument/2006/relationships/image" Target="../media/image55.jpg"/></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6.jpg"/><Relationship Id="rId3" Type="http://schemas.openxmlformats.org/officeDocument/2006/relationships/image" Target="../media/image57.jpg"/><Relationship Id="rId4" Type="http://schemas.openxmlformats.org/officeDocument/2006/relationships/image" Target="../media/image58.jpg"/><Relationship Id="rId5" Type="http://schemas.openxmlformats.org/officeDocument/2006/relationships/image" Target="../media/image59.jpg"/><Relationship Id="rId6" Type="http://schemas.openxmlformats.org/officeDocument/2006/relationships/image" Target="../media/image60.jpg"/><Relationship Id="rId7" Type="http://schemas.openxmlformats.org/officeDocument/2006/relationships/image" Target="../media/image61.jpg"/><Relationship Id="rId8" Type="http://schemas.openxmlformats.org/officeDocument/2006/relationships/image" Target="../media/image62.emf"/><Relationship Id="rId9" Type="http://schemas.openxmlformats.org/officeDocument/2006/relationships/package" Target="../embeddings/Microsoft_Excel_Worksheet2.xlsx"/></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3.emf"/><Relationship Id="rId3" Type="http://schemas.openxmlformats.org/officeDocument/2006/relationships/package" Target="../embeddings/Microsoft_Excel_Worksheet3.xlsx"/></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4.png"/></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489" name="PlaceHolder 1"/>
          <p:cNvSpPr>
            <a:spLocks noGrp="1"/>
          </p:cNvSpPr>
          <p:nvPr>
            <p:ph type="title"/>
          </p:nvPr>
        </p:nvSpPr>
        <p:spPr bwMode="auto">
          <a:xfrm>
            <a:off x="644400" y="2520720"/>
            <a:ext cx="7312320" cy="1881000"/>
          </a:xfrm>
          <a:prstGeom prst="rect">
            <a:avLst/>
          </a:prstGeom>
          <a:noFill/>
          <a:ln w="0">
            <a:noFill/>
          </a:ln>
        </p:spPr>
        <p:txBody>
          <a:bodyPr lIns="90000" tIns="46800" rIns="90000" bIns="46800" anchor="b">
            <a:noAutofit/>
          </a:bodyPr>
          <a:p>
            <a:pPr indent="0">
              <a:lnSpc>
                <a:spcPct val="90000"/>
              </a:lnSpc>
              <a:spcBef>
                <a:spcPts val="137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4400" b="1" strike="noStrike" spc="-1">
                <a:solidFill>
                  <a:srgbClr val="005695"/>
                </a:solidFill>
                <a:latin typeface="Futura Lt"/>
              </a:rPr>
              <a:t>Content Based Image Retrieval</a:t>
            </a:r>
            <a:endParaRPr lang="en-US" sz="4400" b="0" strike="noStrike" spc="-1">
              <a:solidFill>
                <a:srgbClr val="005695"/>
              </a:solidFill>
              <a:latin typeface="Futura Lt"/>
            </a:endParaRPr>
          </a:p>
        </p:txBody>
      </p:sp>
      <p:sp>
        <p:nvSpPr>
          <p:cNvPr id="490" name="PlaceHolder 2"/>
          <p:cNvSpPr>
            <a:spLocks noGrp="1"/>
          </p:cNvSpPr>
          <p:nvPr>
            <p:ph type="subTitle"/>
          </p:nvPr>
        </p:nvSpPr>
        <p:spPr bwMode="auto">
          <a:xfrm>
            <a:off x="722160" y="4458960"/>
            <a:ext cx="4570560" cy="1274759"/>
          </a:xfrm>
          <a:prstGeom prst="rect">
            <a:avLst/>
          </a:prstGeom>
          <a:noFill/>
          <a:ln w="0">
            <a:noFill/>
          </a:ln>
        </p:spPr>
        <p:txBody>
          <a:bodyPr lIns="90000" tIns="46800" rIns="90000" bIns="46800" anchor="t">
            <a:noAutofit/>
          </a:bodyPr>
          <a:p>
            <a:pPr indent="0">
              <a:lnSpc>
                <a:spcPct val="100000"/>
              </a:lnSpc>
              <a:spcBef>
                <a:spcPts val="624"/>
              </a:spcBef>
              <a:spcAft>
                <a:spcPts val="249"/>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5A6FF"/>
                </a:solidFill>
                <a:latin typeface="Futura Bk"/>
              </a:rPr>
              <a:t>Natalia Vassilieva</a:t>
            </a:r>
            <a:r>
              <a:rPr lang="en-US" sz="2000" b="0" strike="noStrike" spc="-1">
                <a:solidFill>
                  <a:srgbClr val="05A6FF"/>
                </a:solidFill>
                <a:latin typeface="Futura Bk"/>
              </a:rPr>
              <a:t> </a:t>
            </a:r>
            <a:br>
              <a:rPr sz="2000"/>
            </a:br>
            <a:endParaRPr lang="en-US" sz="2000" b="0" strike="noStrike" spc="-1">
              <a:solidFill>
                <a:srgbClr val="05A6FF"/>
              </a:solidFill>
              <a:latin typeface="Futura Bk"/>
            </a:endParaRPr>
          </a:p>
          <a:p>
            <a:pPr indent="0">
              <a:lnSpc>
                <a:spcPct val="90000"/>
              </a:lnSpc>
              <a:spcBef>
                <a:spcPts val="561"/>
              </a:spcBef>
              <a:spcAft>
                <a:spcPts val="224"/>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5A6FF"/>
                </a:solidFill>
                <a:latin typeface="Futura Bk"/>
              </a:rPr>
              <a:t>HP Labs Russia</a:t>
            </a:r>
            <a:endParaRPr lang="en-US" sz="1800" b="0" strike="noStrike" spc="-1">
              <a:solidFill>
                <a:srgbClr val="05A6FF"/>
              </a:solidFill>
              <a:latin typeface="Futura Bk"/>
            </a:endParaRPr>
          </a:p>
        </p:txBody>
      </p:sp>
      <p:pic>
        <p:nvPicPr>
          <p:cNvPr id="491" name="" descr=""/>
          <p:cNvPicPr/>
          <p:nvPr/>
        </p:nvPicPr>
        <p:blipFill>
          <a:blip r:embed="rId2"/>
          <a:stretch/>
        </p:blipFill>
        <p:spPr bwMode="auto">
          <a:xfrm>
            <a:off x="468360" y="287280"/>
            <a:ext cx="2857320" cy="981000"/>
          </a:xfrm>
          <a:prstGeom prst="rect">
            <a:avLst/>
          </a:prstGeom>
          <a:ln w="0">
            <a:noFill/>
          </a:ln>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89"/>
                                        </p:tgtEl>
                                        <p:attrNameLst>
                                          <p:attrName>style.visibility</p:attrName>
                                        </p:attrNameLst>
                                      </p:cBhvr>
                                      <p:to>
                                        <p:strVal val="visible"/>
                                      </p:to>
                                    </p:set>
                                    <p:animEffect transition="in" filter="wipe(left)">
                                      <p:cBhvr additive="repl">
                                        <p:cTn id="7" dur="500"/>
                                        <p:tgtEl>
                                          <p:spTgt spid="489"/>
                                        </p:tgtEl>
                                      </p:cBhvr>
                                    </p:animEffect>
                                  </p:childTnLst>
                                </p:cTn>
                              </p:par>
                            </p:childTnLst>
                          </p:cTn>
                        </p:par>
                        <p:par>
                          <p:cTn id="8" fill="hold">
                            <p:stCondLst>
                              <p:cond delay="500"/>
                            </p:stCondLst>
                            <p:childTnLst>
                              <p:par>
                                <p:cTn id="9" presetID="1" presetClass="entr" fill="hold" nodeType="afterEffect">
                                  <p:stCondLst>
                                    <p:cond delay="500"/>
                                  </p:stCondLst>
                                  <p:childTnLst>
                                    <p:set>
                                      <p:cBhvr>
                                        <p:cTn id="10" dur="1" fill="hold">
                                          <p:stCondLst>
                                            <p:cond delay="0"/>
                                          </p:stCondLst>
                                        </p:cTn>
                                        <p:tgtEl>
                                          <p:spTgt spid="490">
                                            <p:txEl>
                                              <p:pRg st="0" end="0"/>
                                            </p:txEl>
                                          </p:spTgt>
                                        </p:tgtEl>
                                        <p:attrNameLst>
                                          <p:attrName>style.visibility</p:attrName>
                                        </p:attrNameLst>
                                      </p:cBhvr>
                                      <p:to>
                                        <p:strVal val="visible"/>
                                      </p:to>
                                    </p:set>
                                  </p:childTnLst>
                                </p:cTn>
                              </p:par>
                            </p:childTnLst>
                          </p:cTn>
                        </p:par>
                        <p:par>
                          <p:cTn id="11" fill="hold">
                            <p:stCondLst>
                              <p:cond delay="1000"/>
                            </p:stCondLst>
                            <p:childTnLst>
                              <p:par>
                                <p:cTn id="12" presetID="1" presetClass="entr" fill="hold" nodeType="afterEffect">
                                  <p:stCondLst>
                                    <p:cond delay="500"/>
                                  </p:stCondLst>
                                  <p:childTnLst>
                                    <p:set>
                                      <p:cBhvr>
                                        <p:cTn id="13" dur="1" fill="hold">
                                          <p:stCondLst>
                                            <p:cond delay="0"/>
                                          </p:stCondLst>
                                        </p:cTn>
                                        <p:tgtEl>
                                          <p:spTgt spid="490">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492"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Tutorial outline</a:t>
            </a:r>
            <a:endParaRPr lang="en-US" sz="3600" b="0" strike="noStrike" spc="-1">
              <a:solidFill>
                <a:srgbClr val="000000"/>
              </a:solidFill>
              <a:latin typeface="Futura Bk"/>
            </a:endParaRPr>
          </a:p>
        </p:txBody>
      </p:sp>
      <p:sp>
        <p:nvSpPr>
          <p:cNvPr id="493" name="PlaceHolder 2"/>
          <p:cNvSpPr>
            <a:spLocks noGrp="1"/>
          </p:cNvSpPr>
          <p:nvPr>
            <p:ph/>
          </p:nvPr>
        </p:nvSpPr>
        <p:spPr bwMode="auto">
          <a:xfrm>
            <a:off x="399600" y="1267920"/>
            <a:ext cx="8272440" cy="5256360"/>
          </a:xfrm>
          <a:prstGeom prst="rect">
            <a:avLst/>
          </a:prstGeom>
          <a:noFill/>
          <a:ln w="0">
            <a:noFill/>
          </a:ln>
        </p:spPr>
        <p:txBody>
          <a:bodyPr lIns="90000" tIns="46800" rIns="90000" bIns="46800" anchor="t">
            <a:normAutofit/>
          </a:bodyPr>
          <a:p>
            <a:pPr marL="228600" indent="-228600">
              <a:lnSpc>
                <a:spcPct val="70000"/>
              </a:lnSpc>
              <a:spcBef>
                <a:spcPts val="624"/>
              </a:spcBef>
              <a:spcAft>
                <a:spcPts val="2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B2B2B2"/>
                </a:solidFill>
                <a:latin typeface="Futura Bk"/>
              </a:rPr>
              <a:t>Lecture 1</a:t>
            </a:r>
            <a:endParaRPr lang="en-US" sz="2000" b="0" strike="noStrike" spc="-1">
              <a:solidFill>
                <a:srgbClr val="000000"/>
              </a:solidFill>
              <a:latin typeface="Futura Bk"/>
            </a:endParaRPr>
          </a:p>
          <a:p>
            <a:pPr marL="571680" lvl="1" indent="-228600">
              <a:lnSpc>
                <a:spcPct val="70000"/>
              </a:lnSpc>
              <a:spcBef>
                <a:spcPts val="561"/>
              </a:spcBef>
              <a:spcAft>
                <a:spcPts val="224"/>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B2B2B2"/>
                </a:solidFill>
                <a:latin typeface="Futura Bk"/>
              </a:rPr>
              <a:t>Introduction</a:t>
            </a:r>
            <a:endParaRPr lang="en-US" sz="1800" b="0" strike="noStrike" spc="-1">
              <a:solidFill>
                <a:srgbClr val="000000"/>
              </a:solidFill>
              <a:latin typeface="Futura Bk"/>
            </a:endParaRPr>
          </a:p>
          <a:p>
            <a:pPr marL="571680" lvl="1" indent="-228600">
              <a:lnSpc>
                <a:spcPct val="70000"/>
              </a:lnSpc>
              <a:spcBef>
                <a:spcPts val="561"/>
              </a:spcBef>
              <a:spcAft>
                <a:spcPts val="224"/>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B2B2B2"/>
                </a:solidFill>
                <a:latin typeface="Futura Bk"/>
              </a:rPr>
              <a:t>Applications</a:t>
            </a:r>
            <a:endParaRPr lang="en-US" sz="1800" b="0" strike="noStrike" spc="-1">
              <a:solidFill>
                <a:srgbClr val="000000"/>
              </a:solidFill>
              <a:latin typeface="Futura Bk"/>
            </a:endParaRPr>
          </a:p>
          <a:p>
            <a:pPr marL="228600" indent="-228600">
              <a:lnSpc>
                <a:spcPct val="70000"/>
              </a:lnSpc>
              <a:spcBef>
                <a:spcPts val="624"/>
              </a:spcBef>
              <a:spcAft>
                <a:spcPts val="2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B2B2B2"/>
                </a:solidFill>
                <a:latin typeface="Futura Bk"/>
              </a:rPr>
              <a:t>Lecture 2</a:t>
            </a:r>
            <a:endParaRPr lang="en-US" sz="2000" b="0" strike="noStrike" spc="-1">
              <a:solidFill>
                <a:srgbClr val="000000"/>
              </a:solidFill>
              <a:latin typeface="Futura Bk"/>
            </a:endParaRPr>
          </a:p>
          <a:p>
            <a:pPr marL="571680" lvl="1" indent="-228600">
              <a:lnSpc>
                <a:spcPct val="70000"/>
              </a:lnSpc>
              <a:spcBef>
                <a:spcPts val="561"/>
              </a:spcBef>
              <a:spcAft>
                <a:spcPts val="224"/>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B2B2B2"/>
                </a:solidFill>
                <a:latin typeface="Futura Bk"/>
              </a:rPr>
              <a:t>Performance measurement</a:t>
            </a:r>
            <a:endParaRPr lang="en-US" sz="1800" b="0" strike="noStrike" spc="-1">
              <a:solidFill>
                <a:srgbClr val="000000"/>
              </a:solidFill>
              <a:latin typeface="Futura Bk"/>
            </a:endParaRPr>
          </a:p>
          <a:p>
            <a:pPr marL="571680" lvl="1" indent="-228600">
              <a:lnSpc>
                <a:spcPct val="70000"/>
              </a:lnSpc>
              <a:spcBef>
                <a:spcPts val="561"/>
              </a:spcBef>
              <a:spcAft>
                <a:spcPts val="224"/>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B2B2B2"/>
                </a:solidFill>
                <a:latin typeface="Futura Bk"/>
              </a:rPr>
              <a:t>Visual perception</a:t>
            </a:r>
            <a:endParaRPr lang="en-US" sz="1800" b="0" strike="noStrike" spc="-1">
              <a:solidFill>
                <a:srgbClr val="000000"/>
              </a:solidFill>
              <a:latin typeface="Futura Bk"/>
            </a:endParaRPr>
          </a:p>
          <a:p>
            <a:pPr marL="571680" lvl="1" indent="-228600">
              <a:lnSpc>
                <a:spcPct val="70000"/>
              </a:lnSpc>
              <a:spcBef>
                <a:spcPts val="561"/>
              </a:spcBef>
              <a:spcAft>
                <a:spcPts val="224"/>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B2B2B2"/>
                </a:solidFill>
                <a:latin typeface="Futura Bk"/>
              </a:rPr>
              <a:t>Color features</a:t>
            </a:r>
            <a:endParaRPr lang="en-US" sz="1800" b="0" strike="noStrike" spc="-1">
              <a:solidFill>
                <a:srgbClr val="000000"/>
              </a:solidFill>
              <a:latin typeface="Futura Bk"/>
            </a:endParaRPr>
          </a:p>
          <a:p>
            <a:pPr marL="228600" indent="-228600">
              <a:lnSpc>
                <a:spcPct val="70000"/>
              </a:lnSpc>
              <a:spcBef>
                <a:spcPts val="624"/>
              </a:spcBef>
              <a:spcAft>
                <a:spcPts val="2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71B4"/>
                </a:solidFill>
                <a:latin typeface="Futura Bk"/>
              </a:rPr>
              <a:t>Lecture 3</a:t>
            </a:r>
            <a:endParaRPr lang="en-US" sz="2000" b="0" strike="noStrike" spc="-1">
              <a:solidFill>
                <a:srgbClr val="000000"/>
              </a:solidFill>
              <a:latin typeface="Futura Bk"/>
            </a:endParaRPr>
          </a:p>
          <a:p>
            <a:pPr marL="571680" lvl="1" indent="-228600">
              <a:lnSpc>
                <a:spcPct val="70000"/>
              </a:lnSpc>
              <a:spcBef>
                <a:spcPts val="561"/>
              </a:spcBef>
              <a:spcAft>
                <a:spcPts val="224"/>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Futura Bk"/>
              </a:rPr>
              <a:t>Texture features</a:t>
            </a:r>
            <a:endParaRPr lang="en-US" sz="1800" b="0" strike="noStrike" spc="-1">
              <a:solidFill>
                <a:srgbClr val="000000"/>
              </a:solidFill>
              <a:latin typeface="Futura Bk"/>
            </a:endParaRPr>
          </a:p>
          <a:p>
            <a:pPr marL="571680" lvl="1" indent="-228600">
              <a:lnSpc>
                <a:spcPct val="70000"/>
              </a:lnSpc>
              <a:spcBef>
                <a:spcPts val="561"/>
              </a:spcBef>
              <a:spcAft>
                <a:spcPts val="224"/>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Futura Bk"/>
              </a:rPr>
              <a:t>Shape features</a:t>
            </a:r>
            <a:endParaRPr lang="en-US" sz="1800" b="0" strike="noStrike" spc="-1">
              <a:solidFill>
                <a:srgbClr val="000000"/>
              </a:solidFill>
              <a:latin typeface="Futura Bk"/>
            </a:endParaRPr>
          </a:p>
          <a:p>
            <a:pPr marL="571680" lvl="1" indent="-228600">
              <a:lnSpc>
                <a:spcPct val="70000"/>
              </a:lnSpc>
              <a:spcBef>
                <a:spcPts val="561"/>
              </a:spcBef>
              <a:spcAft>
                <a:spcPts val="224"/>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Futura Bk"/>
              </a:rPr>
              <a:t>Fusion methods</a:t>
            </a:r>
            <a:endParaRPr lang="en-US" sz="1800" b="0" strike="noStrike" spc="-1">
              <a:solidFill>
                <a:srgbClr val="000000"/>
              </a:solidFill>
              <a:latin typeface="Futura Bk"/>
            </a:endParaRPr>
          </a:p>
          <a:p>
            <a:pPr marL="228600" indent="-228600">
              <a:lnSpc>
                <a:spcPct val="70000"/>
              </a:lnSpc>
              <a:spcBef>
                <a:spcPts val="624"/>
              </a:spcBef>
              <a:spcAft>
                <a:spcPts val="2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B2B2B2"/>
                </a:solidFill>
                <a:latin typeface="Futura Bk"/>
              </a:rPr>
              <a:t>Lecture 4</a:t>
            </a:r>
            <a:endParaRPr lang="en-US" sz="2000" b="0" strike="noStrike" spc="-1">
              <a:solidFill>
                <a:srgbClr val="000000"/>
              </a:solidFill>
              <a:latin typeface="Futura Bk"/>
            </a:endParaRPr>
          </a:p>
          <a:p>
            <a:pPr marL="571680" lvl="1" indent="-228600">
              <a:lnSpc>
                <a:spcPct val="70000"/>
              </a:lnSpc>
              <a:spcBef>
                <a:spcPts val="561"/>
              </a:spcBef>
              <a:spcAft>
                <a:spcPts val="224"/>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B2B2B2"/>
                </a:solidFill>
                <a:latin typeface="Futura Bk"/>
              </a:rPr>
              <a:t>Segmentation</a:t>
            </a:r>
            <a:endParaRPr lang="en-US" sz="1800" b="0" strike="noStrike" spc="-1">
              <a:solidFill>
                <a:srgbClr val="000000"/>
              </a:solidFill>
              <a:latin typeface="Futura Bk"/>
            </a:endParaRPr>
          </a:p>
          <a:p>
            <a:pPr marL="571680" lvl="1" indent="-228600">
              <a:lnSpc>
                <a:spcPct val="70000"/>
              </a:lnSpc>
              <a:spcBef>
                <a:spcPts val="561"/>
              </a:spcBef>
              <a:spcAft>
                <a:spcPts val="224"/>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B2B2B2"/>
                </a:solidFill>
                <a:latin typeface="Futura Bk"/>
              </a:rPr>
              <a:t>Local descriptors</a:t>
            </a:r>
            <a:endParaRPr lang="en-US" sz="1800" b="0" strike="noStrike" spc="-1">
              <a:solidFill>
                <a:srgbClr val="000000"/>
              </a:solidFill>
              <a:latin typeface="Futura Bk"/>
            </a:endParaRPr>
          </a:p>
          <a:p>
            <a:pPr marL="228600" indent="-228600">
              <a:lnSpc>
                <a:spcPct val="70000"/>
              </a:lnSpc>
              <a:spcBef>
                <a:spcPts val="624"/>
              </a:spcBef>
              <a:spcAft>
                <a:spcPts val="2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B2B2B2"/>
                </a:solidFill>
                <a:latin typeface="Futura Bk"/>
              </a:rPr>
              <a:t>Lecture 5</a:t>
            </a:r>
            <a:endParaRPr lang="en-US" sz="2000" b="0" strike="noStrike" spc="-1">
              <a:solidFill>
                <a:srgbClr val="000000"/>
              </a:solidFill>
              <a:latin typeface="Futura Bk"/>
            </a:endParaRPr>
          </a:p>
          <a:p>
            <a:pPr marL="571680" lvl="1" indent="-228600">
              <a:lnSpc>
                <a:spcPct val="70000"/>
              </a:lnSpc>
              <a:spcBef>
                <a:spcPts val="561"/>
              </a:spcBef>
              <a:spcAft>
                <a:spcPts val="224"/>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B2B2B2"/>
                </a:solidFill>
                <a:latin typeface="Futura Bk"/>
              </a:rPr>
              <a:t>Multidimensional indexing</a:t>
            </a:r>
            <a:endParaRPr lang="en-US" sz="1800" b="0" strike="noStrike" spc="-1">
              <a:solidFill>
                <a:srgbClr val="000000"/>
              </a:solidFill>
              <a:latin typeface="Futura Bk"/>
            </a:endParaRPr>
          </a:p>
          <a:p>
            <a:pPr marL="571680" lvl="1" indent="-228600">
              <a:lnSpc>
                <a:spcPct val="70000"/>
              </a:lnSpc>
              <a:spcBef>
                <a:spcPts val="561"/>
              </a:spcBef>
              <a:spcAft>
                <a:spcPts val="224"/>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B2B2B2"/>
                </a:solidFill>
                <a:latin typeface="Futura Bk"/>
              </a:rPr>
              <a:t>Survey of existing systems</a:t>
            </a:r>
            <a:endParaRPr lang="en-US" sz="1800" b="0" strike="noStrike" spc="-1">
              <a:solidFill>
                <a:srgbClr val="000000"/>
              </a:solidFill>
              <a:latin typeface="Futura Bk"/>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0071B4"/>
        </a:solidFill>
      </p:bgPr>
    </p:bg>
    <p:spTree>
      <p:nvGrpSpPr>
        <p:cNvPr id="1" name=""/>
        <p:cNvGrpSpPr/>
        <p:nvPr/>
      </p:nvGrpSpPr>
      <p:grpSpPr bwMode="auto">
        <a:xfrm>
          <a:off x="0" y="0"/>
          <a:ext cx="0" cy="0"/>
          <a:chOff x="0" y="0"/>
          <a:chExt cx="0" cy="0"/>
        </a:xfrm>
      </p:grpSpPr>
      <p:sp>
        <p:nvSpPr>
          <p:cNvPr id="494" name="PlaceHolder 1"/>
          <p:cNvSpPr>
            <a:spLocks noGrp="1"/>
          </p:cNvSpPr>
          <p:nvPr>
            <p:ph type="title"/>
          </p:nvPr>
        </p:nvSpPr>
        <p:spPr bwMode="auto">
          <a:xfrm>
            <a:off x="434520" y="533160"/>
            <a:ext cx="7882200" cy="3119400"/>
          </a:xfrm>
          <a:prstGeom prst="rect">
            <a:avLst/>
          </a:prstGeom>
          <a:noFill/>
          <a:ln w="0">
            <a:noFill/>
          </a:ln>
        </p:spPr>
        <p:txBody>
          <a:bodyPr lIns="90000" tIns="46800" rIns="90000" bIns="46800" anchor="t">
            <a:noAutofit/>
          </a:bodyPr>
          <a:p>
            <a:pPr indent="0">
              <a:spcBef>
                <a:spcPts val="27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4400" b="0" strike="noStrike" spc="-1">
                <a:solidFill>
                  <a:srgbClr val="FFFFFF"/>
                </a:solidFill>
                <a:latin typeface="Futura Lt"/>
              </a:rPr>
              <a:t>Lecture 3</a:t>
            </a:r>
            <a:br>
              <a:rPr sz="4400"/>
            </a:br>
            <a:r>
              <a:rPr lang="en-US" sz="4400" b="0" strike="noStrike" spc="-1">
                <a:solidFill>
                  <a:srgbClr val="FFFFFF"/>
                </a:solidFill>
                <a:latin typeface="Futura Lt"/>
              </a:rPr>
              <a:t>Texture features</a:t>
            </a:r>
            <a:br>
              <a:rPr sz="4400"/>
            </a:br>
            <a:r>
              <a:rPr lang="en-US" sz="4400" b="0" strike="noStrike" spc="-1">
                <a:solidFill>
                  <a:srgbClr val="FFFFFF"/>
                </a:solidFill>
                <a:latin typeface="Futura Lt"/>
              </a:rPr>
              <a:t>Shape features</a:t>
            </a:r>
            <a:br>
              <a:rPr sz="4400"/>
            </a:br>
            <a:r>
              <a:rPr lang="en-US" sz="4400" b="0" strike="noStrike" spc="-1">
                <a:solidFill>
                  <a:srgbClr val="FFFFFF"/>
                </a:solidFill>
                <a:latin typeface="Futura Lt"/>
              </a:rPr>
              <a:t>Fusion methods</a:t>
            </a:r>
            <a:endParaRPr lang="en-US" sz="4400" b="0" strike="noStrike" spc="-1">
              <a:solidFill>
                <a:srgbClr val="FFFFFF"/>
              </a:solidFill>
              <a:latin typeface="Futura Lt"/>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14" dur="indefinite" restart="never" nodeType="tmRoot">
          <p:childTnLst>
            <p:seq>
              <p:cTn id="15" dur="indefinite" nodeType="mainSeq">
                <p:childTnLst>
                  <p:par>
                    <p:cTn id="16" fill="hold">
                      <p:stCondLst>
                        <p:cond delay="0"/>
                      </p:stCondLst>
                      <p:childTnLst>
                        <p:par>
                          <p:cTn id="17" fill="hold">
                            <p:stCondLst>
                              <p:cond delay="0"/>
                            </p:stCondLst>
                            <p:childTnLst>
                              <p:par>
                                <p:cTn id="18" presetID="1" presetClass="entr" fill="hold" nodeType="afterEffect">
                                  <p:stCondLst>
                                    <p:cond delay="0"/>
                                  </p:stCondLst>
                                  <p:childTnLst>
                                    <p:set>
                                      <p:cBhvr>
                                        <p:cTn id="19" dur="1" fill="hold">
                                          <p:stCondLst>
                                            <p:cond delay="0"/>
                                          </p:stCondLst>
                                        </p:cTn>
                                        <p:tgtEl>
                                          <p:spTgt spid="4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495" name="PlaceHolder 1"/>
          <p:cNvSpPr>
            <a:spLocks noGrp="1"/>
          </p:cNvSpPr>
          <p:nvPr>
            <p:ph/>
          </p:nvPr>
        </p:nvSpPr>
        <p:spPr bwMode="auto">
          <a:xfrm>
            <a:off x="399600" y="1557360"/>
            <a:ext cx="8272440" cy="4680000"/>
          </a:xfrm>
          <a:prstGeom prst="rect">
            <a:avLst/>
          </a:prstGeom>
          <a:noFill/>
          <a:ln w="0">
            <a:noFill/>
          </a:ln>
        </p:spPr>
        <p:txBody>
          <a:bodyPr lIns="90000" tIns="46800" rIns="90000" bIns="46800" anchor="t">
            <a:normAutofit/>
          </a:bodyPr>
          <a:p>
            <a:pPr marL="228600" indent="-228600">
              <a:lnSpc>
                <a:spcPct val="90000"/>
              </a:lnSpc>
              <a:spcBef>
                <a:spcPts val="1400"/>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rPr>
              <a:t>Texture features</a:t>
            </a:r>
            <a:endParaRPr lang="en-US" sz="28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rPr>
              <a:t>Statistical</a:t>
            </a:r>
            <a:endParaRPr lang="en-US" sz="24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rPr>
              <a:t>Spectral</a:t>
            </a:r>
            <a:endParaRPr lang="en-US" sz="24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rPr>
              <a:t>Comparison</a:t>
            </a:r>
            <a:endParaRPr lang="en-US" sz="2400" b="0" strike="noStrike" spc="-1">
              <a:solidFill>
                <a:srgbClr val="000000"/>
              </a:solidFill>
              <a:latin typeface="Futura Bk"/>
            </a:endParaRPr>
          </a:p>
          <a:p>
            <a:pPr marL="228600" indent="-228600">
              <a:lnSpc>
                <a:spcPct val="90000"/>
              </a:lnSpc>
              <a:spcBef>
                <a:spcPts val="1400"/>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rPr>
              <a:t>Shape features</a:t>
            </a:r>
            <a:endParaRPr lang="en-US" sz="28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rPr>
              <a:t>Boundary based</a:t>
            </a:r>
            <a:endParaRPr lang="en-US" sz="24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rPr>
              <a:t>Region based</a:t>
            </a:r>
            <a:endParaRPr lang="en-US" sz="24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rPr>
              <a:t>Comparison</a:t>
            </a:r>
            <a:endParaRPr lang="en-US" sz="2400" b="0" strike="noStrike" spc="-1">
              <a:solidFill>
                <a:srgbClr val="000000"/>
              </a:solidFill>
              <a:latin typeface="Futura Bk"/>
            </a:endParaRPr>
          </a:p>
          <a:p>
            <a:pPr marL="228600" indent="-228600">
              <a:lnSpc>
                <a:spcPct val="90000"/>
              </a:lnSpc>
              <a:spcBef>
                <a:spcPts val="1400"/>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rPr>
              <a:t>Fusion methods</a:t>
            </a:r>
            <a:endParaRPr lang="en-US" sz="2800" b="0" strike="noStrike" spc="-1">
              <a:solidFill>
                <a:srgbClr val="000000"/>
              </a:solidFill>
              <a:latin typeface="Futura Bk"/>
            </a:endParaRPr>
          </a:p>
        </p:txBody>
      </p:sp>
      <p:sp>
        <p:nvSpPr>
          <p:cNvPr id="496" name="PlaceHolder 2"/>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Lecture 3: Outline</a:t>
            </a:r>
            <a:endParaRPr lang="en-US" sz="3600" b="0" strike="noStrike" spc="-1">
              <a:solidFill>
                <a:srgbClr val="000000"/>
              </a:solidFill>
              <a:latin typeface="Futura Bk"/>
            </a:endParaRPr>
          </a:p>
        </p:txBody>
      </p:sp>
      <p:sp>
        <p:nvSpPr>
          <p:cNvPr id="497" name=""/>
          <p:cNvSpPr/>
          <p:nvPr/>
        </p:nvSpPr>
        <p:spPr bwMode="auto">
          <a:xfrm>
            <a:off x="403200" y="1557360"/>
            <a:ext cx="8272440" cy="4680000"/>
          </a:xfrm>
          <a:prstGeom prst="rect">
            <a:avLst/>
          </a:prstGeom>
          <a:solidFill>
            <a:srgbClr val="FFFFFF"/>
          </a:solidFill>
          <a:ln w="0">
            <a:noFill/>
          </a:ln>
        </p:spPr>
        <p:style>
          <a:lnRef idx="0"/>
          <a:fillRef idx="0"/>
          <a:effectRef idx="0"/>
          <a:fontRef idx="minor"/>
        </p:style>
        <p:txBody>
          <a:bodyPr lIns="90000" tIns="46800" rIns="90000" bIns="46800" anchor="t">
            <a:normAutofit/>
          </a:bodyPr>
          <a:p>
            <a:pPr marL="228600" indent="-228600">
              <a:lnSpc>
                <a:spcPct val="90000"/>
              </a:lnSpc>
              <a:spcBef>
                <a:spcPts val="1400"/>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71B4"/>
                </a:solidFill>
                <a:latin typeface="Futura Bk"/>
                <a:ea typeface="Arial"/>
              </a:rPr>
              <a:t>Texture features</a:t>
            </a:r>
            <a:endParaRPr lang="en-US" sz="2800" b="0" strike="noStrike" spc="-1">
              <a:solidFill>
                <a:srgbClr val="000000"/>
              </a:solidFill>
              <a:latin typeface="Arial"/>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ea typeface="Arial"/>
              </a:rPr>
              <a:t>Statistical</a:t>
            </a:r>
            <a:endParaRPr lang="en-US" sz="2400" b="0" strike="noStrike" spc="-1">
              <a:solidFill>
                <a:srgbClr val="000000"/>
              </a:solidFill>
              <a:latin typeface="Arial"/>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ea typeface="Arial"/>
              </a:rPr>
              <a:t>Spectral</a:t>
            </a:r>
            <a:endParaRPr lang="en-US" sz="2400" b="0" strike="noStrike" spc="-1">
              <a:solidFill>
                <a:srgbClr val="000000"/>
              </a:solidFill>
              <a:latin typeface="Arial"/>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ea typeface="Arial"/>
              </a:rPr>
              <a:t>Comparison</a:t>
            </a:r>
            <a:endParaRPr lang="en-US" sz="2400" b="0" strike="noStrike" spc="-1">
              <a:solidFill>
                <a:srgbClr val="000000"/>
              </a:solidFill>
              <a:latin typeface="Arial"/>
            </a:endParaRPr>
          </a:p>
          <a:p>
            <a:pPr marL="228600" indent="-228600">
              <a:lnSpc>
                <a:spcPct val="90000"/>
              </a:lnSpc>
              <a:spcBef>
                <a:spcPts val="1400"/>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B2B2B2"/>
                </a:solidFill>
                <a:latin typeface="Futura Bk"/>
                <a:ea typeface="Arial"/>
              </a:rPr>
              <a:t>Shape features</a:t>
            </a:r>
            <a:endParaRPr lang="en-US" sz="2800" b="0" strike="noStrike" spc="-1">
              <a:solidFill>
                <a:srgbClr val="000000"/>
              </a:solidFill>
              <a:latin typeface="Arial"/>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ea typeface="Arial"/>
              </a:rPr>
              <a:t>Boundary based</a:t>
            </a:r>
            <a:endParaRPr lang="en-US" sz="2400" b="0" strike="noStrike" spc="-1">
              <a:solidFill>
                <a:srgbClr val="000000"/>
              </a:solidFill>
              <a:latin typeface="Arial"/>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ea typeface="Arial"/>
              </a:rPr>
              <a:t>Region based</a:t>
            </a:r>
            <a:endParaRPr lang="en-US" sz="2400" b="0" strike="noStrike" spc="-1">
              <a:solidFill>
                <a:srgbClr val="000000"/>
              </a:solidFill>
              <a:latin typeface="Arial"/>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ea typeface="Arial"/>
              </a:rPr>
              <a:t>Comparison</a:t>
            </a:r>
            <a:endParaRPr lang="en-US" sz="2400" b="0" strike="noStrike" spc="-1">
              <a:solidFill>
                <a:srgbClr val="000000"/>
              </a:solidFill>
              <a:latin typeface="Arial"/>
            </a:endParaRPr>
          </a:p>
          <a:p>
            <a:pPr marL="228600" indent="-228600">
              <a:lnSpc>
                <a:spcPct val="90000"/>
              </a:lnSpc>
              <a:spcBef>
                <a:spcPts val="1400"/>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B2B2B2"/>
                </a:solidFill>
                <a:latin typeface="Futura Bk"/>
                <a:ea typeface="Arial"/>
              </a:rPr>
              <a:t>Fusion methods</a:t>
            </a:r>
            <a:endParaRPr lang="en-US" sz="28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20" dur="indefinite" restart="never" nodeType="tmRoot">
          <p:childTnLst>
            <p:seq>
              <p:cTn id="21" dur="indefinite" nodeType="mainSeq">
                <p:childTnLst>
                  <p:par>
                    <p:cTn id="22" fill="hold">
                      <p:stCondLst>
                        <p:cond delay="indefinite"/>
                      </p:stCondLst>
                      <p:childTnLst>
                        <p:par>
                          <p:cTn id="23" fill="hold">
                            <p:stCondLst>
                              <p:cond delay="0"/>
                            </p:stCondLst>
                            <p:childTnLst>
                              <p:par>
                                <p:cTn id="24" presetID="1" presetClass="entr" fill="hold" nodeType="clickEffect">
                                  <p:stCondLst>
                                    <p:cond delay="0"/>
                                  </p:stCondLst>
                                  <p:childTnLst>
                                    <p:set>
                                      <p:cBhvr>
                                        <p:cTn id="25" dur="1" fill="hold">
                                          <p:stCondLst>
                                            <p:cond delay="0"/>
                                          </p:stCondLst>
                                        </p:cTn>
                                        <p:tgtEl>
                                          <p:spTgt spid="4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498"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Texture features</a:t>
            </a:r>
            <a:endParaRPr lang="en-US" sz="3600" b="0" strike="noStrike" spc="-1">
              <a:solidFill>
                <a:srgbClr val="000000"/>
              </a:solidFill>
              <a:latin typeface="Futura Bk"/>
            </a:endParaRPr>
          </a:p>
        </p:txBody>
      </p:sp>
      <p:sp>
        <p:nvSpPr>
          <p:cNvPr id="499" name=""/>
          <p:cNvSpPr/>
          <p:nvPr/>
        </p:nvSpPr>
        <p:spPr bwMode="auto">
          <a:xfrm>
            <a:off x="0" y="28144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500" name=""/>
          <p:cNvSpPr/>
          <p:nvPr/>
        </p:nvSpPr>
        <p:spPr bwMode="auto">
          <a:xfrm>
            <a:off x="0" y="275760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501" name=""/>
          <p:cNvSpPr/>
          <p:nvPr/>
        </p:nvSpPr>
        <p:spPr bwMode="auto">
          <a:xfrm>
            <a:off x="399960" y="1447920"/>
            <a:ext cx="8272440" cy="541080"/>
          </a:xfrm>
          <a:prstGeom prst="rect">
            <a:avLst/>
          </a:prstGeom>
          <a:noFill/>
          <a:ln w="0">
            <a:noFill/>
          </a:ln>
        </p:spPr>
        <p:style>
          <a:lnRef idx="0"/>
          <a:fillRef idx="0"/>
          <a:effectRef idx="0"/>
          <a:fontRef idx="minor"/>
        </p:style>
        <p:txBody>
          <a:bodyPr lIns="90000" tIns="46800" rIns="90000" bIns="46800" anchor="t">
            <a:normAutofit/>
          </a:bodyPr>
          <a:p>
            <a:pPr marL="228600" indent="-228600">
              <a:lnSpc>
                <a:spcPct val="90000"/>
              </a:lnSpc>
              <a:spcBef>
                <a:spcPts val="876"/>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71B4"/>
                </a:solidFill>
                <a:latin typeface="Futura Bk"/>
                <a:ea typeface="Arial"/>
              </a:rPr>
              <a:t>What is texture?</a:t>
            </a:r>
            <a:endParaRPr lang="en-US" sz="2800" b="0" strike="noStrike" spc="-1">
              <a:solidFill>
                <a:srgbClr val="000000"/>
              </a:solidFill>
              <a:latin typeface="Arial"/>
            </a:endParaRPr>
          </a:p>
        </p:txBody>
      </p:sp>
      <p:pic>
        <p:nvPicPr>
          <p:cNvPr id="502" name="" descr=""/>
          <p:cNvPicPr/>
          <p:nvPr/>
        </p:nvPicPr>
        <p:blipFill>
          <a:blip r:embed="rId2"/>
          <a:stretch/>
        </p:blipFill>
        <p:spPr bwMode="auto">
          <a:xfrm>
            <a:off x="844560" y="2039759"/>
            <a:ext cx="7256520" cy="3981600"/>
          </a:xfrm>
          <a:prstGeom prst="rect">
            <a:avLst/>
          </a:prstGeom>
          <a:ln w="0">
            <a:noFill/>
          </a:ln>
        </p:spPr>
      </p:pic>
      <p:sp>
        <p:nvSpPr>
          <p:cNvPr id="503" name=""/>
          <p:cNvSpPr/>
          <p:nvPr/>
        </p:nvSpPr>
        <p:spPr bwMode="auto">
          <a:xfrm>
            <a:off x="1403280" y="5971680"/>
            <a:ext cx="2016360" cy="337680"/>
          </a:xfrm>
          <a:prstGeom prst="rect">
            <a:avLst/>
          </a:prstGeom>
          <a:noFill/>
          <a:ln w="0">
            <a:noFill/>
          </a:ln>
        </p:spPr>
        <p:style>
          <a:lnRef idx="0"/>
          <a:fillRef idx="0"/>
          <a:effectRef idx="0"/>
          <a:fontRef idx="minor"/>
        </p:style>
        <p:txBody>
          <a:bodyPr lIns="90000" tIns="46800" rIns="90000" bIns="46800" anchor="ctr">
            <a:spAutoFit/>
          </a:bodyPr>
          <a:p>
            <a:pPr>
              <a:tabLst>
                <a:tab pos="0" algn="l"/>
                <a:tab pos="22860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600" b="0" strike="noStrike" spc="-1">
                <a:solidFill>
                  <a:srgbClr val="000000"/>
                </a:solidFill>
                <a:latin typeface="Arial"/>
              </a:rPr>
              <a:t>Smooth</a:t>
            </a:r>
            <a:endParaRPr lang="en-US" sz="1600" b="0" strike="noStrike" spc="-1">
              <a:solidFill>
                <a:srgbClr val="000000"/>
              </a:solidFill>
              <a:latin typeface="Arial"/>
            </a:endParaRPr>
          </a:p>
        </p:txBody>
      </p:sp>
      <p:sp>
        <p:nvSpPr>
          <p:cNvPr id="504" name=""/>
          <p:cNvSpPr/>
          <p:nvPr/>
        </p:nvSpPr>
        <p:spPr bwMode="auto">
          <a:xfrm>
            <a:off x="3924360" y="5971680"/>
            <a:ext cx="2016000" cy="337680"/>
          </a:xfrm>
          <a:prstGeom prst="rect">
            <a:avLst/>
          </a:prstGeom>
          <a:noFill/>
          <a:ln w="0">
            <a:noFill/>
          </a:ln>
        </p:spPr>
        <p:style>
          <a:lnRef idx="0"/>
          <a:fillRef idx="0"/>
          <a:effectRef idx="0"/>
          <a:fontRef idx="minor"/>
        </p:style>
        <p:txBody>
          <a:bodyPr lIns="90000" tIns="46800" rIns="90000" bIns="46800" anchor="ctr">
            <a:spAutoFit/>
          </a:bodyPr>
          <a:p>
            <a:pPr>
              <a:tabLst>
                <a:tab pos="0" algn="l"/>
                <a:tab pos="22860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600" b="0" strike="noStrike" spc="-1">
                <a:solidFill>
                  <a:srgbClr val="000000"/>
                </a:solidFill>
                <a:latin typeface="Arial"/>
              </a:rPr>
              <a:t>Rough</a:t>
            </a:r>
            <a:endParaRPr lang="en-US" sz="1600" b="0" strike="noStrike" spc="-1">
              <a:solidFill>
                <a:srgbClr val="000000"/>
              </a:solidFill>
              <a:latin typeface="Arial"/>
            </a:endParaRPr>
          </a:p>
        </p:txBody>
      </p:sp>
      <p:sp>
        <p:nvSpPr>
          <p:cNvPr id="505" name=""/>
          <p:cNvSpPr/>
          <p:nvPr/>
        </p:nvSpPr>
        <p:spPr bwMode="auto">
          <a:xfrm>
            <a:off x="6443640" y="5971680"/>
            <a:ext cx="2016000" cy="337680"/>
          </a:xfrm>
          <a:prstGeom prst="rect">
            <a:avLst/>
          </a:prstGeom>
          <a:noFill/>
          <a:ln w="0">
            <a:noFill/>
          </a:ln>
        </p:spPr>
        <p:style>
          <a:lnRef idx="0"/>
          <a:fillRef idx="0"/>
          <a:effectRef idx="0"/>
          <a:fontRef idx="minor"/>
        </p:style>
        <p:txBody>
          <a:bodyPr lIns="90000" tIns="46800" rIns="90000" bIns="46800" anchor="ctr">
            <a:spAutoFit/>
          </a:bodyPr>
          <a:p>
            <a:pPr>
              <a:tabLst>
                <a:tab pos="0" algn="l"/>
                <a:tab pos="22860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600" b="0" strike="noStrike" spc="-1">
                <a:solidFill>
                  <a:srgbClr val="000000"/>
                </a:solidFill>
                <a:latin typeface="Arial"/>
              </a:rPr>
              <a:t>Regular</a:t>
            </a:r>
            <a:endParaRPr lang="en-US" sz="16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506"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Texture features</a:t>
            </a:r>
            <a:endParaRPr lang="en-US" sz="3600" b="0" strike="noStrike" spc="-1">
              <a:solidFill>
                <a:srgbClr val="000000"/>
              </a:solidFill>
              <a:latin typeface="Futura Bk"/>
            </a:endParaRPr>
          </a:p>
        </p:txBody>
      </p:sp>
      <p:sp>
        <p:nvSpPr>
          <p:cNvPr id="507" name=""/>
          <p:cNvSpPr/>
          <p:nvPr/>
        </p:nvSpPr>
        <p:spPr bwMode="auto">
          <a:xfrm>
            <a:off x="0" y="28144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508" name=""/>
          <p:cNvSpPr/>
          <p:nvPr/>
        </p:nvSpPr>
        <p:spPr bwMode="auto">
          <a:xfrm>
            <a:off x="0" y="275760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511" name=""/>
          <p:cNvSpPr/>
          <p:nvPr/>
        </p:nvSpPr>
        <p:spPr bwMode="auto">
          <a:xfrm>
            <a:off x="378000" y="3213000"/>
            <a:ext cx="3097080" cy="505080"/>
          </a:xfrm>
          <a:prstGeom prst="ellipse">
            <a:avLst/>
          </a:prstGeom>
          <a:noFill/>
          <a:ln w="19080">
            <a:solidFill>
              <a:srgbClr val="64B9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512" name=""/>
          <p:cNvSpPr/>
          <p:nvPr/>
        </p:nvSpPr>
        <p:spPr bwMode="auto">
          <a:xfrm>
            <a:off x="6499080" y="4005360"/>
            <a:ext cx="1656000" cy="504720"/>
          </a:xfrm>
          <a:prstGeom prst="ellipse">
            <a:avLst/>
          </a:prstGeom>
          <a:noFill/>
          <a:ln w="19080">
            <a:solidFill>
              <a:srgbClr val="64B9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26" dur="indefinite" restart="never" nodeType="tmRoot">
          <p:childTnLst>
            <p:seq>
              <p:cTn id="27" dur="indefinite" nodeType="mainSeq">
                <p:childTnLst>
                  <p:par>
                    <p:cTn id="28" fill="hold">
                      <p:stCondLst>
                        <p:cond delay="indefinite"/>
                      </p:stCondLst>
                      <p:childTnLst>
                        <p:par>
                          <p:cTn id="29" fill="hold">
                            <p:stCondLst>
                              <p:cond delay="0"/>
                            </p:stCondLst>
                            <p:childTnLst>
                              <p:par>
                                <p:cTn id="30" presetID="1" presetClass="entr" fill="hold" nodeType="clickEffect">
                                  <p:stCondLst>
                                    <p:cond delay="0"/>
                                  </p:stCondLst>
                                  <p:childTnLst>
                                    <p:set>
                                      <p:cBhvr>
                                        <p:cTn id="31" dur="1" fill="hold">
                                          <p:stCondLst>
                                            <p:cond delay="0"/>
                                          </p:stCondLst>
                                        </p:cTn>
                                        <p:tgtEl>
                                          <p:spTgt spid="511"/>
                                        </p:tgtEl>
                                        <p:attrNameLst>
                                          <p:attrName>style.visibility</p:attrName>
                                        </p:attrNameLst>
                                      </p:cBhvr>
                                      <p:to>
                                        <p:strVal val="visible"/>
                                      </p:to>
                                    </p:set>
                                  </p:childTnLst>
                                </p:cTn>
                              </p:par>
                              <p:par>
                                <p:cTn id="32" presetID="1" presetClass="entr" fill="hold" nodeType="withEffect">
                                  <p:stCondLst>
                                    <p:cond delay="0"/>
                                  </p:stCondLst>
                                  <p:childTnLst>
                                    <p:set>
                                      <p:cBhvr>
                                        <p:cTn id="33" dur="1" fill="hold">
                                          <p:stCondLst>
                                            <p:cond delay="0"/>
                                          </p:stCondLst>
                                        </p:cTn>
                                        <p:tgtEl>
                                          <p:spTgt spid="51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xit" fill="hold" nodeType="clickEffect">
                                  <p:stCondLst>
                                    <p:cond delay="0"/>
                                  </p:stCondLst>
                                  <p:childTnLst>
                                    <p:set>
                                      <p:cBhvr>
                                        <p:cTn id="37" dur="1" fill="hold">
                                          <p:stCondLst>
                                            <p:cond delay="0"/>
                                          </p:stCondLst>
                                        </p:cTn>
                                        <p:tgtEl>
                                          <p:spTgt spid="51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513"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Texture features</a:t>
            </a:r>
            <a:endParaRPr lang="en-US" sz="3600" b="0" strike="noStrike" spc="-1">
              <a:solidFill>
                <a:srgbClr val="000000"/>
              </a:solidFill>
              <a:latin typeface="Futura Bk"/>
            </a:endParaRPr>
          </a:p>
        </p:txBody>
      </p:sp>
      <p:sp>
        <p:nvSpPr>
          <p:cNvPr id="514" name="PlaceHolder 2"/>
          <p:cNvSpPr>
            <a:spLocks noGrp="1"/>
          </p:cNvSpPr>
          <p:nvPr>
            <p:ph/>
          </p:nvPr>
        </p:nvSpPr>
        <p:spPr bwMode="auto">
          <a:xfrm>
            <a:off x="399600" y="1447560"/>
            <a:ext cx="8272440" cy="541080"/>
          </a:xfrm>
          <a:prstGeom prst="rect">
            <a:avLst/>
          </a:prstGeom>
          <a:noFill/>
          <a:ln w="0">
            <a:noFill/>
          </a:ln>
        </p:spPr>
        <p:txBody>
          <a:bodyPr lIns="90000" tIns="46800" rIns="90000" bIns="46800" anchor="t">
            <a:normAutofit/>
          </a:bodyPr>
          <a:p>
            <a:pPr marL="228600" indent="-228600">
              <a:lnSpc>
                <a:spcPct val="90000"/>
              </a:lnSpc>
              <a:spcBef>
                <a:spcPts val="876"/>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71B4"/>
                </a:solidFill>
                <a:latin typeface="Futura Bk"/>
              </a:rPr>
              <a:t>General statistics</a:t>
            </a:r>
            <a:endParaRPr lang="en-US" sz="2800" b="0" strike="noStrike" spc="-1">
              <a:solidFill>
                <a:srgbClr val="000000"/>
              </a:solidFill>
              <a:latin typeface="Futura Bk"/>
            </a:endParaRPr>
          </a:p>
        </p:txBody>
      </p:sp>
      <p:sp>
        <p:nvSpPr>
          <p:cNvPr id="515" name=""/>
          <p:cNvSpPr/>
          <p:nvPr/>
        </p:nvSpPr>
        <p:spPr bwMode="auto">
          <a:xfrm>
            <a:off x="611280" y="1821600"/>
            <a:ext cx="7848360" cy="70380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Futura Bk"/>
              </a:rPr>
              <a:t>Based on intensity histogram of the whole image or its regions: </a:t>
            </a:r>
            <a:endParaRPr lang="en-US" sz="2000" b="0" strike="noStrike" spc="-1">
              <a:solidFill>
                <a:srgbClr val="000000"/>
              </a:solidFill>
              <a:latin typeface="Arial"/>
            </a:endParaRPr>
          </a:p>
        </p:txBody>
      </p:sp>
      <p:pic>
        <p:nvPicPr>
          <p:cNvPr id="516" name="" descr=""/>
          <p:cNvPicPr/>
          <p:nvPr/>
        </p:nvPicPr>
        <p:blipFill>
          <a:blip r:embed="rId2"/>
          <a:stretch/>
        </p:blipFill>
        <p:spPr bwMode="auto">
          <a:xfrm>
            <a:off x="755640" y="2492280"/>
            <a:ext cx="2303640" cy="304920"/>
          </a:xfrm>
          <a:prstGeom prst="rect">
            <a:avLst/>
          </a:prstGeom>
          <a:ln w="0">
            <a:noFill/>
          </a:ln>
        </p:spPr>
      </p:pic>
      <p:sp>
        <p:nvSpPr>
          <p:cNvPr id="517" name=""/>
          <p:cNvSpPr/>
          <p:nvPr/>
        </p:nvSpPr>
        <p:spPr bwMode="auto">
          <a:xfrm>
            <a:off x="2987640" y="2297520"/>
            <a:ext cx="5904000" cy="64260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Futura Bk"/>
              </a:rPr>
              <a:t>– </a:t>
            </a:r>
            <a:r>
              <a:rPr lang="en-US" sz="1800" b="0" strike="noStrike" spc="-1">
                <a:solidFill>
                  <a:srgbClr val="000000"/>
                </a:solidFill>
                <a:latin typeface="Futura Bk"/>
              </a:rPr>
              <a:t>histogram of intensity, L – number of intensity levels.</a:t>
            </a:r>
            <a:endParaRPr lang="en-US" sz="1800" b="0" strike="noStrike" spc="-1">
              <a:solidFill>
                <a:srgbClr val="000000"/>
              </a:solidFill>
              <a:latin typeface="Arial"/>
            </a:endParaRPr>
          </a:p>
        </p:txBody>
      </p:sp>
      <p:pic>
        <p:nvPicPr>
          <p:cNvPr id="518" name="" descr=""/>
          <p:cNvPicPr/>
          <p:nvPr/>
        </p:nvPicPr>
        <p:blipFill>
          <a:blip r:embed="rId3"/>
          <a:stretch/>
        </p:blipFill>
        <p:spPr bwMode="auto">
          <a:xfrm>
            <a:off x="611280" y="2781360"/>
            <a:ext cx="2592360" cy="831960"/>
          </a:xfrm>
          <a:prstGeom prst="rect">
            <a:avLst/>
          </a:prstGeom>
          <a:ln w="0">
            <a:noFill/>
          </a:ln>
        </p:spPr>
      </p:pic>
      <p:sp>
        <p:nvSpPr>
          <p:cNvPr id="519" name=""/>
          <p:cNvSpPr/>
          <p:nvPr/>
        </p:nvSpPr>
        <p:spPr bwMode="auto">
          <a:xfrm>
            <a:off x="3132000" y="2990160"/>
            <a:ext cx="5904000" cy="36828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Futura Bk"/>
              </a:rPr>
              <a:t>– </a:t>
            </a:r>
            <a:r>
              <a:rPr lang="en-US" sz="1800" b="0" strike="noStrike" spc="-1">
                <a:solidFill>
                  <a:srgbClr val="000000"/>
                </a:solidFill>
                <a:latin typeface="Futura Bk"/>
              </a:rPr>
              <a:t>central moment of order n.</a:t>
            </a:r>
            <a:endParaRPr lang="en-US" sz="1800" b="0" strike="noStrike" spc="-1">
              <a:solidFill>
                <a:srgbClr val="000000"/>
              </a:solidFill>
              <a:latin typeface="Arial"/>
            </a:endParaRPr>
          </a:p>
        </p:txBody>
      </p:sp>
      <p:pic>
        <p:nvPicPr>
          <p:cNvPr id="520" name="" descr=""/>
          <p:cNvPicPr/>
          <p:nvPr/>
        </p:nvPicPr>
        <p:blipFill>
          <a:blip r:embed="rId4"/>
          <a:stretch/>
        </p:blipFill>
        <p:spPr bwMode="auto">
          <a:xfrm>
            <a:off x="611280" y="3500280"/>
            <a:ext cx="1400040" cy="723960"/>
          </a:xfrm>
          <a:prstGeom prst="rect">
            <a:avLst/>
          </a:prstGeom>
          <a:ln w="0">
            <a:noFill/>
          </a:ln>
        </p:spPr>
      </p:pic>
      <p:sp>
        <p:nvSpPr>
          <p:cNvPr id="521" name=""/>
          <p:cNvSpPr/>
          <p:nvPr/>
        </p:nvSpPr>
        <p:spPr bwMode="auto">
          <a:xfrm>
            <a:off x="1979640" y="3642480"/>
            <a:ext cx="5904000" cy="36828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Futura Bk"/>
              </a:rPr>
              <a:t>– </a:t>
            </a:r>
            <a:r>
              <a:rPr lang="en-US" sz="1800" b="0" strike="noStrike" spc="-1">
                <a:solidFill>
                  <a:srgbClr val="000000"/>
                </a:solidFill>
                <a:latin typeface="Futura Bk"/>
              </a:rPr>
              <a:t>average intensity.</a:t>
            </a:r>
            <a:endParaRPr lang="en-US" sz="1800" b="0" strike="noStrike" spc="-1">
              <a:solidFill>
                <a:srgbClr val="000000"/>
              </a:solidFill>
              <a:latin typeface="Arial"/>
            </a:endParaRPr>
          </a:p>
        </p:txBody>
      </p:sp>
      <p:pic>
        <p:nvPicPr>
          <p:cNvPr id="522" name="" descr=""/>
          <p:cNvPicPr/>
          <p:nvPr/>
        </p:nvPicPr>
        <p:blipFill>
          <a:blip r:embed="rId5"/>
          <a:stretch/>
        </p:blipFill>
        <p:spPr bwMode="auto">
          <a:xfrm>
            <a:off x="717480" y="4522680"/>
            <a:ext cx="1190520" cy="352439"/>
          </a:xfrm>
          <a:prstGeom prst="rect">
            <a:avLst/>
          </a:prstGeom>
          <a:ln w="0">
            <a:noFill/>
          </a:ln>
        </p:spPr>
      </p:pic>
      <p:sp>
        <p:nvSpPr>
          <p:cNvPr id="523" name=""/>
          <p:cNvSpPr/>
          <p:nvPr/>
        </p:nvSpPr>
        <p:spPr bwMode="auto">
          <a:xfrm>
            <a:off x="1908000" y="4507920"/>
            <a:ext cx="5904000" cy="36828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Futura Bk"/>
              </a:rPr>
              <a:t>– </a:t>
            </a:r>
            <a:r>
              <a:rPr lang="en-US" sz="1800" b="0" strike="noStrike" spc="-1">
                <a:solidFill>
                  <a:srgbClr val="000000"/>
                </a:solidFill>
                <a:latin typeface="Futura Bk"/>
              </a:rPr>
              <a:t>variance, is a measure of contrast.</a:t>
            </a:r>
            <a:endParaRPr lang="en-US" sz="1800" b="0" strike="noStrike" spc="-1">
              <a:solidFill>
                <a:srgbClr val="000000"/>
              </a:solidFill>
              <a:latin typeface="Arial"/>
            </a:endParaRPr>
          </a:p>
        </p:txBody>
      </p:sp>
      <p:sp>
        <p:nvSpPr>
          <p:cNvPr id="524" name=""/>
          <p:cNvSpPr/>
          <p:nvPr/>
        </p:nvSpPr>
        <p:spPr bwMode="auto">
          <a:xfrm>
            <a:off x="539640" y="4365720"/>
            <a:ext cx="8280360" cy="0"/>
          </a:xfrm>
          <a:prstGeom prst="line">
            <a:avLst/>
          </a:prstGeom>
          <a:ln w="9360">
            <a:solidFill>
              <a:srgbClr val="000000"/>
            </a:solidFill>
            <a:miter/>
          </a:ln>
        </p:spPr>
        <p:style>
          <a:lnRef idx="0"/>
          <a:fillRef idx="0"/>
          <a:effectRef idx="0"/>
          <a:fontRef idx="minor"/>
        </p:style>
        <p:txBody>
          <a:bodyPr lIns="90000" tIns="-46800" rIns="90000" bIns="-46800" anchor="t">
            <a:noAutofit/>
          </a:bodyPr>
          <a:p>
            <a:pPr>
              <a:defRPr/>
            </a:pPr>
            <a:endParaRPr lang="en-US" sz="1800" b="0" strike="noStrike" spc="-1">
              <a:solidFill>
                <a:srgbClr val="000000"/>
              </a:solidFill>
              <a:latin typeface="Arial"/>
            </a:endParaRPr>
          </a:p>
        </p:txBody>
      </p:sp>
      <p:pic>
        <p:nvPicPr>
          <p:cNvPr id="525" name="" descr=""/>
          <p:cNvPicPr/>
          <p:nvPr/>
        </p:nvPicPr>
        <p:blipFill>
          <a:blip r:embed="rId6"/>
          <a:stretch/>
        </p:blipFill>
        <p:spPr bwMode="auto">
          <a:xfrm>
            <a:off x="684360" y="4941720"/>
            <a:ext cx="1466640" cy="590760"/>
          </a:xfrm>
          <a:prstGeom prst="rect">
            <a:avLst/>
          </a:prstGeom>
          <a:ln w="0">
            <a:noFill/>
          </a:ln>
        </p:spPr>
      </p:pic>
      <p:sp>
        <p:nvSpPr>
          <p:cNvPr id="526" name=""/>
          <p:cNvSpPr/>
          <p:nvPr/>
        </p:nvSpPr>
        <p:spPr bwMode="auto">
          <a:xfrm>
            <a:off x="2124000" y="5006160"/>
            <a:ext cx="5904000" cy="36828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Futura Bk"/>
              </a:rPr>
              <a:t>, R=0 where intensity is equal.</a:t>
            </a:r>
            <a:endParaRPr lang="en-US" sz="1800" b="0" strike="noStrike" spc="-1">
              <a:solidFill>
                <a:srgbClr val="000000"/>
              </a:solidFill>
              <a:latin typeface="Arial"/>
            </a:endParaRPr>
          </a:p>
        </p:txBody>
      </p:sp>
      <p:pic>
        <p:nvPicPr>
          <p:cNvPr id="527" name="" descr=""/>
          <p:cNvPicPr/>
          <p:nvPr/>
        </p:nvPicPr>
        <p:blipFill>
          <a:blip r:embed="rId7"/>
          <a:stretch/>
        </p:blipFill>
        <p:spPr bwMode="auto">
          <a:xfrm>
            <a:off x="684360" y="5661000"/>
            <a:ext cx="2266920" cy="666720"/>
          </a:xfrm>
          <a:prstGeom prst="rect">
            <a:avLst/>
          </a:prstGeom>
          <a:ln w="0">
            <a:noFill/>
          </a:ln>
        </p:spPr>
      </p:pic>
      <p:sp>
        <p:nvSpPr>
          <p:cNvPr id="528" name=""/>
          <p:cNvSpPr/>
          <p:nvPr/>
        </p:nvSpPr>
        <p:spPr bwMode="auto">
          <a:xfrm>
            <a:off x="2916360" y="5798520"/>
            <a:ext cx="5903640" cy="36828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Futura Bk"/>
              </a:rPr>
              <a:t>– </a:t>
            </a:r>
            <a:r>
              <a:rPr lang="en-US" sz="1800" b="0" strike="noStrike" spc="-1">
                <a:solidFill>
                  <a:srgbClr val="000000"/>
                </a:solidFill>
                <a:latin typeface="Futura Bk"/>
              </a:rPr>
              <a:t>a measure of histogram assimetry.</a:t>
            </a:r>
            <a:endParaRPr lang="en-US" sz="18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529"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Texture features</a:t>
            </a:r>
            <a:endParaRPr lang="en-US" sz="3600" b="0" strike="noStrike" spc="-1">
              <a:solidFill>
                <a:srgbClr val="000000"/>
              </a:solidFill>
              <a:latin typeface="Futura Bk"/>
            </a:endParaRPr>
          </a:p>
        </p:txBody>
      </p:sp>
      <p:sp>
        <p:nvSpPr>
          <p:cNvPr id="530" name="PlaceHolder 2"/>
          <p:cNvSpPr>
            <a:spLocks noGrp="1"/>
          </p:cNvSpPr>
          <p:nvPr>
            <p:ph/>
          </p:nvPr>
        </p:nvSpPr>
        <p:spPr bwMode="auto">
          <a:xfrm>
            <a:off x="399600" y="1447560"/>
            <a:ext cx="8272440" cy="541080"/>
          </a:xfrm>
          <a:prstGeom prst="rect">
            <a:avLst/>
          </a:prstGeom>
          <a:noFill/>
          <a:ln w="0">
            <a:noFill/>
          </a:ln>
        </p:spPr>
        <p:txBody>
          <a:bodyPr lIns="90000" tIns="46800" rIns="90000" bIns="46800" anchor="t">
            <a:normAutofit/>
          </a:bodyPr>
          <a:p>
            <a:pPr marL="228600" indent="-228600">
              <a:lnSpc>
                <a:spcPct val="90000"/>
              </a:lnSpc>
              <a:spcBef>
                <a:spcPts val="876"/>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71B4"/>
                </a:solidFill>
                <a:latin typeface="Futura Bk"/>
              </a:rPr>
              <a:t>General statistics (2)</a:t>
            </a:r>
            <a:endParaRPr lang="en-US" sz="2800" b="0" strike="noStrike" spc="-1">
              <a:solidFill>
                <a:srgbClr val="000000"/>
              </a:solidFill>
              <a:latin typeface="Futura Bk"/>
            </a:endParaRPr>
          </a:p>
        </p:txBody>
      </p:sp>
      <p:sp>
        <p:nvSpPr>
          <p:cNvPr id="531" name=""/>
          <p:cNvSpPr/>
          <p:nvPr/>
        </p:nvSpPr>
        <p:spPr bwMode="auto">
          <a:xfrm>
            <a:off x="2052720" y="2210760"/>
            <a:ext cx="5904000" cy="64260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Futura Bk"/>
              </a:rPr>
              <a:t>– </a:t>
            </a:r>
            <a:r>
              <a:rPr lang="en-US" sz="1800" b="0" strike="noStrike" spc="-1">
                <a:solidFill>
                  <a:srgbClr val="000000"/>
                </a:solidFill>
                <a:latin typeface="Futura Bk"/>
              </a:rPr>
              <a:t>a measure of contrast of homogeneity </a:t>
            </a:r>
            <a:br>
              <a:rPr sz="1800"/>
            </a:br>
            <a:r>
              <a:rPr lang="en-US" sz="1800" b="0" strike="noStrike" spc="-1">
                <a:solidFill>
                  <a:srgbClr val="000000"/>
                </a:solidFill>
                <a:latin typeface="Futura Bk"/>
              </a:rPr>
              <a:t>   (max for homogeneous areas ).</a:t>
            </a:r>
            <a:endParaRPr lang="en-US" sz="1800" b="0" strike="noStrike" spc="-1">
              <a:solidFill>
                <a:srgbClr val="000000"/>
              </a:solidFill>
              <a:latin typeface="Arial"/>
            </a:endParaRPr>
          </a:p>
        </p:txBody>
      </p:sp>
      <p:pic>
        <p:nvPicPr>
          <p:cNvPr id="532" name="" descr=""/>
          <p:cNvPicPr/>
          <p:nvPr/>
        </p:nvPicPr>
        <p:blipFill>
          <a:blip r:embed="rId2"/>
          <a:stretch/>
        </p:blipFill>
        <p:spPr bwMode="auto">
          <a:xfrm>
            <a:off x="684360" y="1989000"/>
            <a:ext cx="1368360" cy="820800"/>
          </a:xfrm>
          <a:prstGeom prst="rect">
            <a:avLst/>
          </a:prstGeom>
          <a:ln w="0">
            <a:noFill/>
          </a:ln>
        </p:spPr>
      </p:pic>
      <p:pic>
        <p:nvPicPr>
          <p:cNvPr id="533" name="" descr=""/>
          <p:cNvPicPr/>
          <p:nvPr/>
        </p:nvPicPr>
        <p:blipFill>
          <a:blip r:embed="rId3"/>
          <a:stretch/>
        </p:blipFill>
        <p:spPr bwMode="auto">
          <a:xfrm>
            <a:off x="684360" y="2924280"/>
            <a:ext cx="2085840" cy="714240"/>
          </a:xfrm>
          <a:prstGeom prst="rect">
            <a:avLst/>
          </a:prstGeom>
          <a:ln w="0">
            <a:noFill/>
          </a:ln>
        </p:spPr>
      </p:pic>
      <p:sp>
        <p:nvSpPr>
          <p:cNvPr id="534" name=""/>
          <p:cNvSpPr/>
          <p:nvPr/>
        </p:nvSpPr>
        <p:spPr bwMode="auto">
          <a:xfrm>
            <a:off x="2771640" y="3074400"/>
            <a:ext cx="5904000" cy="64260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Futura Bk"/>
              </a:rPr>
              <a:t>– </a:t>
            </a:r>
            <a:r>
              <a:rPr lang="en-US" sz="1800" b="0" strike="noStrike" spc="-1">
                <a:solidFill>
                  <a:srgbClr val="000000"/>
                </a:solidFill>
                <a:latin typeface="Futura Bk"/>
              </a:rPr>
              <a:t>entropy, a measure of variability</a:t>
            </a:r>
            <a:br>
              <a:rPr sz="1800"/>
            </a:br>
            <a:r>
              <a:rPr lang="en-US" sz="1800" b="0" strike="noStrike" spc="-1">
                <a:solidFill>
                  <a:srgbClr val="000000"/>
                </a:solidFill>
                <a:latin typeface="Futura Bk"/>
              </a:rPr>
              <a:t> (0 for homogeneous areas ).</a:t>
            </a:r>
            <a:endParaRPr lang="en-US" sz="1800" b="0" strike="noStrike" spc="-1">
              <a:solidFill>
                <a:srgbClr val="000000"/>
              </a:solidFill>
              <a:latin typeface="Arial"/>
            </a:endParaRPr>
          </a:p>
        </p:txBody>
      </p:sp>
      <p:grpSp>
        <p:nvGrpSpPr>
          <p:cNvPr id="535" name=""/>
          <p:cNvGrpSpPr/>
          <p:nvPr/>
        </p:nvGrpSpPr>
        <p:grpSpPr bwMode="auto">
          <a:xfrm>
            <a:off x="468360" y="4195800"/>
            <a:ext cx="8496360" cy="1695240"/>
            <a:chOff x="468360" y="4195800"/>
            <a:chExt cx="8496360" cy="1695240"/>
          </a:xfrm>
        </p:grpSpPr>
        <p:pic>
          <p:nvPicPr>
            <p:cNvPr id="536" name="" descr=""/>
            <p:cNvPicPr/>
            <p:nvPr/>
          </p:nvPicPr>
          <p:blipFill>
            <a:blip r:embed="rId4"/>
            <a:stretch/>
          </p:blipFill>
          <p:spPr bwMode="auto">
            <a:xfrm>
              <a:off x="468360" y="4195800"/>
              <a:ext cx="8496360" cy="1695240"/>
            </a:xfrm>
            <a:prstGeom prst="rect">
              <a:avLst/>
            </a:prstGeom>
            <a:ln w="0">
              <a:noFill/>
            </a:ln>
          </p:spPr>
        </p:pic>
        <p:sp>
          <p:nvSpPr>
            <p:cNvPr id="537" name=""/>
            <p:cNvSpPr/>
            <p:nvPr/>
          </p:nvSpPr>
          <p:spPr bwMode="auto">
            <a:xfrm>
              <a:off x="612720" y="4365000"/>
              <a:ext cx="1222560" cy="368280"/>
            </a:xfrm>
            <a:prstGeom prst="rect">
              <a:avLst/>
            </a:prstGeom>
            <a:solidFill>
              <a:srgbClr val="FFFFFF"/>
            </a:solidFill>
            <a:ln w="0">
              <a:noFill/>
            </a:ln>
          </p:spPr>
          <p:style>
            <a:lnRef idx="0"/>
            <a:fillRef idx="0"/>
            <a:effectRef idx="0"/>
            <a:fontRef idx="minor"/>
          </p:style>
          <p:txBody>
            <a:bodyPr lIns="90000" tIns="46800" rIns="90000" bIns="46800" anchor="ctr">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Futura Bk"/>
                </a:rPr>
                <a:t>Texture</a:t>
              </a:r>
              <a:endParaRPr lang="en-US" sz="1800" b="0" strike="noStrike" spc="-1">
                <a:solidFill>
                  <a:srgbClr val="000000"/>
                </a:solidFill>
                <a:latin typeface="Arial"/>
              </a:endParaRPr>
            </a:p>
          </p:txBody>
        </p:sp>
        <p:sp>
          <p:nvSpPr>
            <p:cNvPr id="538" name=""/>
            <p:cNvSpPr/>
            <p:nvPr/>
          </p:nvSpPr>
          <p:spPr bwMode="auto">
            <a:xfrm>
              <a:off x="1836720" y="4365000"/>
              <a:ext cx="1222560" cy="368280"/>
            </a:xfrm>
            <a:prstGeom prst="rect">
              <a:avLst/>
            </a:prstGeom>
            <a:solidFill>
              <a:srgbClr val="FFFFFF"/>
            </a:solidFill>
            <a:ln w="0">
              <a:noFill/>
            </a:ln>
          </p:spPr>
          <p:style>
            <a:lnRef idx="0"/>
            <a:fillRef idx="0"/>
            <a:effectRef idx="0"/>
            <a:fontRef idx="minor"/>
          </p:style>
          <p:txBody>
            <a:bodyPr lIns="90000" tIns="46800" rIns="90000" bIns="46800" anchor="ctr">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Futura Bk"/>
                </a:rPr>
                <a:t>Average</a:t>
              </a:r>
              <a:endParaRPr lang="en-US" sz="1800" b="0" strike="noStrike" spc="-1">
                <a:solidFill>
                  <a:srgbClr val="000000"/>
                </a:solidFill>
                <a:latin typeface="Arial"/>
              </a:endParaRPr>
            </a:p>
          </p:txBody>
        </p:sp>
        <p:sp>
          <p:nvSpPr>
            <p:cNvPr id="539" name=""/>
            <p:cNvSpPr/>
            <p:nvPr/>
          </p:nvSpPr>
          <p:spPr bwMode="auto">
            <a:xfrm>
              <a:off x="3060720" y="4292640"/>
              <a:ext cx="1366920" cy="507960"/>
            </a:xfrm>
            <a:prstGeom prst="rect">
              <a:avLst/>
            </a:prstGeom>
            <a:solidFill>
              <a:srgbClr val="FFFFFF"/>
            </a:solidFill>
            <a:ln w="0">
              <a:noFill/>
            </a:ln>
          </p:spPr>
          <p:style>
            <a:lnRef idx="0"/>
            <a:fillRef idx="0"/>
            <a:effectRef idx="0"/>
            <a:fontRef idx="minor"/>
          </p:style>
          <p: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Futura Bk"/>
                </a:rPr>
                <a:t>Deviation</a:t>
              </a:r>
              <a:endParaRPr lang="en-US" sz="1800" b="0" strike="noStrike" spc="-1">
                <a:solidFill>
                  <a:srgbClr val="000000"/>
                </a:solidFill>
                <a:latin typeface="Arial"/>
              </a:endParaRPr>
            </a:p>
          </p:txBody>
        </p:sp>
        <p:sp>
          <p:nvSpPr>
            <p:cNvPr id="540" name=""/>
            <p:cNvSpPr/>
            <p:nvPr/>
          </p:nvSpPr>
          <p:spPr bwMode="auto">
            <a:xfrm>
              <a:off x="4357800" y="4292640"/>
              <a:ext cx="1366560" cy="507960"/>
            </a:xfrm>
            <a:prstGeom prst="rect">
              <a:avLst/>
            </a:prstGeom>
            <a:solidFill>
              <a:srgbClr val="FFFFFF"/>
            </a:solidFill>
            <a:ln w="0">
              <a:noFill/>
            </a:ln>
          </p:spPr>
          <p:style>
            <a:lnRef idx="0"/>
            <a:fillRef idx="0"/>
            <a:effectRef idx="0"/>
            <a:fontRef idx="minor"/>
          </p:style>
          <p: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Futura Bk"/>
                </a:rPr>
                <a:t>R</a:t>
              </a:r>
              <a:endParaRPr lang="en-US" sz="1800" b="0" strike="noStrike" spc="-1">
                <a:solidFill>
                  <a:srgbClr val="000000"/>
                </a:solidFill>
                <a:latin typeface="Arial"/>
              </a:endParaRPr>
            </a:p>
          </p:txBody>
        </p:sp>
        <p:sp>
          <p:nvSpPr>
            <p:cNvPr id="541" name=""/>
            <p:cNvSpPr/>
            <p:nvPr/>
          </p:nvSpPr>
          <p:spPr bwMode="auto">
            <a:xfrm>
              <a:off x="5796000" y="4292640"/>
              <a:ext cx="863640" cy="507960"/>
            </a:xfrm>
            <a:prstGeom prst="rect">
              <a:avLst/>
            </a:prstGeom>
            <a:solidFill>
              <a:srgbClr val="FFFFFF"/>
            </a:solidFill>
            <a:ln w="0">
              <a:noFill/>
            </a:ln>
          </p:spPr>
          <p:style>
            <a:lnRef idx="0"/>
            <a:fillRef idx="0"/>
            <a:effectRef idx="0"/>
            <a:fontRef idx="minor"/>
          </p:style>
          <p: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l-GR" sz="1800" b="0" strike="noStrike" spc="-1">
                  <a:solidFill>
                    <a:srgbClr val="000000"/>
                  </a:solidFill>
                  <a:latin typeface="Futura Bk"/>
                </a:rPr>
                <a:t>μ</a:t>
              </a:r>
              <a:r>
                <a:rPr lang="en-US" sz="1800" b="0" strike="noStrike" spc="-1" baseline="-25000">
                  <a:solidFill>
                    <a:srgbClr val="000000"/>
                  </a:solidFill>
                  <a:latin typeface="Futura Bk"/>
                </a:rPr>
                <a:t>3</a:t>
              </a:r>
              <a:endParaRPr lang="en-US" sz="1800" b="0" strike="noStrike" spc="-1">
                <a:solidFill>
                  <a:srgbClr val="000000"/>
                </a:solidFill>
                <a:latin typeface="Arial"/>
              </a:endParaRPr>
            </a:p>
          </p:txBody>
        </p:sp>
        <p:sp>
          <p:nvSpPr>
            <p:cNvPr id="542" name=""/>
            <p:cNvSpPr/>
            <p:nvPr/>
          </p:nvSpPr>
          <p:spPr bwMode="auto">
            <a:xfrm>
              <a:off x="6445080" y="4292640"/>
              <a:ext cx="1366920" cy="507960"/>
            </a:xfrm>
            <a:prstGeom prst="rect">
              <a:avLst/>
            </a:prstGeom>
            <a:solidFill>
              <a:srgbClr val="FFFFFF"/>
            </a:solidFill>
            <a:ln w="0">
              <a:noFill/>
            </a:ln>
          </p:spPr>
          <p:style>
            <a:lnRef idx="0"/>
            <a:fillRef idx="0"/>
            <a:effectRef idx="0"/>
            <a:fontRef idx="minor"/>
          </p:style>
          <p: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Futura Bk"/>
                </a:rPr>
                <a:t>U</a:t>
              </a:r>
              <a:endParaRPr lang="en-US" sz="1800" b="0" strike="noStrike" spc="-1">
                <a:solidFill>
                  <a:srgbClr val="000000"/>
                </a:solidFill>
                <a:latin typeface="Arial"/>
              </a:endParaRPr>
            </a:p>
          </p:txBody>
        </p:sp>
        <p:sp>
          <p:nvSpPr>
            <p:cNvPr id="543" name=""/>
            <p:cNvSpPr/>
            <p:nvPr/>
          </p:nvSpPr>
          <p:spPr bwMode="auto">
            <a:xfrm>
              <a:off x="7670880" y="4292640"/>
              <a:ext cx="1149120" cy="507960"/>
            </a:xfrm>
            <a:prstGeom prst="rect">
              <a:avLst/>
            </a:prstGeom>
            <a:solidFill>
              <a:srgbClr val="FFFFFF"/>
            </a:solidFill>
            <a:ln w="0">
              <a:noFill/>
            </a:ln>
          </p:spPr>
          <p:style>
            <a:lnRef idx="0"/>
            <a:fillRef idx="0"/>
            <a:effectRef idx="0"/>
            <a:fontRef idx="minor"/>
          </p:style>
          <p: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Futura Bk"/>
                </a:rPr>
                <a:t>Entropy</a:t>
              </a:r>
              <a:endParaRPr lang="en-US" sz="1800" b="0" strike="noStrike" spc="-1">
                <a:solidFill>
                  <a:srgbClr val="000000"/>
                </a:solidFill>
                <a:latin typeface="Arial"/>
              </a:endParaRPr>
            </a:p>
          </p:txBody>
        </p:sp>
        <p:sp>
          <p:nvSpPr>
            <p:cNvPr id="544" name=""/>
            <p:cNvSpPr/>
            <p:nvPr/>
          </p:nvSpPr>
          <p:spPr bwMode="auto">
            <a:xfrm>
              <a:off x="612720" y="4941720"/>
              <a:ext cx="1222560" cy="216000"/>
            </a:xfrm>
            <a:prstGeom prst="rect">
              <a:avLst/>
            </a:prstGeom>
            <a:solidFill>
              <a:srgbClr val="FFFFFF"/>
            </a:solidFill>
            <a:ln w="0">
              <a:noFill/>
            </a:ln>
          </p:spPr>
          <p:style>
            <a:lnRef idx="0"/>
            <a:fillRef idx="0"/>
            <a:effectRef idx="0"/>
            <a:fontRef idx="minor"/>
          </p:style>
          <p: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Futura Bk"/>
                </a:rPr>
                <a:t>Smooth</a:t>
              </a:r>
              <a:endParaRPr lang="en-US" sz="1800" b="0" strike="noStrike" spc="-1">
                <a:solidFill>
                  <a:srgbClr val="000000"/>
                </a:solidFill>
                <a:latin typeface="Arial"/>
              </a:endParaRPr>
            </a:p>
          </p:txBody>
        </p:sp>
        <p:sp>
          <p:nvSpPr>
            <p:cNvPr id="545" name=""/>
            <p:cNvSpPr/>
            <p:nvPr/>
          </p:nvSpPr>
          <p:spPr bwMode="auto">
            <a:xfrm>
              <a:off x="612720" y="5229360"/>
              <a:ext cx="1222560" cy="287280"/>
            </a:xfrm>
            <a:prstGeom prst="rect">
              <a:avLst/>
            </a:prstGeom>
            <a:solidFill>
              <a:srgbClr val="FFFFFF"/>
            </a:solidFill>
            <a:ln w="0">
              <a:noFill/>
            </a:ln>
          </p:spPr>
          <p:style>
            <a:lnRef idx="0"/>
            <a:fillRef idx="0"/>
            <a:effectRef idx="0"/>
            <a:fontRef idx="minor"/>
          </p:style>
          <p:txBody>
            <a:bodyPr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Futura Bk"/>
                </a:rPr>
                <a:t>  </a:t>
              </a:r>
              <a:r>
                <a:rPr lang="en-US" sz="1800" b="0" strike="noStrike" spc="-1">
                  <a:solidFill>
                    <a:srgbClr val="000000"/>
                  </a:solidFill>
                  <a:latin typeface="Futura Bk"/>
                </a:rPr>
                <a:t>Rough</a:t>
              </a:r>
              <a:endParaRPr lang="en-US" sz="1800" b="0" strike="noStrike" spc="-1">
                <a:solidFill>
                  <a:srgbClr val="000000"/>
                </a:solidFill>
                <a:latin typeface="Arial"/>
              </a:endParaRPr>
            </a:p>
          </p:txBody>
        </p:sp>
        <p:sp>
          <p:nvSpPr>
            <p:cNvPr id="546" name=""/>
            <p:cNvSpPr/>
            <p:nvPr/>
          </p:nvSpPr>
          <p:spPr bwMode="auto">
            <a:xfrm>
              <a:off x="539640" y="5589720"/>
              <a:ext cx="1584360" cy="215640"/>
            </a:xfrm>
            <a:prstGeom prst="rect">
              <a:avLst/>
            </a:prstGeom>
            <a:solidFill>
              <a:srgbClr val="FFFFFF"/>
            </a:solidFill>
            <a:ln w="0">
              <a:noFill/>
            </a:ln>
          </p:spPr>
          <p:style>
            <a:lnRef idx="0"/>
            <a:fillRef idx="0"/>
            <a:effectRef idx="0"/>
            <a:fontRef idx="minor"/>
          </p:style>
          <p:txBody>
            <a:bodyPr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Futura Bk"/>
                </a:rPr>
                <a:t>   </a:t>
              </a:r>
              <a:r>
                <a:rPr lang="en-US" sz="1800" b="0" strike="noStrike" spc="-1">
                  <a:solidFill>
                    <a:srgbClr val="000000"/>
                  </a:solidFill>
                  <a:latin typeface="Futura Bk"/>
                </a:rPr>
                <a:t>Regular</a:t>
              </a:r>
              <a:endParaRPr lang="en-US" sz="1800" b="0" strike="noStrike" spc="-1">
                <a:solidFill>
                  <a:srgbClr val="000000"/>
                </a:solidFill>
                <a:latin typeface="Arial"/>
              </a:endParaRPr>
            </a:p>
          </p:txBody>
        </p:sp>
      </p:gr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547"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Texture features</a:t>
            </a:r>
            <a:endParaRPr lang="en-US" sz="3600" b="0" strike="noStrike" spc="-1">
              <a:solidFill>
                <a:srgbClr val="000000"/>
              </a:solidFill>
              <a:latin typeface="Futura Bk"/>
            </a:endParaRPr>
          </a:p>
        </p:txBody>
      </p:sp>
      <p:sp>
        <p:nvSpPr>
          <p:cNvPr id="548" name=""/>
          <p:cNvSpPr/>
          <p:nvPr/>
        </p:nvSpPr>
        <p:spPr bwMode="auto">
          <a:xfrm>
            <a:off x="0" y="28144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549" name=""/>
          <p:cNvSpPr/>
          <p:nvPr/>
        </p:nvSpPr>
        <p:spPr bwMode="auto">
          <a:xfrm>
            <a:off x="0" y="275760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550" name=""/>
          <p:cNvSpPr/>
          <p:nvPr/>
        </p:nvSpPr>
        <p:spPr bwMode="auto">
          <a:xfrm>
            <a:off x="1080" y="1361160"/>
            <a:ext cx="6926039" cy="45972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71B4"/>
                </a:solidFill>
                <a:latin typeface="Futura Bk"/>
              </a:rPr>
              <a:t>Grey Level Co</a:t>
            </a:r>
            <a:r>
              <a:rPr lang="ru-RU" sz="2400" b="0" strike="noStrike" spc="-1">
                <a:solidFill>
                  <a:srgbClr val="0071B4"/>
                </a:solidFill>
                <a:latin typeface="Futura Bk"/>
              </a:rPr>
              <a:t>-</a:t>
            </a:r>
            <a:r>
              <a:rPr lang="en-US" sz="2400" b="0" strike="noStrike" spc="-1">
                <a:solidFill>
                  <a:srgbClr val="0071B4"/>
                </a:solidFill>
                <a:latin typeface="Futura Bk"/>
              </a:rPr>
              <a:t>occurrence Matrices</a:t>
            </a:r>
            <a:r>
              <a:rPr lang="ru-RU" sz="2400" b="0" strike="noStrike" spc="-1">
                <a:solidFill>
                  <a:srgbClr val="0071B4"/>
                </a:solidFill>
                <a:latin typeface="Futura Bk"/>
              </a:rPr>
              <a:t> (</a:t>
            </a:r>
            <a:r>
              <a:rPr lang="en-US" sz="2400" b="0" strike="noStrike" spc="-1">
                <a:solidFill>
                  <a:srgbClr val="0071B4"/>
                </a:solidFill>
                <a:latin typeface="Futura Bk"/>
              </a:rPr>
              <a:t>GLCM</a:t>
            </a:r>
            <a:r>
              <a:rPr lang="ru-RU" sz="2400" b="0" strike="noStrike" spc="-1">
                <a:solidFill>
                  <a:srgbClr val="0071B4"/>
                </a:solidFill>
                <a:latin typeface="Futura Bk"/>
              </a:rPr>
              <a:t>)</a:t>
            </a:r>
            <a:r>
              <a:rPr lang="en-US" sz="2400" b="0" strike="noStrike" spc="-1">
                <a:solidFill>
                  <a:srgbClr val="0071B4"/>
                </a:solidFill>
                <a:latin typeface="Futura Bk"/>
              </a:rPr>
              <a:t>:</a:t>
            </a:r>
            <a:r>
              <a:rPr lang="ru-RU" sz="2400" b="0" strike="noStrike" spc="-1">
                <a:solidFill>
                  <a:srgbClr val="0071B4"/>
                </a:solidFill>
                <a:latin typeface="Futura Bk"/>
              </a:rPr>
              <a:t> </a:t>
            </a:r>
            <a:endParaRPr lang="en-US" sz="2400" b="0" strike="noStrike" spc="-1">
              <a:solidFill>
                <a:srgbClr val="000000"/>
              </a:solidFill>
              <a:latin typeface="Arial"/>
            </a:endParaRPr>
          </a:p>
        </p:txBody>
      </p:sp>
      <p:sp>
        <p:nvSpPr>
          <p:cNvPr id="551" name=""/>
          <p:cNvSpPr/>
          <p:nvPr/>
        </p:nvSpPr>
        <p:spPr bwMode="auto">
          <a:xfrm>
            <a:off x="0" y="322416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552" name=""/>
          <p:cNvSpPr txBox="1"/>
          <p:nvPr/>
        </p:nvSpPr>
        <p:spPr bwMode="auto">
          <a:xfrm>
            <a:off x="650879" y="2814480"/>
            <a:ext cx="7121520" cy="106236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r>
                        <m:rPr/>
                        <a:rPr/>
                        <m:t>C</m:t>
                      </m:r>
                      <m:r>
                        <m:rPr/>
                        <a:rPr/>
                        <m:t>(</m:t>
                      </m:r>
                      <m:r>
                        <m:rPr/>
                        <a:rPr/>
                        <m:t>i</m:t>
                      </m:r>
                      <m:r>
                        <m:rPr/>
                        <a:rPr/>
                        <m:t>,</m:t>
                      </m:r>
                      <m:r>
                        <m:rPr/>
                        <a:rPr/>
                        <m:t>j</m:t>
                      </m:r>
                      <m:r>
                        <m:rPr/>
                        <a:rPr/>
                        <m:t>)</m:t>
                      </m:r>
                      <m:r>
                        <m:rPr/>
                        <a:rPr/>
                        <m:t>=</m:t>
                      </m:r>
                      <m:nary>
                        <m:naryPr>
                          <m:chr m:val="∑"/>
                          <m:grow m:val="off"/>
                          <m:ctrlPr>
                            <a:rPr/>
                          </m:ctrlPr>
                        </m:naryPr>
                        <m:sub>
                          <m:r>
                            <m:rPr/>
                            <a:rPr/>
                            <m:t>p</m:t>
                          </m:r>
                          <m:r>
                            <m:rPr/>
                            <a:rPr/>
                            <m:t>=</m:t>
                          </m:r>
                          <m:r>
                            <m:rPr/>
                            <a:rPr/>
                            <m:t>1</m:t>
                          </m:r>
                        </m:sub>
                        <m:sup>
                          <m:r>
                            <m:rPr/>
                            <a:rPr/>
                            <m:t>N</m:t>
                          </m:r>
                        </m:sup>
                        <m:e>
                          <m:nary>
                            <m:naryPr>
                              <m:chr m:val="∑"/>
                              <m:grow m:val="off"/>
                              <m:ctrlPr>
                                <a:rPr/>
                              </m:ctrlPr>
                            </m:naryPr>
                            <m:sub>
                              <m:r>
                                <m:rPr/>
                                <a:rPr/>
                                <m:t>q</m:t>
                              </m:r>
                              <m:r>
                                <m:rPr/>
                                <a:rPr/>
                                <m:t>=</m:t>
                              </m:r>
                              <m:r>
                                <m:rPr/>
                                <a:rPr/>
                                <m:t>1</m:t>
                              </m:r>
                            </m:sub>
                            <m:sup>
                              <m:r>
                                <m:rPr/>
                                <a:rPr/>
                                <m:t>M</m:t>
                              </m:r>
                            </m:sup>
                            <m:e>
                              <m:d>
                                <m:dPr>
                                  <m:begChr m:val="{"/>
                                  <m:endChr m:val=""/>
                                  <m:ctrlPr>
                                    <a:rPr/>
                                  </m:ctrlPr>
                                </m:dPr>
                                <m:e>
                                  <m:m>
                                    <m:mPr>
                                      <m:baseJc m:val="center"/>
                                      <m:cGp/>
                                      <m:cGpRule/>
                                      <m:cSp/>
                                      <m:mcs>
                                        <m:mc>
                                          <m:mcPr>
                                            <m:mcJc m:val="center"/>
                                            <m:count m:val="1"/>
                                          </m:mcPr>
                                        </m:mc>
                                      </m:mcs>
                                      <m:plcHide m:val="off"/>
                                      <m:rSp/>
                                      <m:rSpRule/>
                                      <m:ctrlPr>
                                        <a:rPr/>
                                      </m:ctrlPr>
                                    </m:mPr>
                                    <m:mr>
                                      <m:e>
                                        <m:r>
                                          <m:rPr/>
                                          <a:rPr/>
                                          <m:t>1</m:t>
                                        </m:r>
                                        <m:r>
                                          <m:rPr/>
                                          <a:rPr/>
                                          <m:t>,</m:t>
                                        </m:r>
                                        <m:r>
                                          <m:rPr/>
                                          <a:rPr/>
                                          <m:t> </m:t>
                                        </m:r>
                                        <m:r>
                                          <m:rPr>
                                            <m:lit m:val="on"/>
                                            <m:nor m:val="on"/>
                                          </m:rPr>
                                          <a:rPr/>
                                          <m:t>if</m:t>
                                        </m:r>
                                        <m:r>
                                          <m:rPr/>
                                          <a:rPr/>
                                          <m:t> </m:t>
                                        </m:r>
                                        <m:r>
                                          <m:rPr/>
                                          <a:rPr/>
                                          <m:t>I</m:t>
                                        </m:r>
                                        <m:r>
                                          <m:rPr/>
                                          <a:rPr/>
                                          <m:t>(</m:t>
                                        </m:r>
                                        <m:r>
                                          <m:rPr/>
                                          <a:rPr/>
                                          <m:t>p</m:t>
                                        </m:r>
                                        <m:r>
                                          <m:rPr/>
                                          <a:rPr/>
                                          <m:t>,</m:t>
                                        </m:r>
                                        <m:r>
                                          <m:rPr/>
                                          <a:rPr/>
                                          <m:t>q</m:t>
                                        </m:r>
                                        <m:r>
                                          <m:rPr/>
                                          <a:rPr/>
                                          <m:t>)</m:t>
                                        </m:r>
                                        <m:r>
                                          <m:rPr/>
                                          <a:rPr/>
                                          <m:t>=</m:t>
                                        </m:r>
                                        <m:r>
                                          <m:rPr/>
                                          <a:rPr/>
                                          <m:t>i</m:t>
                                        </m:r>
                                        <m:r>
                                          <m:rPr/>
                                          <a:rPr/>
                                          <m:t>,</m:t>
                                        </m:r>
                                        <m:r>
                                          <m:rPr/>
                                          <a:rPr/>
                                          <m:t> </m:t>
                                        </m:r>
                                        <m:r>
                                          <m:rPr/>
                                          <a:rPr/>
                                          <m:t>I</m:t>
                                        </m:r>
                                        <m:r>
                                          <m:rPr/>
                                          <a:rPr/>
                                          <m:t>(</m:t>
                                        </m:r>
                                        <m:r>
                                          <m:rPr/>
                                          <a:rPr/>
                                          <m:t>p</m:t>
                                        </m:r>
                                        <m:r>
                                          <m:rPr/>
                                          <a:rPr/>
                                          <m:t>+</m:t>
                                        </m:r>
                                        <m:r>
                                          <m:rPr/>
                                          <a:rPr/>
                                          <m:t>Δx</m:t>
                                        </m:r>
                                        <m:r>
                                          <m:rPr/>
                                          <a:rPr/>
                                          <m:t>,</m:t>
                                        </m:r>
                                        <m:r>
                                          <m:rPr/>
                                          <a:rPr/>
                                          <m:t>q</m:t>
                                        </m:r>
                                        <m:r>
                                          <m:rPr/>
                                          <a:rPr/>
                                          <m:t>+</m:t>
                                        </m:r>
                                        <m:r>
                                          <m:rPr/>
                                          <a:rPr/>
                                          <m:t>Δy</m:t>
                                        </m:r>
                                        <m:r>
                                          <m:rPr/>
                                          <a:rPr/>
                                          <m:t>)</m:t>
                                        </m:r>
                                        <m:r>
                                          <m:rPr/>
                                          <a:rPr/>
                                          <m:t>=</m:t>
                                        </m:r>
                                        <m:r>
                                          <m:rPr/>
                                          <a:rPr/>
                                          <m:t>j</m:t>
                                        </m:r>
                                      </m:e>
                                    </m:mr>
                                    <m:mr>
                                      <m:e>
                                        <m:r>
                                          <m:rPr/>
                                          <a:rPr/>
                                          <m:t>0</m:t>
                                        </m:r>
                                        <m:r>
                                          <m:rPr/>
                                          <a:rPr/>
                                          <m:t>,</m:t>
                                        </m:r>
                                        <m:r>
                                          <m:rPr/>
                                          <a:rPr/>
                                          <m:t> </m:t>
                                        </m:r>
                                        <m:r>
                                          <m:rPr>
                                            <m:lit m:val="on"/>
                                            <m:nor m:val="on"/>
                                          </m:rPr>
                                          <a:rPr/>
                                          <m:t>otherwise</m:t>
                                        </m:r>
                                        <m:r>
                                          <m:rPr/>
                                          <a:rPr/>
                                          <m:t> </m:t>
                                        </m:r>
                                      </m:e>
                                    </m:mr>
                                  </m:m>
                                </m:e>
                              </m:d>
                            </m:e>
                          </m:nary>
                        </m:e>
                      </m:nary>
                    </m:oMath>
                  </m:oMathPara>
                </a14:m>
              </mc:Choice>
              <mc:Fallback/>
            </mc:AlternateContent>
            <a:endParaRPr/>
          </a:p>
        </p:txBody>
      </p:sp>
      <p:sp>
        <p:nvSpPr>
          <p:cNvPr id="553" name=""/>
          <p:cNvSpPr/>
          <p:nvPr/>
        </p:nvSpPr>
        <p:spPr bwMode="auto">
          <a:xfrm>
            <a:off x="0" y="332892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554" name=""/>
          <p:cNvSpPr/>
          <p:nvPr/>
        </p:nvSpPr>
        <p:spPr bwMode="auto">
          <a:xfrm>
            <a:off x="0" y="326232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555" name=""/>
          <p:cNvSpPr/>
          <p:nvPr/>
        </p:nvSpPr>
        <p:spPr bwMode="auto">
          <a:xfrm>
            <a:off x="395280" y="1923480"/>
            <a:ext cx="7848720" cy="64260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Tahoma"/>
              </a:rPr>
              <a:t>GLCM - matrix of frequencies at which two pixels, separated by a certain vector, occur in the image</a:t>
            </a:r>
            <a:r>
              <a:rPr lang="ru-RU" sz="1800" b="0" strike="noStrike" spc="-1">
                <a:solidFill>
                  <a:srgbClr val="000000"/>
                </a:solidFill>
                <a:latin typeface="Tahoma"/>
              </a:rPr>
              <a:t>. </a:t>
            </a:r>
            <a:endParaRPr lang="en-US" sz="1800" b="0" strike="noStrike" spc="-1">
              <a:solidFill>
                <a:srgbClr val="000000"/>
              </a:solidFill>
              <a:latin typeface="Arial"/>
            </a:endParaRPr>
          </a:p>
        </p:txBody>
      </p:sp>
      <p:sp>
        <p:nvSpPr>
          <p:cNvPr id="556" name=""/>
          <p:cNvSpPr/>
          <p:nvPr/>
        </p:nvSpPr>
        <p:spPr bwMode="auto">
          <a:xfrm>
            <a:off x="0" y="332892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557" name=""/>
          <p:cNvSpPr txBox="1"/>
          <p:nvPr/>
        </p:nvSpPr>
        <p:spPr bwMode="auto">
          <a:xfrm>
            <a:off x="620640" y="4292640"/>
            <a:ext cx="863640" cy="32364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r>
                        <m:rPr/>
                        <a:rPr/>
                        <m:t>(</m:t>
                      </m:r>
                      <m:r>
                        <m:rPr/>
                        <a:rPr/>
                        <m:t>Δx</m:t>
                      </m:r>
                      <m:r>
                        <m:rPr/>
                        <a:rPr/>
                        <m:t>,</m:t>
                      </m:r>
                      <m:r>
                        <m:rPr/>
                        <a:rPr/>
                        <m:t>Δy</m:t>
                      </m:r>
                      <m:r>
                        <m:rPr/>
                        <a:rPr/>
                        <m:t>)</m:t>
                      </m:r>
                    </m:oMath>
                  </m:oMathPara>
                </a14:m>
              </mc:Choice>
              <mc:Fallback/>
            </mc:AlternateContent>
            <a:endParaRPr/>
          </a:p>
        </p:txBody>
      </p:sp>
      <p:sp>
        <p:nvSpPr>
          <p:cNvPr id="558" name=""/>
          <p:cNvSpPr/>
          <p:nvPr/>
        </p:nvSpPr>
        <p:spPr bwMode="auto">
          <a:xfrm>
            <a:off x="1519200" y="4276440"/>
            <a:ext cx="2263680" cy="3376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600" b="0" strike="noStrike" spc="-1">
                <a:solidFill>
                  <a:srgbClr val="000000"/>
                </a:solidFill>
                <a:latin typeface="Tahoma"/>
              </a:rPr>
              <a:t>– </a:t>
            </a:r>
            <a:r>
              <a:rPr lang="en-US" sz="1600" b="0" strike="noStrike" spc="-1">
                <a:solidFill>
                  <a:srgbClr val="000000"/>
                </a:solidFill>
                <a:latin typeface="Tahoma"/>
              </a:rPr>
              <a:t>separation vector</a:t>
            </a:r>
            <a:r>
              <a:rPr lang="ru-RU" sz="1600" b="0" strike="noStrike" spc="-1">
                <a:solidFill>
                  <a:srgbClr val="000000"/>
                </a:solidFill>
                <a:latin typeface="Tahoma"/>
              </a:rPr>
              <a:t>; </a:t>
            </a:r>
            <a:endParaRPr lang="en-US" sz="1600" b="0" strike="noStrike" spc="-1">
              <a:solidFill>
                <a:srgbClr val="000000"/>
              </a:solidFill>
              <a:latin typeface="Arial"/>
            </a:endParaRPr>
          </a:p>
        </p:txBody>
      </p:sp>
      <p:sp>
        <p:nvSpPr>
          <p:cNvPr id="559" name=""/>
          <p:cNvSpPr/>
          <p:nvPr/>
        </p:nvSpPr>
        <p:spPr bwMode="auto">
          <a:xfrm>
            <a:off x="409320" y="4781160"/>
            <a:ext cx="5061240" cy="3376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600" b="0" strike="noStrike" spc="-1">
                <a:solidFill>
                  <a:srgbClr val="000000"/>
                </a:solidFill>
                <a:latin typeface="Tahoma"/>
              </a:rPr>
              <a:t>I</a:t>
            </a:r>
            <a:r>
              <a:rPr lang="ru-RU" sz="1600" b="0" strike="noStrike" spc="-1">
                <a:solidFill>
                  <a:srgbClr val="000000"/>
                </a:solidFill>
                <a:latin typeface="Tahoma"/>
              </a:rPr>
              <a:t>(</a:t>
            </a:r>
            <a:r>
              <a:rPr lang="en-US" sz="1600" b="0" strike="noStrike" spc="-1">
                <a:solidFill>
                  <a:srgbClr val="000000"/>
                </a:solidFill>
                <a:latin typeface="Tahoma"/>
              </a:rPr>
              <a:t>p</a:t>
            </a:r>
            <a:r>
              <a:rPr lang="ru-RU" sz="1600" b="0" strike="noStrike" spc="-1">
                <a:solidFill>
                  <a:srgbClr val="000000"/>
                </a:solidFill>
                <a:latin typeface="Tahoma"/>
              </a:rPr>
              <a:t>,</a:t>
            </a:r>
            <a:r>
              <a:rPr lang="en-US" sz="1600" b="0" strike="noStrike" spc="-1">
                <a:solidFill>
                  <a:srgbClr val="000000"/>
                </a:solidFill>
                <a:latin typeface="Tahoma"/>
              </a:rPr>
              <a:t>q</a:t>
            </a:r>
            <a:r>
              <a:rPr lang="ru-RU" sz="1600" b="0" strike="noStrike" spc="-1">
                <a:solidFill>
                  <a:srgbClr val="000000"/>
                </a:solidFill>
                <a:latin typeface="Tahoma"/>
              </a:rPr>
              <a:t>)       – </a:t>
            </a:r>
            <a:r>
              <a:rPr lang="en-US" sz="1600" b="0" strike="noStrike" spc="-1">
                <a:solidFill>
                  <a:srgbClr val="000000"/>
                </a:solidFill>
                <a:latin typeface="Tahoma"/>
              </a:rPr>
              <a:t>intensity of a pixel in position</a:t>
            </a:r>
            <a:r>
              <a:rPr lang="ru-RU" sz="1600" b="0" strike="noStrike" spc="-1">
                <a:solidFill>
                  <a:srgbClr val="000000"/>
                </a:solidFill>
                <a:latin typeface="Tahoma"/>
              </a:rPr>
              <a:t> (</a:t>
            </a:r>
            <a:r>
              <a:rPr lang="en-US" sz="1600" b="0" strike="noStrike" spc="-1">
                <a:solidFill>
                  <a:srgbClr val="000000"/>
                </a:solidFill>
                <a:latin typeface="Tahoma"/>
              </a:rPr>
              <a:t>p</a:t>
            </a:r>
            <a:r>
              <a:rPr lang="ru-RU" sz="1600" b="0" strike="noStrike" spc="-1">
                <a:solidFill>
                  <a:srgbClr val="000000"/>
                </a:solidFill>
                <a:latin typeface="Tahoma"/>
              </a:rPr>
              <a:t>, </a:t>
            </a:r>
            <a:r>
              <a:rPr lang="en-US" sz="1600" b="0" strike="noStrike" spc="-1">
                <a:solidFill>
                  <a:srgbClr val="000000"/>
                </a:solidFill>
                <a:latin typeface="Tahoma"/>
              </a:rPr>
              <a:t>q</a:t>
            </a:r>
            <a:r>
              <a:rPr lang="ru-RU" sz="1600" b="0" strike="noStrike" spc="-1">
                <a:solidFill>
                  <a:srgbClr val="000000"/>
                </a:solidFill>
                <a:latin typeface="Tahoma"/>
              </a:rPr>
              <a:t>). </a:t>
            </a:r>
            <a:endParaRPr lang="en-US" sz="16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560"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GLCM – an example</a:t>
            </a:r>
            <a:endParaRPr lang="en-US" sz="3600" b="0" strike="noStrike" spc="-1">
              <a:solidFill>
                <a:srgbClr val="000000"/>
              </a:solidFill>
              <a:latin typeface="Futura Bk"/>
            </a:endParaRPr>
          </a:p>
        </p:txBody>
      </p:sp>
      <p:sp>
        <p:nvSpPr>
          <p:cNvPr id="561" name=""/>
          <p:cNvSpPr/>
          <p:nvPr/>
        </p:nvSpPr>
        <p:spPr bwMode="auto">
          <a:xfrm>
            <a:off x="0" y="28144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562" name=""/>
          <p:cNvSpPr/>
          <p:nvPr/>
        </p:nvSpPr>
        <p:spPr bwMode="auto">
          <a:xfrm>
            <a:off x="0" y="275760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563" name=""/>
          <p:cNvSpPr/>
          <p:nvPr/>
        </p:nvSpPr>
        <p:spPr bwMode="auto">
          <a:xfrm>
            <a:off x="0" y="322416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pic>
        <p:nvPicPr>
          <p:cNvPr id="564" name="" descr=""/>
          <p:cNvPicPr/>
          <p:nvPr/>
        </p:nvPicPr>
        <p:blipFill>
          <a:blip r:embed="rId2"/>
          <a:stretch/>
        </p:blipFill>
        <p:spPr bwMode="auto">
          <a:xfrm>
            <a:off x="1474920" y="1163520"/>
            <a:ext cx="6626160" cy="5480280"/>
          </a:xfrm>
          <a:prstGeom prst="rect">
            <a:avLst/>
          </a:prstGeom>
          <a:ln w="0">
            <a:noFill/>
          </a:ln>
        </p:spPr>
      </p:pic>
      <p:sp>
        <p:nvSpPr>
          <p:cNvPr id="565" name=""/>
          <p:cNvSpPr/>
          <p:nvPr/>
        </p:nvSpPr>
        <p:spPr bwMode="auto">
          <a:xfrm>
            <a:off x="-252360" y="37162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566" name=""/>
          <p:cNvSpPr txBox="1"/>
          <p:nvPr/>
        </p:nvSpPr>
        <p:spPr bwMode="auto">
          <a:xfrm>
            <a:off x="517680" y="6165720"/>
            <a:ext cx="1822320" cy="42228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r>
                        <m:rPr/>
                        <a:rPr/>
                        <m:t>(</m:t>
                      </m:r>
                      <m:r>
                        <m:rPr/>
                        <a:rPr/>
                        <m:t>Δx</m:t>
                      </m:r>
                      <m:r>
                        <m:rPr/>
                        <a:rPr/>
                        <m:t>,</m:t>
                      </m:r>
                      <m:r>
                        <m:rPr/>
                        <a:rPr/>
                        <m:t>Δy</m:t>
                      </m:r>
                      <m:r>
                        <m:rPr/>
                        <a:rPr/>
                        <m:t>)</m:t>
                      </m:r>
                      <m:r>
                        <m:rPr/>
                        <a:rPr/>
                        <m:t>=</m:t>
                      </m:r>
                      <m:r>
                        <m:rPr/>
                        <a:rPr/>
                        <m:t>(</m:t>
                      </m:r>
                      <m:r>
                        <m:rPr/>
                        <a:rPr/>
                        <m:t>1</m:t>
                      </m:r>
                      <m:r>
                        <m:rPr/>
                        <a:rPr/>
                        <m:t>,</m:t>
                      </m:r>
                      <m:r>
                        <m:rPr/>
                        <a:rPr/>
                        <m:t>0</m:t>
                      </m:r>
                      <m:r>
                        <m:rPr/>
                        <a:rPr/>
                        <m:t>)</m:t>
                      </m:r>
                    </m:oMath>
                  </m:oMathPara>
                </a14:m>
              </mc:Choice>
              <mc:Fallback/>
            </mc:AlternateContent>
            <a:endParaRPr/>
          </a:p>
        </p:txBody>
      </p:sp>
      <p:sp>
        <p:nvSpPr>
          <p:cNvPr id="567" name=""/>
          <p:cNvSpPr/>
          <p:nvPr/>
        </p:nvSpPr>
        <p:spPr bwMode="auto">
          <a:xfrm>
            <a:off x="0" y="326232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568" name=""/>
          <p:cNvSpPr/>
          <p:nvPr/>
        </p:nvSpPr>
        <p:spPr bwMode="auto">
          <a:xfrm>
            <a:off x="5796000" y="5373720"/>
            <a:ext cx="504720" cy="287280"/>
          </a:xfrm>
          <a:prstGeom prst="ellipse">
            <a:avLst/>
          </a:prstGeom>
          <a:noFill/>
          <a:ln w="19080">
            <a:solidFill>
              <a:srgbClr val="64B900"/>
            </a:solidFill>
            <a:miter/>
          </a:ln>
        </p:spPr>
        <p:style>
          <a:lnRef idx="0"/>
          <a:fillRef idx="0"/>
          <a:effectRef idx="0"/>
          <a:fontRef idx="minor"/>
        </p:style>
        <p:txBody>
          <a:bodyPr wrap="none" lIns="90000" tIns="46800" rIns="90000" bIns="46800" anchor="ctr">
            <a:spAutoFit/>
          </a:bodyPr>
          <a:p>
            <a:pPr>
              <a:defRPr/>
            </a:pPr>
            <a:endParaRPr lang="en-US" sz="1800" b="0" strike="noStrike" spc="-1">
              <a:solidFill>
                <a:srgbClr val="000000"/>
              </a:solidFill>
              <a:latin typeface="Arial"/>
            </a:endParaRPr>
          </a:p>
        </p:txBody>
      </p:sp>
      <p:sp>
        <p:nvSpPr>
          <p:cNvPr id="569" name=""/>
          <p:cNvSpPr/>
          <p:nvPr/>
        </p:nvSpPr>
        <p:spPr bwMode="auto">
          <a:xfrm>
            <a:off x="5796000" y="5589720"/>
            <a:ext cx="504720" cy="287280"/>
          </a:xfrm>
          <a:prstGeom prst="ellipse">
            <a:avLst/>
          </a:prstGeom>
          <a:noFill/>
          <a:ln w="19080">
            <a:solidFill>
              <a:srgbClr val="64B900"/>
            </a:solidFill>
            <a:miter/>
          </a:ln>
        </p:spPr>
        <p:style>
          <a:lnRef idx="0"/>
          <a:fillRef idx="0"/>
          <a:effectRef idx="0"/>
          <a:fontRef idx="minor"/>
        </p:style>
        <p:txBody>
          <a:bodyPr wrap="none" lIns="90000" tIns="46800" rIns="90000" bIns="46800" anchor="ctr">
            <a:spAutoFit/>
          </a:bodyPr>
          <a:p>
            <a:pPr>
              <a:defRPr/>
            </a:pPr>
            <a:endParaRPr lang="en-US" sz="1800" b="0" strike="noStrike" spc="-1">
              <a:solidFill>
                <a:srgbClr val="000000"/>
              </a:solidFill>
              <a:latin typeface="Arial"/>
            </a:endParaRPr>
          </a:p>
        </p:txBody>
      </p:sp>
      <p:sp>
        <p:nvSpPr>
          <p:cNvPr id="570" name=""/>
          <p:cNvSpPr/>
          <p:nvPr/>
        </p:nvSpPr>
        <p:spPr bwMode="auto">
          <a:xfrm>
            <a:off x="5796000" y="5878440"/>
            <a:ext cx="504720" cy="287280"/>
          </a:xfrm>
          <a:prstGeom prst="ellipse">
            <a:avLst/>
          </a:prstGeom>
          <a:noFill/>
          <a:ln w="19080">
            <a:solidFill>
              <a:srgbClr val="64B900"/>
            </a:solidFill>
            <a:miter/>
          </a:ln>
        </p:spPr>
        <p:style>
          <a:lnRef idx="0"/>
          <a:fillRef idx="0"/>
          <a:effectRef idx="0"/>
          <a:fontRef idx="minor"/>
        </p:style>
        <p:txBody>
          <a:bodyPr wrap="none" lIns="90000" tIns="46800" rIns="90000" bIns="46800" anchor="ctr">
            <a:spAutoFit/>
          </a:bodyPr>
          <a:p>
            <a:pPr>
              <a:defRPr/>
            </a:pPr>
            <a:endParaRPr lang="en-US" sz="1800" b="0" strike="noStrike" spc="-1">
              <a:solidFill>
                <a:srgbClr val="000000"/>
              </a:solidFill>
              <a:latin typeface="Arial"/>
            </a:endParaRPr>
          </a:p>
        </p:txBody>
      </p:sp>
      <p:cxnSp>
        <p:nvCxnSpPr>
          <p:cNvPr id="571" name=""/>
          <p:cNvCxnSpPr>
            <a:cxnSpLocks/>
            <a:stCxn id="568" idx="3"/>
            <a:endCxn id="572" idx="4"/>
          </p:cNvCxnSpPr>
          <p:nvPr/>
        </p:nvCxnSpPr>
        <p:spPr bwMode="auto">
          <a:xfrm rot="5400000">
            <a:off x="4299840" y="4277880"/>
            <a:ext cx="221400" cy="2919960"/>
          </a:xfrm>
          <a:prstGeom prst="curvedConnector5">
            <a:avLst>
              <a:gd name="adj1" fmla="val 198534"/>
              <a:gd name="adj2" fmla="val 50000"/>
              <a:gd name="adj3" fmla="val 198534"/>
            </a:avLst>
          </a:prstGeom>
          <a:ln w="19080">
            <a:solidFill>
              <a:srgbClr val="64B900"/>
            </a:solidFill>
            <a:miter/>
            <a:tailEnd type="triangle" w="med" len="med"/>
          </a:ln>
        </p:spPr>
      </p:cxnSp>
      <p:sp>
        <p:nvSpPr>
          <p:cNvPr id="572" name=""/>
          <p:cNvSpPr/>
          <p:nvPr/>
        </p:nvSpPr>
        <p:spPr bwMode="auto">
          <a:xfrm>
            <a:off x="2806560" y="5551560"/>
            <a:ext cx="287640" cy="287280"/>
          </a:xfrm>
          <a:prstGeom prst="ellipse">
            <a:avLst/>
          </a:prstGeom>
          <a:noFill/>
          <a:ln w="19080">
            <a:solidFill>
              <a:srgbClr val="64B900"/>
            </a:solidFill>
            <a:miter/>
          </a:ln>
        </p:spPr>
        <p:style>
          <a:lnRef idx="0"/>
          <a:fillRef idx="0"/>
          <a:effectRef idx="0"/>
          <a:fontRef idx="minor"/>
        </p:style>
        <p:txBody>
          <a:bodyPr lIns="90000" tIns="46800" rIns="90000" bIns="46800" anchor="ctr">
            <a:spAutoFit/>
          </a:bodyPr>
          <a:p>
            <a:pPr>
              <a:defRPr/>
            </a:pPr>
            <a:endParaRPr lang="en-US" sz="1800" b="0" strike="noStrike" spc="-1">
              <a:solidFill>
                <a:srgbClr val="000000"/>
              </a:solidFill>
              <a:latin typeface="Arial"/>
            </a:endParaRPr>
          </a:p>
        </p:txBody>
      </p:sp>
      <p:cxnSp>
        <p:nvCxnSpPr>
          <p:cNvPr id="573" name=""/>
          <p:cNvCxnSpPr>
            <a:cxnSpLocks/>
            <a:stCxn id="569" idx="3"/>
            <a:endCxn id="572" idx="4"/>
          </p:cNvCxnSpPr>
          <p:nvPr/>
        </p:nvCxnSpPr>
        <p:spPr bwMode="auto">
          <a:xfrm rot="5400000">
            <a:off x="4407840" y="4385880"/>
            <a:ext cx="5400" cy="2919960"/>
          </a:xfrm>
          <a:prstGeom prst="curvedConnector5">
            <a:avLst>
              <a:gd name="adj1" fmla="val 5464285"/>
              <a:gd name="adj2" fmla="val 50000"/>
              <a:gd name="adj3" fmla="val 5464285"/>
            </a:avLst>
          </a:prstGeom>
          <a:ln w="19080">
            <a:solidFill>
              <a:srgbClr val="64B900"/>
            </a:solidFill>
            <a:miter/>
            <a:tailEnd type="triangle" w="med" len="med"/>
          </a:ln>
        </p:spPr>
      </p:cxnSp>
      <p:cxnSp>
        <p:nvCxnSpPr>
          <p:cNvPr id="574" name=""/>
          <p:cNvCxnSpPr>
            <a:cxnSpLocks/>
            <a:stCxn id="570" idx="3"/>
            <a:endCxn id="572" idx="4"/>
          </p:cNvCxnSpPr>
          <p:nvPr/>
        </p:nvCxnSpPr>
        <p:spPr bwMode="auto">
          <a:xfrm rot="16199999" flipV="1">
            <a:off x="4268160" y="4530240"/>
            <a:ext cx="285120" cy="2919960"/>
          </a:xfrm>
          <a:prstGeom prst="curvedConnector5">
            <a:avLst>
              <a:gd name="adj1" fmla="val -91529"/>
              <a:gd name="adj2" fmla="val 50000"/>
              <a:gd name="adj3" fmla="val -91529"/>
            </a:avLst>
          </a:prstGeom>
          <a:ln w="19080">
            <a:solidFill>
              <a:srgbClr val="64B900"/>
            </a:solidFill>
            <a:miter/>
            <a:tailEnd type="triangle" w="med" len="med"/>
          </a:ln>
        </p:spPr>
      </p:cxn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575"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GLCM – descriptors</a:t>
            </a:r>
            <a:endParaRPr lang="en-US" sz="3600" b="0" strike="noStrike" spc="-1">
              <a:solidFill>
                <a:srgbClr val="000000"/>
              </a:solidFill>
              <a:latin typeface="Futura Bk"/>
            </a:endParaRPr>
          </a:p>
        </p:txBody>
      </p:sp>
      <p:sp>
        <p:nvSpPr>
          <p:cNvPr id="576" name=""/>
          <p:cNvSpPr/>
          <p:nvPr/>
        </p:nvSpPr>
        <p:spPr bwMode="auto">
          <a:xfrm>
            <a:off x="0" y="322416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577" name=""/>
          <p:cNvSpPr/>
          <p:nvPr/>
        </p:nvSpPr>
        <p:spPr bwMode="auto">
          <a:xfrm>
            <a:off x="0" y="326232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578" name=""/>
          <p:cNvSpPr txBox="1"/>
          <p:nvPr/>
        </p:nvSpPr>
        <p:spPr bwMode="auto">
          <a:xfrm>
            <a:off x="820800" y="2276640"/>
            <a:ext cx="2455920" cy="64584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r>
                        <m:rPr>
                          <m:lit m:val="on"/>
                          <m:nor m:val="on"/>
                        </m:rPr>
                        <a:rPr/>
                        <m:t>Energy</m:t>
                      </m:r>
                      <m:r>
                        <m:rPr/>
                        <a:rPr/>
                        <m:t>=</m:t>
                      </m:r>
                      <m:nary>
                        <m:naryPr>
                          <m:chr m:val="∑"/>
                          <m:grow m:val="off"/>
                          <m:supHide m:val="on"/>
                          <m:ctrlPr>
                            <a:rPr/>
                          </m:ctrlPr>
                        </m:naryPr>
                        <m:sub>
                          <m:r>
                            <m:rPr/>
                            <a:rPr/>
                            <m:t>i</m:t>
                          </m:r>
                        </m:sub>
                        <m:sup/>
                        <m:e>
                          <m:nary>
                            <m:naryPr>
                              <m:chr m:val="∑"/>
                              <m:grow m:val="off"/>
                              <m:supHide m:val="on"/>
                              <m:ctrlPr>
                                <a:rPr/>
                              </m:ctrlPr>
                            </m:naryPr>
                            <m:sub>
                              <m:r>
                                <m:rPr/>
                                <a:rPr/>
                                <m:t>j</m:t>
                              </m:r>
                            </m:sub>
                            <m:sup/>
                            <m:e>
                              <m:sSup>
                                <m:sSupPr>
                                  <m:ctrlPr>
                                    <a:rPr/>
                                  </m:ctrlPr>
                                </m:sSupPr>
                                <m:e>
                                  <m:r>
                                    <m:rPr/>
                                    <a:rPr/>
                                    <m:t>C</m:t>
                                  </m:r>
                                </m:e>
                                <m:sup>
                                  <m:r>
                                    <m:rPr/>
                                    <a:rPr/>
                                    <m:t>2</m:t>
                                  </m:r>
                                </m:sup>
                              </m:sSup>
                              <m:r>
                                <m:rPr/>
                                <a:rPr/>
                                <m:t>(</m:t>
                              </m:r>
                              <m:r>
                                <m:rPr/>
                                <a:rPr/>
                                <m:t>i</m:t>
                              </m:r>
                              <m:r>
                                <m:rPr/>
                                <a:rPr/>
                                <m:t>,</m:t>
                              </m:r>
                              <m:r>
                                <m:rPr/>
                                <a:rPr/>
                                <m:t>j</m:t>
                              </m:r>
                              <m:r>
                                <m:rPr/>
                                <a:rPr/>
                                <m:t>)</m:t>
                              </m:r>
                            </m:e>
                          </m:nary>
                        </m:e>
                      </m:nary>
                    </m:oMath>
                  </m:oMathPara>
                </a14:m>
              </mc:Choice>
              <mc:Fallback/>
            </mc:AlternateContent>
            <a:endParaRPr/>
          </a:p>
        </p:txBody>
      </p:sp>
      <p:sp>
        <p:nvSpPr>
          <p:cNvPr id="579" name=""/>
          <p:cNvSpPr txBox="1"/>
          <p:nvPr/>
        </p:nvSpPr>
        <p:spPr bwMode="auto">
          <a:xfrm>
            <a:off x="803160" y="2997360"/>
            <a:ext cx="3751200" cy="677879"/>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r>
                        <m:rPr>
                          <m:lit m:val="on"/>
                          <m:nor m:val="on"/>
                        </m:rPr>
                        <a:rPr/>
                        <m:t>Entropy</m:t>
                      </m:r>
                      <m:r>
                        <m:rPr/>
                        <a:rPr/>
                        <m:t>=</m:t>
                      </m:r>
                      <m:r>
                        <m:rPr/>
                        <a:rPr/>
                        <m:t>−</m:t>
                      </m:r>
                      <m:nary>
                        <m:naryPr>
                          <m:chr m:val="∑"/>
                          <m:grow m:val="off"/>
                          <m:supHide m:val="on"/>
                          <m:ctrlPr>
                            <a:rPr/>
                          </m:ctrlPr>
                        </m:naryPr>
                        <m:sub>
                          <m:r>
                            <m:rPr/>
                            <a:rPr/>
                            <m:t>i</m:t>
                          </m:r>
                        </m:sub>
                        <m:sup/>
                        <m:e>
                          <m:nary>
                            <m:naryPr>
                              <m:chr m:val="∑"/>
                              <m:grow m:val="off"/>
                              <m:supHide m:val="on"/>
                              <m:ctrlPr>
                                <a:rPr/>
                              </m:ctrlPr>
                            </m:naryPr>
                            <m:sub>
                              <m:r>
                                <m:rPr/>
                                <a:rPr/>
                                <m:t>j</m:t>
                              </m:r>
                            </m:sub>
                            <m:sup/>
                            <m:e>
                              <m:r>
                                <m:rPr/>
                                <a:rPr/>
                                <m:t>C</m:t>
                              </m:r>
                              <m:r>
                                <m:rPr/>
                                <a:rPr/>
                                <m:t>(</m:t>
                              </m:r>
                              <m:r>
                                <m:rPr/>
                                <a:rPr/>
                                <m:t>i</m:t>
                              </m:r>
                              <m:r>
                                <m:rPr/>
                                <a:rPr/>
                                <m:t>,</m:t>
                              </m:r>
                              <m:r>
                                <m:rPr/>
                                <a:rPr/>
                                <m:t>j</m:t>
                              </m:r>
                              <m:r>
                                <m:rPr/>
                                <a:rPr/>
                                <m:t>)</m:t>
                              </m:r>
                              <m:r>
                                <m:rPr>
                                  <m:lit m:val="on"/>
                                  <m:nor m:val="on"/>
                                </m:rPr>
                                <a:rPr/>
                                <m:t>log</m:t>
                              </m:r>
                              <m:r>
                                <m:rPr/>
                                <a:rPr/>
                                <m:t>C</m:t>
                              </m:r>
                              <m:r>
                                <m:rPr/>
                                <a:rPr/>
                                <m:t>(</m:t>
                              </m:r>
                              <m:r>
                                <m:rPr/>
                                <a:rPr/>
                                <m:t>i</m:t>
                              </m:r>
                              <m:r>
                                <m:rPr/>
                                <a:rPr/>
                                <m:t>,</m:t>
                              </m:r>
                              <m:r>
                                <m:rPr/>
                                <a:rPr/>
                                <m:t>j</m:t>
                              </m:r>
                              <m:r>
                                <m:rPr/>
                                <a:rPr/>
                                <m:t>)</m:t>
                              </m:r>
                            </m:e>
                          </m:nary>
                        </m:e>
                      </m:nary>
                    </m:oMath>
                  </m:oMathPara>
                </a14:m>
              </mc:Choice>
              <mc:Fallback/>
            </mc:AlternateContent>
            <a:endParaRPr/>
          </a:p>
        </p:txBody>
      </p:sp>
      <p:sp>
        <p:nvSpPr>
          <p:cNvPr id="580" name=""/>
          <p:cNvSpPr txBox="1"/>
          <p:nvPr/>
        </p:nvSpPr>
        <p:spPr bwMode="auto">
          <a:xfrm>
            <a:off x="828720" y="3833640"/>
            <a:ext cx="3317760" cy="67500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r>
                        <m:rPr>
                          <m:lit m:val="on"/>
                          <m:nor m:val="on"/>
                        </m:rPr>
                        <a:rPr/>
                        <m:t>Contrast</m:t>
                      </m:r>
                      <m:r>
                        <m:rPr/>
                        <a:rPr/>
                        <m:t>=</m:t>
                      </m:r>
                      <m:nary>
                        <m:naryPr>
                          <m:chr m:val="∑"/>
                          <m:grow m:val="off"/>
                          <m:supHide m:val="on"/>
                          <m:ctrlPr>
                            <a:rPr/>
                          </m:ctrlPr>
                        </m:naryPr>
                        <m:sub>
                          <m:r>
                            <m:rPr/>
                            <a:rPr/>
                            <m:t>i</m:t>
                          </m:r>
                        </m:sub>
                        <m:sup/>
                        <m:e>
                          <m:nary>
                            <m:naryPr>
                              <m:chr m:val="∑"/>
                              <m:grow m:val="off"/>
                              <m:supHide m:val="on"/>
                              <m:ctrlPr>
                                <a:rPr/>
                              </m:ctrlPr>
                            </m:naryPr>
                            <m:sub>
                              <m:r>
                                <m:rPr/>
                                <a:rPr/>
                                <m:t>j</m:t>
                              </m:r>
                            </m:sub>
                            <m:sup/>
                            <m:e>
                              <m:r>
                                <m:rPr/>
                                <a:rPr/>
                                <m:t>(</m:t>
                              </m:r>
                              <m:r>
                                <m:rPr/>
                                <a:rPr/>
                                <m:t>i</m:t>
                              </m:r>
                              <m:r>
                                <m:rPr/>
                                <a:rPr/>
                                <m:t>−</m:t>
                              </m:r>
                              <m:r>
                                <m:rPr/>
                                <a:rPr/>
                                <m:t>j</m:t>
                              </m:r>
                              <m:sSup>
                                <m:sSupPr>
                                  <m:ctrlPr>
                                    <a:rPr/>
                                  </m:ctrlPr>
                                </m:sSupPr>
                                <m:e>
                                  <m:r>
                                    <m:rPr/>
                                    <a:rPr/>
                                    <m:t>)</m:t>
                                  </m:r>
                                </m:e>
                                <m:sup>
                                  <m:r>
                                    <m:rPr/>
                                    <a:rPr/>
                                    <m:t>2</m:t>
                                  </m:r>
                                </m:sup>
                              </m:sSup>
                              <m:r>
                                <m:rPr/>
                                <a:rPr/>
                                <m:t>C</m:t>
                              </m:r>
                              <m:r>
                                <m:rPr/>
                                <a:rPr/>
                                <m:t>(</m:t>
                              </m:r>
                              <m:r>
                                <m:rPr/>
                                <a:rPr/>
                                <m:t>i</m:t>
                              </m:r>
                              <m:r>
                                <m:rPr/>
                                <a:rPr/>
                                <m:t>,</m:t>
                              </m:r>
                              <m:r>
                                <m:rPr/>
                                <a:rPr/>
                                <m:t>j</m:t>
                              </m:r>
                              <m:r>
                                <m:rPr/>
                                <a:rPr/>
                                <m:t>)</m:t>
                              </m:r>
                            </m:e>
                          </m:nary>
                        </m:e>
                      </m:nary>
                    </m:oMath>
                  </m:oMathPara>
                </a14:m>
              </mc:Choice>
              <mc:Fallback/>
            </mc:AlternateContent>
            <a:endParaRPr/>
          </a:p>
        </p:txBody>
      </p:sp>
      <p:sp>
        <p:nvSpPr>
          <p:cNvPr id="581" name=""/>
          <p:cNvSpPr txBox="1"/>
          <p:nvPr/>
        </p:nvSpPr>
        <p:spPr bwMode="auto">
          <a:xfrm>
            <a:off x="828720" y="4508640"/>
            <a:ext cx="5256000" cy="84132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r>
                        <m:rPr>
                          <m:lit m:val="on"/>
                          <m:nor m:val="on"/>
                        </m:rPr>
                        <a:rPr/>
                        <m:t>Inverse</m:t>
                      </m:r>
                      <m:r>
                        <m:rPr/>
                        <a:rPr/>
                        <m:t> </m:t>
                      </m:r>
                      <m:r>
                        <m:rPr>
                          <m:lit m:val="on"/>
                          <m:nor m:val="on"/>
                        </m:rPr>
                        <a:rPr/>
                        <m:t>Difference</m:t>
                      </m:r>
                      <m:r>
                        <m:rPr/>
                        <a:rPr/>
                        <m:t> </m:t>
                      </m:r>
                      <m:r>
                        <m:rPr>
                          <m:lit m:val="on"/>
                          <m:nor m:val="on"/>
                        </m:rPr>
                        <a:rPr/>
                        <m:t>Moment</m:t>
                      </m:r>
                      <m:r>
                        <m:rPr/>
                        <a:rPr/>
                        <m:t>=</m:t>
                      </m:r>
                      <m:nary>
                        <m:naryPr>
                          <m:chr m:val="∑"/>
                          <m:grow m:val="off"/>
                          <m:supHide m:val="on"/>
                          <m:ctrlPr>
                            <a:rPr/>
                          </m:ctrlPr>
                        </m:naryPr>
                        <m:sub>
                          <m:r>
                            <m:rPr/>
                            <a:rPr/>
                            <m:t>i</m:t>
                          </m:r>
                        </m:sub>
                        <m:sup/>
                        <m:e>
                          <m:nary>
                            <m:naryPr>
                              <m:chr m:val="∑"/>
                              <m:grow m:val="off"/>
                              <m:supHide m:val="on"/>
                              <m:ctrlPr>
                                <a:rPr/>
                              </m:ctrlPr>
                            </m:naryPr>
                            <m:sub>
                              <m:r>
                                <m:rPr/>
                                <a:rPr/>
                                <m:t>j</m:t>
                              </m:r>
                            </m:sub>
                            <m:sup/>
                            <m:e>
                              <m:f>
                                <m:fPr>
                                  <m:ctrlPr>
                                    <a:rPr/>
                                  </m:ctrlPr>
                                </m:fPr>
                                <m:num>
                                  <m:r>
                                    <m:rPr/>
                                    <a:rPr/>
                                    <m:t>C</m:t>
                                  </m:r>
                                  <m:r>
                                    <m:rPr/>
                                    <a:rPr/>
                                    <m:t>(</m:t>
                                  </m:r>
                                  <m:r>
                                    <m:rPr/>
                                    <a:rPr/>
                                    <m:t>i</m:t>
                                  </m:r>
                                  <m:r>
                                    <m:rPr/>
                                    <a:rPr/>
                                    <m:t>,</m:t>
                                  </m:r>
                                  <m:r>
                                    <m:rPr/>
                                    <a:rPr/>
                                    <m:t>j</m:t>
                                  </m:r>
                                  <m:r>
                                    <m:rPr/>
                                    <a:rPr/>
                                    <m:t>)</m:t>
                                  </m:r>
                                </m:num>
                                <m:den>
                                  <m:r>
                                    <m:rPr/>
                                    <a:rPr/>
                                    <m:t>1</m:t>
                                  </m:r>
                                  <m:r>
                                    <m:rPr/>
                                    <a:rPr/>
                                    <m:t>+</m:t>
                                  </m:r>
                                  <m:r>
                                    <m:rPr/>
                                    <a:rPr/>
                                    <m:t>(</m:t>
                                  </m:r>
                                  <m:r>
                                    <m:rPr/>
                                    <a:rPr/>
                                    <m:t>i</m:t>
                                  </m:r>
                                  <m:r>
                                    <m:rPr/>
                                    <a:rPr/>
                                    <m:t>−</m:t>
                                  </m:r>
                                  <m:r>
                                    <m:rPr/>
                                    <a:rPr/>
                                    <m:t>j</m:t>
                                  </m:r>
                                  <m:sSup>
                                    <m:sSupPr>
                                      <m:ctrlPr>
                                        <a:rPr/>
                                      </m:ctrlPr>
                                    </m:sSupPr>
                                    <m:e>
                                      <m:r>
                                        <m:rPr/>
                                        <a:rPr/>
                                        <m:t>)</m:t>
                                      </m:r>
                                    </m:e>
                                    <m:sup>
                                      <m:r>
                                        <m:rPr/>
                                        <a:rPr/>
                                        <m:t>2</m:t>
                                      </m:r>
                                    </m:sup>
                                  </m:sSup>
                                </m:den>
                              </m:f>
                            </m:e>
                          </m:nary>
                        </m:e>
                      </m:nary>
                    </m:oMath>
                  </m:oMathPara>
                </a14:m>
              </mc:Choice>
              <mc:Fallback/>
            </mc:AlternateContent>
            <a:endParaRPr/>
          </a:p>
        </p:txBody>
      </p:sp>
      <p:sp>
        <p:nvSpPr>
          <p:cNvPr id="582" name=""/>
          <p:cNvSpPr/>
          <p:nvPr/>
        </p:nvSpPr>
        <p:spPr bwMode="auto">
          <a:xfrm>
            <a:off x="468360" y="1534320"/>
            <a:ext cx="7848720" cy="39888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71B4"/>
                </a:solidFill>
                <a:latin typeface="Tahoma"/>
              </a:rPr>
              <a:t>Statistical parameters calculated from GLCM values</a:t>
            </a:r>
            <a:r>
              <a:rPr lang="ru-RU" sz="2000" b="0" strike="noStrike" spc="-1">
                <a:solidFill>
                  <a:srgbClr val="0071B4"/>
                </a:solidFill>
                <a:latin typeface="Tahoma"/>
              </a:rPr>
              <a:t>: </a:t>
            </a:r>
            <a:endParaRPr lang="en-US" sz="2000" b="0" strike="noStrike" spc="-1">
              <a:solidFill>
                <a:srgbClr val="000000"/>
              </a:solidFill>
              <a:latin typeface="Arial"/>
            </a:endParaRPr>
          </a:p>
        </p:txBody>
      </p:sp>
      <p:sp>
        <p:nvSpPr>
          <p:cNvPr id="583" name=""/>
          <p:cNvSpPr/>
          <p:nvPr/>
        </p:nvSpPr>
        <p:spPr bwMode="auto">
          <a:xfrm>
            <a:off x="3203640" y="2138760"/>
            <a:ext cx="4464000" cy="64260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5F5F5F"/>
                </a:solidFill>
                <a:latin typeface="Futura Bk"/>
              </a:rPr>
              <a:t> – </a:t>
            </a:r>
            <a:r>
              <a:rPr lang="en-US" sz="1800" b="0" strike="noStrike" spc="-1">
                <a:solidFill>
                  <a:srgbClr val="5F5F5F"/>
                </a:solidFill>
                <a:latin typeface="Futura Bk"/>
              </a:rPr>
              <a:t>is minimal</a:t>
            </a:r>
            <a:r>
              <a:rPr lang="ru-RU" sz="1800" b="0" strike="noStrike" spc="-1">
                <a:solidFill>
                  <a:srgbClr val="5F5F5F"/>
                </a:solidFill>
                <a:latin typeface="Futura Bk"/>
              </a:rPr>
              <a:t> </a:t>
            </a:r>
            <a:r>
              <a:rPr lang="en-US" sz="1800" b="0" strike="noStrike" spc="-1">
                <a:solidFill>
                  <a:srgbClr val="5F5F5F"/>
                </a:solidFill>
                <a:latin typeface="Futura Bk"/>
              </a:rPr>
              <a:t>when all elements are equal</a:t>
            </a:r>
            <a:endParaRPr lang="en-US" sz="1800" b="0" strike="noStrike" spc="-1">
              <a:solidFill>
                <a:srgbClr val="000000"/>
              </a:solidFill>
              <a:latin typeface="Arial"/>
            </a:endParaRPr>
          </a:p>
        </p:txBody>
      </p:sp>
      <p:sp>
        <p:nvSpPr>
          <p:cNvPr id="584" name=""/>
          <p:cNvSpPr/>
          <p:nvPr/>
        </p:nvSpPr>
        <p:spPr bwMode="auto">
          <a:xfrm>
            <a:off x="4483080" y="2941920"/>
            <a:ext cx="4248000" cy="82512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600" b="0" strike="noStrike" spc="-1">
                <a:solidFill>
                  <a:srgbClr val="5F5F5F"/>
                </a:solidFill>
                <a:latin typeface="Tahoma"/>
              </a:rPr>
              <a:t> – </a:t>
            </a:r>
            <a:r>
              <a:rPr lang="en-US" sz="1600" b="0" strike="noStrike" spc="-1">
                <a:solidFill>
                  <a:srgbClr val="5F5F5F"/>
                </a:solidFill>
                <a:latin typeface="Tahoma"/>
              </a:rPr>
              <a:t>a measure of chaos, </a:t>
            </a:r>
            <a:br>
              <a:rPr sz="1600"/>
            </a:br>
            <a:r>
              <a:rPr lang="en-US" sz="1600" b="0" strike="noStrike" spc="-1">
                <a:solidFill>
                  <a:srgbClr val="5F5F5F"/>
                </a:solidFill>
                <a:latin typeface="Tahoma"/>
              </a:rPr>
              <a:t>    is maximal when all elements are equal</a:t>
            </a:r>
            <a:endParaRPr lang="en-US" sz="1600" b="0" strike="noStrike" spc="-1">
              <a:solidFill>
                <a:srgbClr val="000000"/>
              </a:solidFill>
              <a:latin typeface="Arial"/>
            </a:endParaRPr>
          </a:p>
        </p:txBody>
      </p:sp>
      <p:sp>
        <p:nvSpPr>
          <p:cNvPr id="585" name=""/>
          <p:cNvSpPr/>
          <p:nvPr/>
        </p:nvSpPr>
        <p:spPr bwMode="auto">
          <a:xfrm>
            <a:off x="4284720" y="3805560"/>
            <a:ext cx="4248000" cy="82512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600" b="0" strike="noStrike" spc="-1">
                <a:solidFill>
                  <a:srgbClr val="5F5F5F"/>
                </a:solidFill>
                <a:latin typeface="Tahoma"/>
              </a:rPr>
              <a:t>– </a:t>
            </a:r>
            <a:r>
              <a:rPr lang="en-US" sz="1600" b="0" strike="noStrike" spc="-1">
                <a:solidFill>
                  <a:srgbClr val="5F5F5F"/>
                </a:solidFill>
                <a:latin typeface="Tahoma"/>
              </a:rPr>
              <a:t>has small values when big elements are </a:t>
            </a:r>
            <a:br>
              <a:rPr sz="1600"/>
            </a:br>
            <a:r>
              <a:rPr lang="en-US" sz="1600" b="0" strike="noStrike" spc="-1">
                <a:solidFill>
                  <a:srgbClr val="5F5F5F"/>
                </a:solidFill>
                <a:latin typeface="Tahoma"/>
              </a:rPr>
              <a:t>   near the main diagonal</a:t>
            </a:r>
            <a:endParaRPr lang="en-US" sz="1600" b="0" strike="noStrike" spc="-1">
              <a:solidFill>
                <a:srgbClr val="000000"/>
              </a:solidFill>
              <a:latin typeface="Arial"/>
            </a:endParaRPr>
          </a:p>
        </p:txBody>
      </p:sp>
      <p:sp>
        <p:nvSpPr>
          <p:cNvPr id="586" name=""/>
          <p:cNvSpPr/>
          <p:nvPr/>
        </p:nvSpPr>
        <p:spPr bwMode="auto">
          <a:xfrm>
            <a:off x="4284720" y="5318280"/>
            <a:ext cx="4248000" cy="82512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600" b="0" strike="noStrike" spc="-1">
                <a:solidFill>
                  <a:srgbClr val="5F5F5F"/>
                </a:solidFill>
                <a:latin typeface="Tahoma"/>
              </a:rPr>
              <a:t>– </a:t>
            </a:r>
            <a:r>
              <a:rPr lang="en-US" sz="1600" b="0" strike="noStrike" spc="-1">
                <a:solidFill>
                  <a:srgbClr val="5F5F5F"/>
                </a:solidFill>
                <a:latin typeface="Tahoma"/>
              </a:rPr>
              <a:t>has small values when big elements are </a:t>
            </a:r>
            <a:br>
              <a:rPr sz="1600"/>
            </a:br>
            <a:r>
              <a:rPr lang="en-US" sz="1600" b="0" strike="noStrike" spc="-1">
                <a:solidFill>
                  <a:srgbClr val="5F5F5F"/>
                </a:solidFill>
                <a:latin typeface="Tahoma"/>
              </a:rPr>
              <a:t>   far from the main diagonal</a:t>
            </a:r>
            <a:endParaRPr lang="en-US" sz="16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587"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Texture features: Tamura features</a:t>
            </a:r>
            <a:endParaRPr lang="en-US" sz="3600" b="0" strike="noStrike" spc="-1">
              <a:solidFill>
                <a:srgbClr val="000000"/>
              </a:solidFill>
              <a:latin typeface="Futura Bk"/>
            </a:endParaRPr>
          </a:p>
        </p:txBody>
      </p:sp>
      <p:sp>
        <p:nvSpPr>
          <p:cNvPr id="588" name=""/>
          <p:cNvSpPr/>
          <p:nvPr/>
        </p:nvSpPr>
        <p:spPr bwMode="auto">
          <a:xfrm>
            <a:off x="0" y="28144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589" name=""/>
          <p:cNvSpPr/>
          <p:nvPr/>
        </p:nvSpPr>
        <p:spPr bwMode="auto">
          <a:xfrm>
            <a:off x="0" y="275760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590" name=""/>
          <p:cNvSpPr/>
          <p:nvPr/>
        </p:nvSpPr>
        <p:spPr bwMode="auto">
          <a:xfrm>
            <a:off x="0" y="322416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591" name=""/>
          <p:cNvSpPr/>
          <p:nvPr/>
        </p:nvSpPr>
        <p:spPr bwMode="auto">
          <a:xfrm>
            <a:off x="0" y="332892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592" name=""/>
          <p:cNvSpPr/>
          <p:nvPr/>
        </p:nvSpPr>
        <p:spPr bwMode="auto">
          <a:xfrm>
            <a:off x="60120" y="1462680"/>
            <a:ext cx="6903000" cy="3988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71B4"/>
                </a:solidFill>
                <a:latin typeface="Tahoma"/>
              </a:rPr>
              <a:t>Features, which are important for visual perception</a:t>
            </a:r>
            <a:r>
              <a:rPr lang="ru-RU" sz="2000" b="0" strike="noStrike" spc="-1">
                <a:solidFill>
                  <a:srgbClr val="0071B4"/>
                </a:solidFill>
                <a:latin typeface="Tahoma"/>
              </a:rPr>
              <a:t>:</a:t>
            </a:r>
            <a:r>
              <a:rPr lang="ru-RU" sz="2000" b="0" strike="noStrike" spc="-1">
                <a:solidFill>
                  <a:srgbClr val="64B900"/>
                </a:solidFill>
                <a:latin typeface="Tahoma"/>
              </a:rPr>
              <a:t> </a:t>
            </a:r>
            <a:endParaRPr lang="en-US" sz="2000" b="0" strike="noStrike" spc="-1">
              <a:solidFill>
                <a:srgbClr val="000000"/>
              </a:solidFill>
              <a:latin typeface="Arial"/>
            </a:endParaRPr>
          </a:p>
        </p:txBody>
      </p:sp>
      <p:sp>
        <p:nvSpPr>
          <p:cNvPr id="593" name=""/>
          <p:cNvSpPr/>
          <p:nvPr/>
        </p:nvSpPr>
        <p:spPr bwMode="auto">
          <a:xfrm>
            <a:off x="0" y="326232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594" name=""/>
          <p:cNvSpPr/>
          <p:nvPr/>
        </p:nvSpPr>
        <p:spPr bwMode="auto">
          <a:xfrm>
            <a:off x="757080" y="2205000"/>
            <a:ext cx="3167280" cy="2879640"/>
          </a:xfrm>
          <a:prstGeom prst="rect">
            <a:avLst/>
          </a:prstGeom>
          <a:noFill/>
          <a:ln w="0">
            <a:noFill/>
          </a:ln>
        </p:spPr>
        <p:style>
          <a:lnRef idx="0"/>
          <a:fillRef idx="0"/>
          <a:effectRef idx="0"/>
          <a:fontRef idx="minor"/>
        </p:style>
        <p:txBody>
          <a:bodyPr lIns="90000" tIns="46800" rIns="90000" bIns="46800" anchor="t">
            <a:normAutofit fontScale="93333"/>
          </a:bodyPr>
          <a:p>
            <a:pPr marL="228600" indent="-228600">
              <a:lnSpc>
                <a:spcPct val="90000"/>
              </a:lnSpc>
              <a:spcBef>
                <a:spcPts val="901"/>
              </a:spcBef>
              <a:spcAft>
                <a:spcPts val="601"/>
              </a:spcAft>
              <a:buClr>
                <a:srgbClr val="000000"/>
              </a:buClr>
              <a:buSzPct val="85000"/>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ea typeface="Arial"/>
              </a:rPr>
              <a:t>Coarseness</a:t>
            </a:r>
            <a:endParaRPr lang="en-US" sz="2400" b="0" strike="noStrike" spc="-1">
              <a:solidFill>
                <a:srgbClr val="000000"/>
              </a:solidFill>
              <a:latin typeface="Arial"/>
            </a:endParaRPr>
          </a:p>
          <a:p>
            <a:pPr marL="228600" indent="-228600">
              <a:lnSpc>
                <a:spcPct val="90000"/>
              </a:lnSpc>
              <a:spcBef>
                <a:spcPts val="901"/>
              </a:spcBef>
              <a:spcAft>
                <a:spcPts val="601"/>
              </a:spcAft>
              <a:buClr>
                <a:srgbClr val="000000"/>
              </a:buClr>
              <a:buSzPct val="85000"/>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ea typeface="Arial"/>
              </a:rPr>
              <a:t>Contrast</a:t>
            </a:r>
            <a:endParaRPr lang="en-US" sz="2400" b="0" strike="noStrike" spc="-1">
              <a:solidFill>
                <a:srgbClr val="000000"/>
              </a:solidFill>
              <a:latin typeface="Arial"/>
            </a:endParaRPr>
          </a:p>
          <a:p>
            <a:pPr marL="228600" indent="-228600">
              <a:lnSpc>
                <a:spcPct val="90000"/>
              </a:lnSpc>
              <a:spcBef>
                <a:spcPts val="901"/>
              </a:spcBef>
              <a:spcAft>
                <a:spcPts val="601"/>
              </a:spcAft>
              <a:buClr>
                <a:srgbClr val="000000"/>
              </a:buClr>
              <a:buSzPct val="85000"/>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ea typeface="Arial"/>
              </a:rPr>
              <a:t>Directionality</a:t>
            </a:r>
            <a:endParaRPr lang="en-US" sz="2400" b="0" strike="noStrike" spc="-1">
              <a:solidFill>
                <a:srgbClr val="000000"/>
              </a:solidFill>
              <a:latin typeface="Arial"/>
            </a:endParaRPr>
          </a:p>
          <a:p>
            <a:pPr marL="228600" indent="-228600">
              <a:lnSpc>
                <a:spcPct val="90000"/>
              </a:lnSpc>
              <a:spcBef>
                <a:spcPts val="901"/>
              </a:spcBef>
              <a:spcAft>
                <a:spcPts val="601"/>
              </a:spcAft>
              <a:buClr>
                <a:srgbClr val="000000"/>
              </a:buClr>
              <a:buSzPct val="85000"/>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ea typeface="Arial"/>
              </a:rPr>
              <a:t>Line-likeness</a:t>
            </a:r>
            <a:endParaRPr lang="en-US" sz="2400" b="0" strike="noStrike" spc="-1">
              <a:solidFill>
                <a:srgbClr val="000000"/>
              </a:solidFill>
              <a:latin typeface="Arial"/>
            </a:endParaRPr>
          </a:p>
          <a:p>
            <a:pPr marL="228600" indent="-228600">
              <a:lnSpc>
                <a:spcPct val="90000"/>
              </a:lnSpc>
              <a:spcBef>
                <a:spcPts val="901"/>
              </a:spcBef>
              <a:spcAft>
                <a:spcPts val="601"/>
              </a:spcAft>
              <a:buClr>
                <a:srgbClr val="000000"/>
              </a:buClr>
              <a:buSzPct val="85000"/>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ea typeface="Arial"/>
              </a:rPr>
              <a:t>Regularity</a:t>
            </a:r>
            <a:endParaRPr lang="en-US" sz="2400" b="0" strike="noStrike" spc="-1">
              <a:solidFill>
                <a:srgbClr val="000000"/>
              </a:solidFill>
              <a:latin typeface="Arial"/>
            </a:endParaRPr>
          </a:p>
          <a:p>
            <a:pPr marL="228600" indent="-228600">
              <a:lnSpc>
                <a:spcPct val="90000"/>
              </a:lnSpc>
              <a:spcBef>
                <a:spcPts val="901"/>
              </a:spcBef>
              <a:spcAft>
                <a:spcPts val="601"/>
              </a:spcAft>
              <a:buClr>
                <a:srgbClr val="000000"/>
              </a:buClr>
              <a:buSzPct val="85000"/>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ea typeface="Arial"/>
              </a:rPr>
              <a:t>Roughness</a:t>
            </a:r>
            <a:endParaRPr lang="en-US" sz="2400" b="0" strike="noStrike" spc="-1">
              <a:solidFill>
                <a:srgbClr val="000000"/>
              </a:solidFill>
              <a:latin typeface="Arial"/>
            </a:endParaRPr>
          </a:p>
        </p:txBody>
      </p:sp>
      <p:grpSp>
        <p:nvGrpSpPr>
          <p:cNvPr id="595" name=""/>
          <p:cNvGrpSpPr/>
          <p:nvPr/>
        </p:nvGrpSpPr>
        <p:grpSpPr bwMode="auto">
          <a:xfrm>
            <a:off x="3564000" y="2188440"/>
            <a:ext cx="3889440" cy="1384920"/>
            <a:chOff x="3564000" y="2188440"/>
            <a:chExt cx="3889440" cy="1384920"/>
          </a:xfrm>
        </p:grpSpPr>
        <p:sp>
          <p:nvSpPr>
            <p:cNvPr id="596" name=""/>
            <p:cNvSpPr/>
            <p:nvPr/>
          </p:nvSpPr>
          <p:spPr bwMode="auto">
            <a:xfrm>
              <a:off x="3564000" y="2205000"/>
              <a:ext cx="216000" cy="1368360"/>
            </a:xfrm>
            <a:custGeom>
              <a:avLst/>
              <a:gdLst>
                <a:gd name="textAreaLeft" fmla="*/ 0 w 216000"/>
                <a:gd name="textAreaRight" fmla="*/ 78120 w 216000"/>
                <a:gd name="textAreaTop" fmla="*/ 35640 h 1368360"/>
                <a:gd name="textAreaBottom" fmla="*/ 1332720 h 1368360"/>
              </a:gdLst>
              <a:ahLst/>
              <a:cxnLst/>
              <a:rect l="textAreaLeft" t="textAreaTop" r="textAreaRight" b="textAreaBottom"/>
              <a:pathLst>
                <a:path w="21600" h="21600" fill="norm" stroke="1" extrusionOk="0">
                  <a:moveTo>
                    <a:pt x="0" y="0"/>
                  </a:moveTo>
                  <a:cubicBezTo>
                    <a:pt x="5400" y="0"/>
                    <a:pt x="10800" y="900"/>
                    <a:pt x="10800" y="1800"/>
                  </a:cubicBezTo>
                  <a:lnTo>
                    <a:pt x="10800" y="9000"/>
                  </a:lnTo>
                  <a:cubicBezTo>
                    <a:pt x="10800" y="9900"/>
                    <a:pt x="16200" y="10800"/>
                    <a:pt x="21600" y="10800"/>
                  </a:cubicBezTo>
                  <a:cubicBezTo>
                    <a:pt x="16200" y="10800"/>
                    <a:pt x="10800" y="11700"/>
                    <a:pt x="10800" y="12600"/>
                  </a:cubicBezTo>
                  <a:lnTo>
                    <a:pt x="10800" y="19800"/>
                  </a:lnTo>
                  <a:cubicBezTo>
                    <a:pt x="10800" y="20700"/>
                    <a:pt x="5400" y="21600"/>
                    <a:pt x="0" y="21600"/>
                  </a:cubicBezTo>
                </a:path>
              </a:pathLst>
            </a:custGeom>
            <a:noFill/>
            <a:ln w="19080">
              <a:solidFill>
                <a:srgbClr val="64B900"/>
              </a:solidFill>
              <a:miter/>
            </a:ln>
          </p:spPr>
          <p:style>
            <a:lnRef idx="0"/>
            <a:fillRef idx="0"/>
            <a:effectRef idx="0"/>
            <a:fontRef idx="minor"/>
          </p:style>
          <p:txBody>
            <a:bodyPr wrap="none" lIns="90000" tIns="46800" rIns="90000" bIns="46800" anchor="ctr">
              <a:noAutofit/>
            </a:bodyPr>
            <a:p>
              <a:pPr marL="343080" indent="-343080"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597" name=""/>
            <p:cNvSpPr/>
            <p:nvPr/>
          </p:nvSpPr>
          <p:spPr bwMode="auto">
            <a:xfrm>
              <a:off x="3926160" y="2382480"/>
              <a:ext cx="3527280" cy="934200"/>
            </a:xfrm>
            <a:prstGeom prst="rect">
              <a:avLst/>
            </a:prstGeom>
            <a:noFill/>
            <a:ln w="0">
              <a:noFill/>
            </a:ln>
          </p:spPr>
          <p:style>
            <a:lnRef idx="0"/>
            <a:fillRef idx="0"/>
            <a:effectRef idx="0"/>
            <a:fontRef idx="minor"/>
          </p:style>
          <p:txBody>
            <a:bodyPr lIns="90000" tIns="46800" rIns="90000" bIns="46800" anchor="ctr">
              <a:spAutoFit/>
            </a:bodyPr>
            <a:p>
              <a:pPr>
                <a:lnSpc>
                  <a:spcPct val="114999"/>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600" b="0" strike="noStrike" spc="-1">
                  <a:solidFill>
                    <a:srgbClr val="000000"/>
                  </a:solidFill>
                  <a:latin typeface="Tahoma"/>
                </a:rPr>
                <a:t>Coarseness</a:t>
              </a:r>
              <a:r>
                <a:rPr lang="ru-RU" sz="1600" b="0" strike="noStrike" spc="-1">
                  <a:solidFill>
                    <a:srgbClr val="000000"/>
                  </a:solidFill>
                  <a:latin typeface="Tahoma"/>
                </a:rPr>
                <a:t>-</a:t>
              </a:r>
              <a:r>
                <a:rPr lang="en-US" sz="1600" b="0" strike="noStrike" spc="-1">
                  <a:solidFill>
                    <a:srgbClr val="000000"/>
                  </a:solidFill>
                  <a:latin typeface="Tahoma"/>
                </a:rPr>
                <a:t>coNtrast</a:t>
              </a:r>
              <a:r>
                <a:rPr lang="ru-RU" sz="1600" b="0" strike="noStrike" spc="-1">
                  <a:solidFill>
                    <a:srgbClr val="000000"/>
                  </a:solidFill>
                  <a:latin typeface="Tahoma"/>
                </a:rPr>
                <a:t>-</a:t>
              </a:r>
              <a:r>
                <a:rPr lang="en-US" sz="1600" b="0" strike="noStrike" spc="-1">
                  <a:solidFill>
                    <a:srgbClr val="000000"/>
                  </a:solidFill>
                  <a:latin typeface="Tahoma"/>
                </a:rPr>
                <a:t>Directionality</a:t>
              </a:r>
              <a:r>
                <a:rPr lang="ru-RU" sz="1600" b="0" strike="noStrike" spc="-1">
                  <a:solidFill>
                    <a:srgbClr val="000000"/>
                  </a:solidFill>
                  <a:latin typeface="Tahoma"/>
                </a:rPr>
                <a:t> </a:t>
              </a:r>
              <a:r>
                <a:rPr lang="en-US" sz="1600" b="0" strike="noStrike" spc="-1">
                  <a:solidFill>
                    <a:srgbClr val="000000"/>
                  </a:solidFill>
                  <a:latin typeface="Tahoma"/>
                </a:rPr>
                <a:t>– points in 3-D space</a:t>
              </a:r>
              <a:r>
                <a:rPr lang="ru-RU" sz="1600" b="0" strike="noStrike" spc="-1">
                  <a:solidFill>
                    <a:srgbClr val="000000"/>
                  </a:solidFill>
                  <a:latin typeface="Tahoma"/>
                </a:rPr>
                <a:t> </a:t>
              </a:r>
              <a:r>
                <a:rPr lang="en-US" sz="1600" b="0" strike="noStrike" spc="-1">
                  <a:solidFill>
                    <a:srgbClr val="000000"/>
                  </a:solidFill>
                  <a:latin typeface="Tahoma"/>
                </a:rPr>
                <a:t>CND</a:t>
              </a:r>
              <a:r>
                <a:rPr lang="ru-RU" sz="1400" b="0" strike="noStrike" spc="-1">
                  <a:solidFill>
                    <a:srgbClr val="000000"/>
                  </a:solidFill>
                  <a:latin typeface="Tahoma"/>
                </a:rPr>
                <a:t> </a:t>
              </a:r>
              <a:endParaRPr lang="en-US" sz="1400" b="0" strike="noStrike" spc="-1">
                <a:solidFill>
                  <a:srgbClr val="000000"/>
                </a:solidFill>
                <a:latin typeface="Arial"/>
              </a:endParaRPr>
            </a:p>
          </p:txBody>
        </p:sp>
        <p:sp>
          <p:nvSpPr>
            <p:cNvPr id="598" name=""/>
            <p:cNvSpPr/>
            <p:nvPr/>
          </p:nvSpPr>
          <p:spPr bwMode="auto">
            <a:xfrm>
              <a:off x="3825720" y="2188440"/>
              <a:ext cx="1994400" cy="3682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64B900"/>
                  </a:solidFill>
                  <a:latin typeface="Tahoma"/>
                </a:rPr>
                <a:t>Tamura image:</a:t>
              </a:r>
              <a:r>
                <a:rPr lang="ru-RU" sz="1800" b="0" strike="noStrike" spc="-1">
                  <a:solidFill>
                    <a:srgbClr val="64B900"/>
                  </a:solidFill>
                  <a:latin typeface="Tahoma"/>
                </a:rPr>
                <a:t> </a:t>
              </a:r>
              <a:endParaRPr lang="en-US" sz="1800" b="0" strike="noStrike" spc="-1">
                <a:solidFill>
                  <a:srgbClr val="000000"/>
                </a:solidFill>
                <a:latin typeface="Arial"/>
              </a:endParaRPr>
            </a:p>
          </p:txBody>
        </p:sp>
      </p:grpSp>
      <p:grpSp>
        <p:nvGrpSpPr>
          <p:cNvPr id="599" name=""/>
          <p:cNvGrpSpPr/>
          <p:nvPr/>
        </p:nvGrpSpPr>
        <p:grpSpPr bwMode="auto">
          <a:xfrm>
            <a:off x="3903120" y="3436200"/>
            <a:ext cx="4053240" cy="1216800"/>
            <a:chOff x="3903120" y="3436200"/>
            <a:chExt cx="4053240" cy="1216800"/>
          </a:xfrm>
        </p:grpSpPr>
        <p:sp>
          <p:nvSpPr>
            <p:cNvPr id="600" name=""/>
            <p:cNvSpPr/>
            <p:nvPr/>
          </p:nvSpPr>
          <p:spPr bwMode="auto">
            <a:xfrm>
              <a:off x="3997080" y="3860640"/>
              <a:ext cx="3959280" cy="792360"/>
            </a:xfrm>
            <a:prstGeom prst="rect">
              <a:avLst/>
            </a:prstGeom>
            <a:noFill/>
            <a:ln w="0">
              <a:noFill/>
            </a:ln>
          </p:spPr>
          <p:style>
            <a:lnRef idx="0"/>
            <a:fillRef idx="0"/>
            <a:effectRef idx="0"/>
            <a:fontRef idx="minor"/>
          </p:style>
          <p:txBody>
            <a:bodyPr lIns="90000" tIns="46800" rIns="90000" bIns="46800" anchor="t">
              <a:normAutofit/>
            </a:bodyPr>
            <a:p>
              <a:pPr marL="228600" indent="-228600">
                <a:lnSpc>
                  <a:spcPct val="90000"/>
                </a:lnSpc>
                <a:spcBef>
                  <a:spcPts val="601"/>
                </a:spcBef>
                <a:spcAft>
                  <a:spcPts val="400"/>
                </a:spcAft>
                <a:buClr>
                  <a:srgbClr val="000000"/>
                </a:buClr>
                <a:buSzPct val="85000"/>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600" b="0" strike="noStrike" spc="-1">
                  <a:solidFill>
                    <a:srgbClr val="000000"/>
                  </a:solidFill>
                  <a:latin typeface="Futura Bk"/>
                  <a:ea typeface="Arial"/>
                </a:rPr>
                <a:t>Euclidean distance in</a:t>
              </a:r>
              <a:r>
                <a:rPr lang="ru-RU" sz="1600" b="0" strike="noStrike" spc="-1">
                  <a:solidFill>
                    <a:srgbClr val="000000"/>
                  </a:solidFill>
                  <a:latin typeface="Futura Bk"/>
                  <a:ea typeface="Arial"/>
                </a:rPr>
                <a:t> </a:t>
              </a:r>
              <a:r>
                <a:rPr lang="en-US" sz="1600" b="0" strike="noStrike" spc="-1">
                  <a:solidFill>
                    <a:srgbClr val="000000"/>
                  </a:solidFill>
                  <a:latin typeface="Futura Bk"/>
                  <a:ea typeface="Arial"/>
                </a:rPr>
                <a:t>3D</a:t>
              </a:r>
              <a:r>
                <a:rPr lang="ru-RU" sz="1600" b="0" strike="noStrike" spc="-1">
                  <a:solidFill>
                    <a:srgbClr val="000000"/>
                  </a:solidFill>
                  <a:latin typeface="Futura Bk"/>
                  <a:ea typeface="Arial"/>
                </a:rPr>
                <a:t> (</a:t>
              </a:r>
              <a:r>
                <a:rPr lang="en-US" sz="1600" b="0" strike="noStrike" spc="-1">
                  <a:solidFill>
                    <a:srgbClr val="000000"/>
                  </a:solidFill>
                  <a:latin typeface="Futura Bk"/>
                  <a:ea typeface="Arial"/>
                </a:rPr>
                <a:t>QBIC</a:t>
              </a:r>
              <a:r>
                <a:rPr lang="ru-RU" sz="1600" b="0" strike="noStrike" spc="-1">
                  <a:solidFill>
                    <a:srgbClr val="000000"/>
                  </a:solidFill>
                  <a:latin typeface="Futura Bk"/>
                  <a:ea typeface="Arial"/>
                </a:rPr>
                <a:t>)</a:t>
              </a:r>
              <a:endParaRPr lang="en-US" sz="1600" b="0" strike="noStrike" spc="-1">
                <a:solidFill>
                  <a:srgbClr val="000000"/>
                </a:solidFill>
                <a:latin typeface="Arial"/>
              </a:endParaRPr>
            </a:p>
            <a:p>
              <a:pPr marL="228600" indent="-228600">
                <a:lnSpc>
                  <a:spcPct val="90000"/>
                </a:lnSpc>
                <a:spcBef>
                  <a:spcPts val="601"/>
                </a:spcBef>
                <a:spcAft>
                  <a:spcPts val="400"/>
                </a:spcAft>
                <a:buClr>
                  <a:srgbClr val="000000"/>
                </a:buClr>
                <a:buSzPct val="85000"/>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600" b="0" strike="noStrike" spc="-1">
                  <a:solidFill>
                    <a:srgbClr val="000000"/>
                  </a:solidFill>
                  <a:latin typeface="Futura Bk"/>
                  <a:ea typeface="Arial"/>
                </a:rPr>
                <a:t>3D histogram (Mars)</a:t>
              </a:r>
              <a:endParaRPr lang="en-US" sz="1600" b="0" strike="noStrike" spc="-1">
                <a:solidFill>
                  <a:srgbClr val="000000"/>
                </a:solidFill>
                <a:latin typeface="Arial"/>
              </a:endParaRPr>
            </a:p>
          </p:txBody>
        </p:sp>
        <p:sp>
          <p:nvSpPr>
            <p:cNvPr id="601" name=""/>
            <p:cNvSpPr/>
            <p:nvPr/>
          </p:nvSpPr>
          <p:spPr bwMode="auto">
            <a:xfrm>
              <a:off x="3903120" y="3436200"/>
              <a:ext cx="1329840" cy="3682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64B900"/>
                  </a:solidFill>
                  <a:latin typeface="Tahoma"/>
                </a:rPr>
                <a:t>Features:</a:t>
              </a:r>
              <a:r>
                <a:rPr lang="ru-RU" sz="1800" b="0" strike="noStrike" spc="-1">
                  <a:solidFill>
                    <a:srgbClr val="64B900"/>
                  </a:solidFill>
                  <a:latin typeface="Tahoma"/>
                </a:rPr>
                <a:t> </a:t>
              </a:r>
              <a:endParaRPr lang="en-US" sz="1800" b="0" strike="noStrike" spc="-1">
                <a:solidFill>
                  <a:srgbClr val="000000"/>
                </a:solidFill>
                <a:latin typeface="Arial"/>
              </a:endParaRPr>
            </a:p>
          </p:txBody>
        </p:sp>
      </p:gr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38" dur="indefinite" restart="never" nodeType="tmRoot">
          <p:childTnLst>
            <p:seq>
              <p:cTn id="39" dur="indefinite" nodeType="mainSeq">
                <p:childTnLst>
                  <p:par>
                    <p:cTn id="40" fill="hold">
                      <p:stCondLst>
                        <p:cond delay="indefinite"/>
                      </p:stCondLst>
                      <p:childTnLst>
                        <p:par>
                          <p:cTn id="41" fill="hold">
                            <p:stCondLst>
                              <p:cond delay="0"/>
                            </p:stCondLst>
                            <p:childTnLst>
                              <p:par>
                                <p:cTn id="42" presetID="1" presetClass="entr" fill="hold" nodeType="clickEffect">
                                  <p:stCondLst>
                                    <p:cond delay="0"/>
                                  </p:stCondLst>
                                  <p:childTnLst>
                                    <p:set>
                                      <p:cBhvr>
                                        <p:cTn id="43" dur="1" fill="hold">
                                          <p:stCondLst>
                                            <p:cond delay="0"/>
                                          </p:stCondLst>
                                        </p:cTn>
                                        <p:tgtEl>
                                          <p:spTgt spid="59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fill="hold" nodeType="clickEffect">
                                  <p:stCondLst>
                                    <p:cond delay="0"/>
                                  </p:stCondLst>
                                  <p:childTnLst>
                                    <p:set>
                                      <p:cBhvr>
                                        <p:cTn id="47" dur="1" fill="hold">
                                          <p:stCondLst>
                                            <p:cond delay="0"/>
                                          </p:stCondLst>
                                        </p:cTn>
                                        <p:tgtEl>
                                          <p:spTgt spid="5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602"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Texture features: spectral</a:t>
            </a:r>
            <a:endParaRPr lang="en-US" sz="3600" b="0" strike="noStrike" spc="-1">
              <a:solidFill>
                <a:srgbClr val="000000"/>
              </a:solidFill>
              <a:latin typeface="Futura Bk"/>
            </a:endParaRPr>
          </a:p>
        </p:txBody>
      </p:sp>
      <p:sp>
        <p:nvSpPr>
          <p:cNvPr id="603" name=""/>
          <p:cNvSpPr/>
          <p:nvPr/>
        </p:nvSpPr>
        <p:spPr bwMode="auto">
          <a:xfrm>
            <a:off x="0" y="28144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604" name=""/>
          <p:cNvSpPr/>
          <p:nvPr/>
        </p:nvSpPr>
        <p:spPr bwMode="auto">
          <a:xfrm>
            <a:off x="0" y="275760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607" name=""/>
          <p:cNvSpPr/>
          <p:nvPr/>
        </p:nvSpPr>
        <p:spPr bwMode="auto">
          <a:xfrm>
            <a:off x="6499080" y="3933720"/>
            <a:ext cx="1656000" cy="505080"/>
          </a:xfrm>
          <a:prstGeom prst="ellipse">
            <a:avLst/>
          </a:prstGeom>
          <a:noFill/>
          <a:ln w="19080">
            <a:solidFill>
              <a:srgbClr val="64B9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608"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Texture features: wavelet based</a:t>
            </a:r>
            <a:endParaRPr lang="en-US" sz="3600" b="0" strike="noStrike" spc="-1">
              <a:solidFill>
                <a:srgbClr val="000000"/>
              </a:solidFill>
              <a:latin typeface="Futura Bk"/>
            </a:endParaRPr>
          </a:p>
        </p:txBody>
      </p:sp>
      <p:sp>
        <p:nvSpPr>
          <p:cNvPr id="609" name=""/>
          <p:cNvSpPr txBox="1"/>
          <p:nvPr/>
        </p:nvSpPr>
        <p:spPr bwMode="auto">
          <a:xfrm>
            <a:off x="604800" y="1719360"/>
            <a:ext cx="1806480" cy="55728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r>
                        <m:rPr/>
                        <a:rPr/>
                        <m:t>f</m:t>
                      </m:r>
                      <m:r>
                        <m:rPr/>
                        <a:rPr/>
                        <m:t>(</m:t>
                      </m:r>
                      <m:r>
                        <m:rPr/>
                        <a:rPr/>
                        <m:t>x</m:t>
                      </m:r>
                      <m:r>
                        <m:rPr/>
                        <a:rPr/>
                        <m:t>)</m:t>
                      </m:r>
                      <m:r>
                        <m:rPr/>
                        <a:rPr/>
                        <m:t>=</m:t>
                      </m:r>
                      <m:nary>
                        <m:naryPr>
                          <m:chr m:val="∑"/>
                          <m:grow m:val="off"/>
                          <m:supHide m:val="on"/>
                          <m:ctrlPr>
                            <a:rPr/>
                          </m:ctrlPr>
                        </m:naryPr>
                        <m:sub>
                          <m:r>
                            <m:rPr/>
                            <a:rPr/>
                            <m:t>j</m:t>
                          </m:r>
                          <m:r>
                            <m:rPr/>
                            <a:rPr/>
                            <m:t>,</m:t>
                          </m:r>
                          <m:r>
                            <m:rPr/>
                            <a:rPr/>
                            <m:t>k</m:t>
                          </m:r>
                        </m:sub>
                        <m:sup/>
                        <m:e>
                          <m:sSub>
                            <m:sSubPr>
                              <m:ctrlPr>
                                <a:rPr/>
                              </m:ctrlPr>
                            </m:sSubPr>
                            <m:e>
                              <m:r>
                                <m:rPr/>
                                <a:rPr/>
                                <m:t>α</m:t>
                              </m:r>
                            </m:e>
                            <m:sub>
                              <m:r>
                                <m:rPr/>
                                <a:rPr/>
                                <m:t>k</m:t>
                              </m:r>
                            </m:sub>
                          </m:sSub>
                        </m:e>
                      </m:nary>
                      <m:sSub>
                        <m:sSubPr>
                          <m:ctrlPr>
                            <a:rPr/>
                          </m:ctrlPr>
                        </m:sSubPr>
                        <m:e>
                          <m:r>
                            <m:rPr/>
                            <a:rPr/>
                            <m:t>ψ</m:t>
                          </m:r>
                        </m:e>
                        <m:sub>
                          <m:r>
                            <m:rPr/>
                            <a:rPr/>
                            <m:t>j</m:t>
                          </m:r>
                          <m:r>
                            <m:rPr/>
                            <a:rPr/>
                            <m:t>,</m:t>
                          </m:r>
                          <m:r>
                            <m:rPr/>
                            <a:rPr/>
                            <m:t>k</m:t>
                          </m:r>
                        </m:sub>
                      </m:sSub>
                      <m:r>
                        <m:rPr/>
                        <a:rPr/>
                        <m:t>(</m:t>
                      </m:r>
                      <m:r>
                        <m:rPr/>
                        <a:rPr/>
                        <m:t>x</m:t>
                      </m:r>
                      <m:r>
                        <m:rPr/>
                        <a:rPr/>
                        <m:t>)</m:t>
                      </m:r>
                    </m:oMath>
                  </m:oMathPara>
                </a14:m>
              </mc:Choice>
              <mc:Fallback/>
            </mc:AlternateContent>
            <a:endParaRPr/>
          </a:p>
        </p:txBody>
      </p:sp>
      <p:sp>
        <p:nvSpPr>
          <p:cNvPr id="610" name=""/>
          <p:cNvSpPr/>
          <p:nvPr/>
        </p:nvSpPr>
        <p:spPr bwMode="auto">
          <a:xfrm>
            <a:off x="0" y="28144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611" name=""/>
          <p:cNvSpPr/>
          <p:nvPr/>
        </p:nvSpPr>
        <p:spPr bwMode="auto">
          <a:xfrm>
            <a:off x="0" y="322416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612" name=""/>
          <p:cNvSpPr/>
          <p:nvPr/>
        </p:nvSpPr>
        <p:spPr bwMode="auto">
          <a:xfrm>
            <a:off x="0" y="332892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613" name=""/>
          <p:cNvSpPr/>
          <p:nvPr/>
        </p:nvSpPr>
        <p:spPr bwMode="auto">
          <a:xfrm>
            <a:off x="114120" y="1338840"/>
            <a:ext cx="6052320" cy="3988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Futura Bk"/>
              </a:rPr>
              <a:t>Wavelet analysis</a:t>
            </a:r>
            <a:r>
              <a:rPr lang="ru-RU" sz="2000" b="0" strike="noStrike" spc="-1">
                <a:solidFill>
                  <a:srgbClr val="000000"/>
                </a:solidFill>
                <a:latin typeface="Futura Bk"/>
              </a:rPr>
              <a:t> – </a:t>
            </a:r>
            <a:r>
              <a:rPr lang="en-US" sz="2000" b="0" strike="noStrike" spc="-1">
                <a:solidFill>
                  <a:srgbClr val="000000"/>
                </a:solidFill>
                <a:latin typeface="Futura Bk"/>
              </a:rPr>
              <a:t>decomposition of a signal</a:t>
            </a:r>
            <a:r>
              <a:rPr lang="ru-RU" sz="2000" b="0" strike="noStrike" spc="-1">
                <a:solidFill>
                  <a:srgbClr val="000000"/>
                </a:solidFill>
                <a:latin typeface="Futura Bk"/>
              </a:rPr>
              <a:t>: </a:t>
            </a:r>
            <a:endParaRPr lang="en-US" sz="2000" b="0" strike="noStrike" spc="-1">
              <a:solidFill>
                <a:srgbClr val="000000"/>
              </a:solidFill>
              <a:latin typeface="Arial"/>
            </a:endParaRPr>
          </a:p>
        </p:txBody>
      </p:sp>
      <p:sp>
        <p:nvSpPr>
          <p:cNvPr id="614" name=""/>
          <p:cNvSpPr/>
          <p:nvPr/>
        </p:nvSpPr>
        <p:spPr bwMode="auto">
          <a:xfrm>
            <a:off x="0" y="326232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615" name=""/>
          <p:cNvSpPr/>
          <p:nvPr/>
        </p:nvSpPr>
        <p:spPr bwMode="auto">
          <a:xfrm>
            <a:off x="357480" y="2288520"/>
            <a:ext cx="2053800" cy="3682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Tahoma"/>
              </a:rPr>
              <a:t>Basis functions</a:t>
            </a:r>
            <a:r>
              <a:rPr lang="ru-RU" sz="1800" b="0" strike="noStrike" spc="-1">
                <a:solidFill>
                  <a:srgbClr val="000000"/>
                </a:solidFill>
                <a:latin typeface="Tahoma"/>
              </a:rPr>
              <a:t>: </a:t>
            </a:r>
            <a:endParaRPr lang="en-US" sz="1800" b="0" strike="noStrike" spc="-1">
              <a:solidFill>
                <a:srgbClr val="000000"/>
              </a:solidFill>
              <a:latin typeface="Arial"/>
            </a:endParaRPr>
          </a:p>
        </p:txBody>
      </p:sp>
      <p:sp>
        <p:nvSpPr>
          <p:cNvPr id="616" name=""/>
          <p:cNvSpPr txBox="1"/>
          <p:nvPr/>
        </p:nvSpPr>
        <p:spPr bwMode="auto">
          <a:xfrm>
            <a:off x="625320" y="2649600"/>
            <a:ext cx="2362320" cy="85068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eqArr>
                        <m:eqArrPr>
                          <m:baseJc m:val="center"/>
                          <m:maxDist m:val="off"/>
                          <m:objDist m:val="off"/>
                          <m:rSp/>
                          <m:rSpRule/>
                          <m:ctrlPr>
                            <a:rPr/>
                          </m:ctrlPr>
                        </m:eqArrPr>
                        <m:e>
                          <m:sSub>
                            <m:sSubPr>
                              <m:ctrlPr>
                                <a:rPr/>
                              </m:ctrlPr>
                            </m:sSubPr>
                            <m:e>
                              <m:r>
                                <m:rPr/>
                                <a:rPr/>
                                <m:t>ψ</m:t>
                              </m:r>
                            </m:e>
                            <m:sub>
                              <m:r>
                                <m:rPr/>
                                <a:rPr/>
                                <m:t>j</m:t>
                              </m:r>
                              <m:r>
                                <m:rPr/>
                                <a:rPr/>
                                <m:t>,</m:t>
                              </m:r>
                              <m:r>
                                <m:rPr/>
                                <a:rPr/>
                                <m:t>k</m:t>
                              </m:r>
                            </m:sub>
                          </m:sSub>
                          <m:r>
                            <m:rPr/>
                            <a:rPr/>
                            <m:t>=</m:t>
                          </m:r>
                          <m:sSup>
                            <m:sSupPr>
                              <m:ctrlPr>
                                <a:rPr/>
                              </m:ctrlPr>
                            </m:sSupPr>
                            <m:e>
                              <m:r>
                                <m:rPr/>
                                <a:rPr/>
                                <m:t>2</m:t>
                              </m:r>
                            </m:e>
                            <m:sup>
                              <m:f>
                                <m:fPr>
                                  <m:type m:val="lin"/>
                                  <m:ctrlPr>
                                    <a:rPr/>
                                  </m:ctrlPr>
                                </m:fPr>
                                <m:num>
                                  <m:r>
                                    <m:rPr/>
                                    <a:rPr/>
                                    <m:t>j</m:t>
                                  </m:r>
                                </m:num>
                                <m:den>
                                  <m:r>
                                    <m:rPr/>
                                    <a:rPr/>
                                    <m:t>2</m:t>
                                  </m:r>
                                </m:den>
                              </m:f>
                            </m:sup>
                          </m:sSup>
                          <m:r>
                            <m:rPr/>
                            <a:rPr/>
                            <m:t>ϕ</m:t>
                          </m:r>
                          <m:r>
                            <m:rPr/>
                            <a:rPr/>
                            <m:t>(</m:t>
                          </m:r>
                          <m:sSup>
                            <m:sSupPr>
                              <m:ctrlPr>
                                <a:rPr/>
                              </m:ctrlPr>
                            </m:sSupPr>
                            <m:e>
                              <m:r>
                                <m:rPr/>
                                <a:rPr/>
                                <m:t>2</m:t>
                              </m:r>
                            </m:e>
                            <m:sup>
                              <m:r>
                                <m:rPr/>
                                <a:rPr/>
                                <m:t>j</m:t>
                              </m:r>
                            </m:sup>
                          </m:sSup>
                          <m:r>
                            <m:rPr/>
                            <a:rPr/>
                            <m:t>x</m:t>
                          </m:r>
                          <m:r>
                            <m:rPr/>
                            <a:rPr/>
                            <m:t>−</m:t>
                          </m:r>
                          <m:r>
                            <m:rPr/>
                            <a:rPr/>
                            <m:t>k</m:t>
                          </m:r>
                          <m:r>
                            <m:rPr/>
                            <a:rPr/>
                            <m:t>)</m:t>
                          </m:r>
                        </m:e>
                        <m:e>
                          <m:r>
                            <m:rPr/>
                            <a:rPr/>
                            <m:t>j</m:t>
                          </m:r>
                          <m:r>
                            <m:rPr/>
                            <a:rPr/>
                            <m:t>,</m:t>
                          </m:r>
                          <m:r>
                            <m:rPr/>
                            <a:rPr/>
                            <m:t>k</m:t>
                          </m:r>
                          <m:r>
                            <m:rPr/>
                            <a:rPr/>
                            <m:t>∈</m:t>
                          </m:r>
                          <m:r>
                            <m:rPr/>
                            <a:rPr/>
                            <m:t>Ζ</m:t>
                          </m:r>
                          <m:r>
                            <m:rPr/>
                            <a:rPr/>
                            <m:t>,</m:t>
                          </m:r>
                          <m:r>
                            <m:rPr/>
                            <a:rPr/>
                            <m:t> </m:t>
                          </m:r>
                          <m:r>
                            <m:rPr/>
                            <a:rPr/>
                            <m:t>ϕ</m:t>
                          </m:r>
                          <m:r>
                            <m:rPr/>
                            <a:rPr/>
                            <m:t>(</m:t>
                          </m:r>
                          <m:r>
                            <m:rPr/>
                            <a:rPr/>
                            <m:t>x</m:t>
                          </m:r>
                          <m:r>
                            <m:rPr/>
                            <a:rPr/>
                            <m:t>)</m:t>
                          </m:r>
                          <m:r>
                            <m:rPr/>
                            <a:rPr/>
                            <m:t>∈</m:t>
                          </m:r>
                          <m:sSup>
                            <m:sSupPr>
                              <m:ctrlPr>
                                <a:rPr/>
                              </m:ctrlPr>
                            </m:sSupPr>
                            <m:e>
                              <m:r>
                                <m:rPr/>
                                <a:rPr/>
                                <m:t>L</m:t>
                              </m:r>
                            </m:e>
                            <m:sup>
                              <m:r>
                                <m:rPr/>
                                <a:rPr/>
                                <m:t>2</m:t>
                              </m:r>
                            </m:sup>
                          </m:sSup>
                          <m:r>
                            <m:rPr/>
                            <a:rPr/>
                            <m:t>(</m:t>
                          </m:r>
                          <m:r>
                            <m:rPr/>
                            <a:rPr/>
                            <m:t>R</m:t>
                          </m:r>
                          <m:r>
                            <m:rPr/>
                            <a:rPr/>
                            <m:t>)</m:t>
                          </m:r>
                        </m:e>
                      </m:eqArr>
                    </m:oMath>
                  </m:oMathPara>
                </a14:m>
              </mc:Choice>
              <mc:Fallback/>
            </mc:AlternateContent>
            <a:endParaRPr/>
          </a:p>
        </p:txBody>
      </p:sp>
      <p:sp>
        <p:nvSpPr>
          <p:cNvPr id="617" name=""/>
          <p:cNvSpPr/>
          <p:nvPr/>
        </p:nvSpPr>
        <p:spPr bwMode="auto">
          <a:xfrm>
            <a:off x="2659320" y="2720519"/>
            <a:ext cx="2012400" cy="3376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600" b="0" strike="noStrike" spc="-1">
                <a:solidFill>
                  <a:srgbClr val="000000"/>
                </a:solidFill>
                <a:latin typeface="Tahoma"/>
              </a:rPr>
              <a:t>– </a:t>
            </a:r>
            <a:r>
              <a:rPr lang="ru-RU" sz="1600" b="0" strike="noStrike" spc="-1">
                <a:solidFill>
                  <a:srgbClr val="000000"/>
                </a:solidFill>
                <a:latin typeface="Tahoma"/>
              </a:rPr>
              <a:t> </a:t>
            </a:r>
            <a:r>
              <a:rPr lang="en-US" sz="1600" b="0" strike="noStrike" spc="-1">
                <a:solidFill>
                  <a:srgbClr val="000000"/>
                </a:solidFill>
                <a:latin typeface="Tahoma"/>
              </a:rPr>
              <a:t>scaling function</a:t>
            </a:r>
            <a:endParaRPr lang="en-US" sz="1600" b="0" strike="noStrike" spc="-1">
              <a:solidFill>
                <a:srgbClr val="000000"/>
              </a:solidFill>
              <a:latin typeface="Arial"/>
            </a:endParaRPr>
          </a:p>
        </p:txBody>
      </p:sp>
      <p:sp>
        <p:nvSpPr>
          <p:cNvPr id="618" name=""/>
          <p:cNvSpPr/>
          <p:nvPr/>
        </p:nvSpPr>
        <p:spPr bwMode="auto">
          <a:xfrm>
            <a:off x="199440" y="3643920"/>
            <a:ext cx="4857840" cy="3988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64B900"/>
                </a:solidFill>
                <a:latin typeface="Tahoma"/>
              </a:rPr>
              <a:t>A set of basis functions – filters bank</a:t>
            </a:r>
            <a:endParaRPr lang="en-US" sz="2000" b="0" strike="noStrike" spc="-1">
              <a:solidFill>
                <a:srgbClr val="000000"/>
              </a:solidFill>
              <a:latin typeface="Arial"/>
            </a:endParaRPr>
          </a:p>
        </p:txBody>
      </p:sp>
      <p:grpSp>
        <p:nvGrpSpPr>
          <p:cNvPr id="619" name=""/>
          <p:cNvGrpSpPr/>
          <p:nvPr/>
        </p:nvGrpSpPr>
        <p:grpSpPr bwMode="auto">
          <a:xfrm>
            <a:off x="573120" y="4195800"/>
            <a:ext cx="7544880" cy="2112840"/>
            <a:chOff x="573120" y="4195800"/>
            <a:chExt cx="7544880" cy="2112840"/>
          </a:xfrm>
        </p:grpSpPr>
        <p:sp>
          <p:nvSpPr>
            <p:cNvPr id="620" name=""/>
            <p:cNvSpPr/>
            <p:nvPr/>
          </p:nvSpPr>
          <p:spPr bwMode="auto">
            <a:xfrm>
              <a:off x="573120" y="4868640"/>
              <a:ext cx="1368000" cy="312840"/>
            </a:xfrm>
            <a:prstGeom prst="rect">
              <a:avLst/>
            </a:prstGeom>
            <a:solidFill>
              <a:srgbClr val="99C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Times New Roman"/>
                </a:rPr>
                <a:t>Filter</a:t>
              </a:r>
              <a:r>
                <a:rPr lang="ru-RU" sz="2000" b="0" strike="noStrike" spc="-1">
                  <a:solidFill>
                    <a:srgbClr val="000000"/>
                  </a:solidFill>
                  <a:latin typeface="Times New Roman"/>
                </a:rPr>
                <a:t> 1</a:t>
              </a:r>
              <a:endParaRPr lang="en-US" sz="2000" b="0" strike="noStrike" spc="-1">
                <a:solidFill>
                  <a:srgbClr val="000000"/>
                </a:solidFill>
                <a:latin typeface="Arial"/>
              </a:endParaRPr>
            </a:p>
          </p:txBody>
        </p:sp>
        <p:sp>
          <p:nvSpPr>
            <p:cNvPr id="621" name=""/>
            <p:cNvSpPr/>
            <p:nvPr/>
          </p:nvSpPr>
          <p:spPr bwMode="auto">
            <a:xfrm>
              <a:off x="2984400" y="4917960"/>
              <a:ext cx="215280" cy="216000"/>
            </a:xfrm>
            <a:prstGeom prst="flowChartSummingJunction">
              <a:avLst/>
            </a:prstGeom>
            <a:noFill/>
            <a:ln w="9360">
              <a:solidFill>
                <a:srgbClr val="0000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622" name=""/>
            <p:cNvSpPr/>
            <p:nvPr/>
          </p:nvSpPr>
          <p:spPr bwMode="auto">
            <a:xfrm>
              <a:off x="1941120" y="4940280"/>
              <a:ext cx="1008000" cy="144360"/>
            </a:xfrm>
            <a:prstGeom prst="rightArrow">
              <a:avLst>
                <a:gd name="adj1" fmla="val 50000"/>
                <a:gd name="adj2" fmla="val 174564"/>
              </a:avLst>
            </a:prstGeom>
            <a:solidFill>
              <a:srgbClr val="FFFF00">
                <a:alpha val="50000"/>
              </a:srgbClr>
            </a:solidFill>
            <a:ln w="9360">
              <a:solidFill>
                <a:srgbClr val="000000"/>
              </a:solidFill>
              <a:miter/>
            </a:ln>
          </p:spPr>
          <p:style>
            <a:lnRef idx="0"/>
            <a:fillRef idx="0"/>
            <a:effectRef idx="0"/>
            <a:fontRef idx="minor"/>
          </p:style>
          <p:txBody>
            <a:bodyPr wrap="none" lIns="90000" tIns="25560" rIns="90000" bIns="25560" anchor="ctr">
              <a:noAutofit/>
            </a:bodyPr>
            <a:p>
              <a:pPr>
                <a:defRPr/>
              </a:pPr>
              <a:endParaRPr lang="en-US" sz="1800" b="0" strike="noStrike" spc="-1">
                <a:solidFill>
                  <a:srgbClr val="000000"/>
                </a:solidFill>
                <a:latin typeface="Arial"/>
              </a:endParaRPr>
            </a:p>
          </p:txBody>
        </p:sp>
        <p:sp>
          <p:nvSpPr>
            <p:cNvPr id="623" name=""/>
            <p:cNvSpPr/>
            <p:nvPr/>
          </p:nvSpPr>
          <p:spPr bwMode="auto">
            <a:xfrm>
              <a:off x="573120" y="5275080"/>
              <a:ext cx="1368000" cy="312840"/>
            </a:xfrm>
            <a:prstGeom prst="rect">
              <a:avLst/>
            </a:prstGeom>
            <a:solidFill>
              <a:srgbClr val="99C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Times New Roman"/>
                </a:rPr>
                <a:t>Filter 2</a:t>
              </a:r>
              <a:endParaRPr lang="en-US" sz="2000" b="0" strike="noStrike" spc="-1">
                <a:solidFill>
                  <a:srgbClr val="000000"/>
                </a:solidFill>
                <a:latin typeface="Arial"/>
              </a:endParaRPr>
            </a:p>
          </p:txBody>
        </p:sp>
        <p:sp>
          <p:nvSpPr>
            <p:cNvPr id="624" name=""/>
            <p:cNvSpPr/>
            <p:nvPr/>
          </p:nvSpPr>
          <p:spPr bwMode="auto">
            <a:xfrm>
              <a:off x="573120" y="5923080"/>
              <a:ext cx="1368000" cy="312480"/>
            </a:xfrm>
            <a:prstGeom prst="rect">
              <a:avLst/>
            </a:prstGeom>
            <a:solidFill>
              <a:srgbClr val="99C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Times New Roman"/>
                </a:rPr>
                <a:t>Filter N</a:t>
              </a:r>
              <a:endParaRPr lang="en-US" sz="2000" b="0" strike="noStrike" spc="-1">
                <a:solidFill>
                  <a:srgbClr val="000000"/>
                </a:solidFill>
                <a:latin typeface="Arial"/>
              </a:endParaRPr>
            </a:p>
          </p:txBody>
        </p:sp>
        <p:sp>
          <p:nvSpPr>
            <p:cNvPr id="625" name=""/>
            <p:cNvSpPr/>
            <p:nvPr/>
          </p:nvSpPr>
          <p:spPr bwMode="auto">
            <a:xfrm>
              <a:off x="2228760" y="4195800"/>
              <a:ext cx="1728360" cy="312480"/>
            </a:xfrm>
            <a:prstGeom prst="rect">
              <a:avLst/>
            </a:prstGeom>
            <a:solidFill>
              <a:srgbClr val="99C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Times New Roman"/>
                </a:rPr>
                <a:t>Image</a:t>
              </a:r>
              <a:endParaRPr lang="en-US" sz="2000" b="0" strike="noStrike" spc="-1">
                <a:solidFill>
                  <a:srgbClr val="000000"/>
                </a:solidFill>
                <a:latin typeface="Arial"/>
              </a:endParaRPr>
            </a:p>
          </p:txBody>
        </p:sp>
        <p:sp>
          <p:nvSpPr>
            <p:cNvPr id="626" name=""/>
            <p:cNvSpPr/>
            <p:nvPr/>
          </p:nvSpPr>
          <p:spPr bwMode="auto">
            <a:xfrm>
              <a:off x="4244760" y="4868640"/>
              <a:ext cx="1368000" cy="312840"/>
            </a:xfrm>
            <a:prstGeom prst="rect">
              <a:avLst/>
            </a:prstGeom>
            <a:solidFill>
              <a:srgbClr val="99C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Times New Roman"/>
                </a:rPr>
                <a:t>Energy 1</a:t>
              </a:r>
              <a:endParaRPr lang="en-US" sz="2000" b="0" strike="noStrike" spc="-1">
                <a:solidFill>
                  <a:srgbClr val="000000"/>
                </a:solidFill>
                <a:latin typeface="Arial"/>
              </a:endParaRPr>
            </a:p>
          </p:txBody>
        </p:sp>
        <p:sp>
          <p:nvSpPr>
            <p:cNvPr id="627" name=""/>
            <p:cNvSpPr/>
            <p:nvPr/>
          </p:nvSpPr>
          <p:spPr bwMode="auto">
            <a:xfrm>
              <a:off x="4244760" y="5275080"/>
              <a:ext cx="1368000" cy="312840"/>
            </a:xfrm>
            <a:prstGeom prst="rect">
              <a:avLst/>
            </a:prstGeom>
            <a:solidFill>
              <a:srgbClr val="99C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Times New Roman"/>
                </a:rPr>
                <a:t>Energy 2</a:t>
              </a:r>
              <a:endParaRPr lang="en-US" sz="2000" b="0" strike="noStrike" spc="-1">
                <a:solidFill>
                  <a:srgbClr val="000000"/>
                </a:solidFill>
                <a:latin typeface="Arial"/>
              </a:endParaRPr>
            </a:p>
          </p:txBody>
        </p:sp>
        <p:sp>
          <p:nvSpPr>
            <p:cNvPr id="628" name=""/>
            <p:cNvSpPr/>
            <p:nvPr/>
          </p:nvSpPr>
          <p:spPr bwMode="auto">
            <a:xfrm>
              <a:off x="4244760" y="5923080"/>
              <a:ext cx="1368000" cy="312480"/>
            </a:xfrm>
            <a:prstGeom prst="rect">
              <a:avLst/>
            </a:prstGeom>
            <a:solidFill>
              <a:srgbClr val="99CC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Times New Roman"/>
                </a:rPr>
                <a:t>Energy N</a:t>
              </a:r>
              <a:endParaRPr lang="en-US" sz="2000" b="0" strike="noStrike" spc="-1">
                <a:solidFill>
                  <a:srgbClr val="000000"/>
                </a:solidFill>
                <a:latin typeface="Arial"/>
              </a:endParaRPr>
            </a:p>
          </p:txBody>
        </p:sp>
        <p:sp>
          <p:nvSpPr>
            <p:cNvPr id="629" name=""/>
            <p:cNvSpPr/>
            <p:nvPr/>
          </p:nvSpPr>
          <p:spPr bwMode="auto">
            <a:xfrm>
              <a:off x="3236760" y="4940280"/>
              <a:ext cx="1007640" cy="144360"/>
            </a:xfrm>
            <a:prstGeom prst="rightArrow">
              <a:avLst>
                <a:gd name="adj1" fmla="val 50000"/>
                <a:gd name="adj2" fmla="val 174501"/>
              </a:avLst>
            </a:prstGeom>
            <a:solidFill>
              <a:srgbClr val="FFFF00">
                <a:alpha val="50000"/>
              </a:srgbClr>
            </a:solidFill>
            <a:ln w="9360">
              <a:solidFill>
                <a:srgbClr val="000000"/>
              </a:solidFill>
              <a:miter/>
            </a:ln>
          </p:spPr>
          <p:style>
            <a:lnRef idx="0"/>
            <a:fillRef idx="0"/>
            <a:effectRef idx="0"/>
            <a:fontRef idx="minor"/>
          </p:style>
          <p:txBody>
            <a:bodyPr wrap="none" lIns="90000" tIns="25560" rIns="90000" bIns="25560" anchor="ctr">
              <a:noAutofit/>
            </a:bodyPr>
            <a:p>
              <a:pPr>
                <a:defRPr/>
              </a:pPr>
              <a:endParaRPr lang="en-US" sz="1800" b="0" strike="noStrike" spc="-1">
                <a:solidFill>
                  <a:srgbClr val="000000"/>
                </a:solidFill>
                <a:latin typeface="Arial"/>
              </a:endParaRPr>
            </a:p>
          </p:txBody>
        </p:sp>
        <p:sp>
          <p:nvSpPr>
            <p:cNvPr id="630" name=""/>
            <p:cNvSpPr/>
            <p:nvPr/>
          </p:nvSpPr>
          <p:spPr bwMode="auto">
            <a:xfrm>
              <a:off x="2984400" y="5324400"/>
              <a:ext cx="215280" cy="216000"/>
            </a:xfrm>
            <a:prstGeom prst="flowChartSummingJunction">
              <a:avLst/>
            </a:prstGeom>
            <a:noFill/>
            <a:ln w="9360">
              <a:solidFill>
                <a:srgbClr val="0000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631" name=""/>
            <p:cNvSpPr/>
            <p:nvPr/>
          </p:nvSpPr>
          <p:spPr bwMode="auto">
            <a:xfrm>
              <a:off x="1941120" y="5359320"/>
              <a:ext cx="1008000" cy="144360"/>
            </a:xfrm>
            <a:prstGeom prst="rightArrow">
              <a:avLst>
                <a:gd name="adj1" fmla="val 50000"/>
                <a:gd name="adj2" fmla="val 174564"/>
              </a:avLst>
            </a:prstGeom>
            <a:solidFill>
              <a:srgbClr val="FFFF00">
                <a:alpha val="50000"/>
              </a:srgbClr>
            </a:solidFill>
            <a:ln w="9360">
              <a:solidFill>
                <a:srgbClr val="000000"/>
              </a:solidFill>
              <a:miter/>
            </a:ln>
          </p:spPr>
          <p:style>
            <a:lnRef idx="0"/>
            <a:fillRef idx="0"/>
            <a:effectRef idx="0"/>
            <a:fontRef idx="minor"/>
          </p:style>
          <p:txBody>
            <a:bodyPr wrap="none" lIns="90000" tIns="25560" rIns="90000" bIns="25560" anchor="ctr">
              <a:noAutofit/>
            </a:bodyPr>
            <a:p>
              <a:pPr>
                <a:defRPr/>
              </a:pPr>
              <a:endParaRPr lang="en-US" sz="1800" b="0" strike="noStrike" spc="-1">
                <a:solidFill>
                  <a:srgbClr val="000000"/>
                </a:solidFill>
                <a:latin typeface="Arial"/>
              </a:endParaRPr>
            </a:p>
          </p:txBody>
        </p:sp>
        <p:sp>
          <p:nvSpPr>
            <p:cNvPr id="632" name=""/>
            <p:cNvSpPr/>
            <p:nvPr/>
          </p:nvSpPr>
          <p:spPr bwMode="auto">
            <a:xfrm>
              <a:off x="3236760" y="5359320"/>
              <a:ext cx="1007640" cy="144360"/>
            </a:xfrm>
            <a:prstGeom prst="rightArrow">
              <a:avLst>
                <a:gd name="adj1" fmla="val 50000"/>
                <a:gd name="adj2" fmla="val 174501"/>
              </a:avLst>
            </a:prstGeom>
            <a:solidFill>
              <a:srgbClr val="FFFF00">
                <a:alpha val="50000"/>
              </a:srgbClr>
            </a:solidFill>
            <a:ln w="9360">
              <a:solidFill>
                <a:srgbClr val="000000"/>
              </a:solidFill>
              <a:miter/>
            </a:ln>
          </p:spPr>
          <p:style>
            <a:lnRef idx="0"/>
            <a:fillRef idx="0"/>
            <a:effectRef idx="0"/>
            <a:fontRef idx="minor"/>
          </p:style>
          <p:txBody>
            <a:bodyPr wrap="none" lIns="90000" tIns="25560" rIns="90000" bIns="25560" anchor="ctr">
              <a:noAutofit/>
            </a:bodyPr>
            <a:p>
              <a:pPr>
                <a:defRPr/>
              </a:pPr>
              <a:endParaRPr lang="en-US" sz="1800" b="0" strike="noStrike" spc="-1">
                <a:solidFill>
                  <a:srgbClr val="000000"/>
                </a:solidFill>
                <a:latin typeface="Arial"/>
              </a:endParaRPr>
            </a:p>
          </p:txBody>
        </p:sp>
        <p:sp>
          <p:nvSpPr>
            <p:cNvPr id="633" name=""/>
            <p:cNvSpPr/>
            <p:nvPr/>
          </p:nvSpPr>
          <p:spPr bwMode="auto">
            <a:xfrm>
              <a:off x="2984400" y="5972039"/>
              <a:ext cx="215280" cy="216000"/>
            </a:xfrm>
            <a:prstGeom prst="flowChartSummingJunction">
              <a:avLst/>
            </a:prstGeom>
            <a:noFill/>
            <a:ln w="9360">
              <a:solidFill>
                <a:srgbClr val="0000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634" name=""/>
            <p:cNvSpPr/>
            <p:nvPr/>
          </p:nvSpPr>
          <p:spPr bwMode="auto">
            <a:xfrm>
              <a:off x="1941120" y="6006960"/>
              <a:ext cx="1008000" cy="144719"/>
            </a:xfrm>
            <a:prstGeom prst="rightArrow">
              <a:avLst>
                <a:gd name="adj1" fmla="val 50000"/>
                <a:gd name="adj2" fmla="val 174129"/>
              </a:avLst>
            </a:prstGeom>
            <a:solidFill>
              <a:srgbClr val="FFFF00">
                <a:alpha val="50000"/>
              </a:srgbClr>
            </a:solidFill>
            <a:ln w="9360">
              <a:solidFill>
                <a:srgbClr val="000000"/>
              </a:solidFill>
              <a:miter/>
            </a:ln>
          </p:spPr>
          <p:style>
            <a:lnRef idx="0"/>
            <a:fillRef idx="0"/>
            <a:effectRef idx="0"/>
            <a:fontRef idx="minor"/>
          </p:style>
          <p:txBody>
            <a:bodyPr wrap="none" lIns="90000" tIns="25920" rIns="90000" bIns="25920" anchor="ctr">
              <a:noAutofit/>
            </a:bodyPr>
            <a:p>
              <a:pPr>
                <a:defRPr/>
              </a:pPr>
              <a:endParaRPr lang="en-US" sz="1800" b="0" strike="noStrike" spc="-1">
                <a:solidFill>
                  <a:srgbClr val="000000"/>
                </a:solidFill>
                <a:latin typeface="Arial"/>
              </a:endParaRPr>
            </a:p>
          </p:txBody>
        </p:sp>
        <p:sp>
          <p:nvSpPr>
            <p:cNvPr id="635" name=""/>
            <p:cNvSpPr/>
            <p:nvPr/>
          </p:nvSpPr>
          <p:spPr bwMode="auto">
            <a:xfrm>
              <a:off x="3236760" y="6006960"/>
              <a:ext cx="1007640" cy="144719"/>
            </a:xfrm>
            <a:prstGeom prst="rightArrow">
              <a:avLst>
                <a:gd name="adj1" fmla="val 50000"/>
                <a:gd name="adj2" fmla="val 174067"/>
              </a:avLst>
            </a:prstGeom>
            <a:solidFill>
              <a:srgbClr val="FFFF00">
                <a:alpha val="50000"/>
              </a:srgbClr>
            </a:solidFill>
            <a:ln w="9360">
              <a:solidFill>
                <a:srgbClr val="000000"/>
              </a:solidFill>
              <a:miter/>
            </a:ln>
          </p:spPr>
          <p:style>
            <a:lnRef idx="0"/>
            <a:fillRef idx="0"/>
            <a:effectRef idx="0"/>
            <a:fontRef idx="minor"/>
          </p:style>
          <p:txBody>
            <a:bodyPr wrap="none" lIns="90000" tIns="25920" rIns="90000" bIns="25920" anchor="ctr">
              <a:noAutofit/>
            </a:bodyPr>
            <a:p>
              <a:pPr>
                <a:defRPr/>
              </a:pPr>
              <a:endParaRPr lang="en-US" sz="1800" b="0" strike="noStrike" spc="-1">
                <a:solidFill>
                  <a:srgbClr val="000000"/>
                </a:solidFill>
                <a:latin typeface="Arial"/>
              </a:endParaRPr>
            </a:p>
          </p:txBody>
        </p:sp>
        <p:sp>
          <p:nvSpPr>
            <p:cNvPr id="636" name=""/>
            <p:cNvSpPr/>
            <p:nvPr/>
          </p:nvSpPr>
          <p:spPr bwMode="auto">
            <a:xfrm rot="5400000">
              <a:off x="2948400" y="4615920"/>
              <a:ext cx="287280" cy="215280"/>
            </a:xfrm>
            <a:prstGeom prst="rightArrow">
              <a:avLst>
                <a:gd name="adj1" fmla="val 50000"/>
                <a:gd name="adj2" fmla="val 33361"/>
              </a:avLst>
            </a:prstGeom>
            <a:solidFill>
              <a:srgbClr val="FFFF00">
                <a:alpha val="50000"/>
              </a:srgbClr>
            </a:solidFill>
            <a:ln w="9360">
              <a:solidFill>
                <a:srgbClr val="0000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637" name=""/>
            <p:cNvSpPr/>
            <p:nvPr/>
          </p:nvSpPr>
          <p:spPr bwMode="auto">
            <a:xfrm>
              <a:off x="5829120" y="4724280"/>
              <a:ext cx="215640" cy="1584360"/>
            </a:xfrm>
            <a:custGeom>
              <a:avLst/>
              <a:gdLst>
                <a:gd name="textAreaLeft" fmla="*/ 0 w 215640"/>
                <a:gd name="textAreaRight" fmla="*/ 77760 w 215640"/>
                <a:gd name="textAreaTop" fmla="*/ 41040 h 1584360"/>
                <a:gd name="textAreaBottom" fmla="*/ 1543320 h 1584360"/>
              </a:gdLst>
              <a:ahLst/>
              <a:cxnLst/>
              <a:rect l="textAreaLeft" t="textAreaTop" r="textAreaRight" b="textAreaBottom"/>
              <a:pathLst>
                <a:path w="21600" h="21600" fill="norm" stroke="1" extrusionOk="0">
                  <a:moveTo>
                    <a:pt x="0" y="0"/>
                  </a:moveTo>
                  <a:cubicBezTo>
                    <a:pt x="5400" y="0"/>
                    <a:pt x="10800" y="900"/>
                    <a:pt x="10800" y="1800"/>
                  </a:cubicBezTo>
                  <a:lnTo>
                    <a:pt x="10800" y="9000"/>
                  </a:lnTo>
                  <a:cubicBezTo>
                    <a:pt x="10800" y="9900"/>
                    <a:pt x="16200" y="10800"/>
                    <a:pt x="21600" y="10800"/>
                  </a:cubicBezTo>
                  <a:cubicBezTo>
                    <a:pt x="16200" y="10800"/>
                    <a:pt x="10800" y="11700"/>
                    <a:pt x="10800" y="12600"/>
                  </a:cubicBezTo>
                  <a:lnTo>
                    <a:pt x="10800" y="19800"/>
                  </a:lnTo>
                  <a:cubicBezTo>
                    <a:pt x="10800" y="20700"/>
                    <a:pt x="5400" y="21600"/>
                    <a:pt x="0" y="21600"/>
                  </a:cubicBezTo>
                </a:path>
              </a:pathLst>
            </a:custGeom>
            <a:noFill/>
            <a:ln w="19080">
              <a:solidFill>
                <a:srgbClr val="64B9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638" name=""/>
            <p:cNvSpPr/>
            <p:nvPr/>
          </p:nvSpPr>
          <p:spPr bwMode="auto">
            <a:xfrm>
              <a:off x="6068880" y="5299560"/>
              <a:ext cx="2049120" cy="3988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64B900"/>
                  </a:solidFill>
                  <a:latin typeface="Tahoma"/>
                </a:rPr>
                <a:t>Feature vector</a:t>
              </a:r>
              <a:endParaRPr lang="en-US" sz="2000" b="0" strike="noStrike" spc="-1">
                <a:solidFill>
                  <a:srgbClr val="000000"/>
                </a:solidFill>
                <a:latin typeface="Arial"/>
              </a:endParaRPr>
            </a:p>
          </p:txBody>
        </p:sp>
      </p:grpSp>
      <p:sp>
        <p:nvSpPr>
          <p:cNvPr id="639" name=""/>
          <p:cNvSpPr/>
          <p:nvPr/>
        </p:nvSpPr>
        <p:spPr bwMode="auto">
          <a:xfrm>
            <a:off x="2878200" y="3153960"/>
            <a:ext cx="2004840" cy="3376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600" b="0" strike="noStrike" spc="-1">
                <a:solidFill>
                  <a:srgbClr val="000000"/>
                </a:solidFill>
                <a:latin typeface="Tahoma"/>
              </a:rPr>
              <a:t>– </a:t>
            </a:r>
            <a:r>
              <a:rPr lang="ru-RU" sz="1600" b="0" strike="noStrike" spc="-1">
                <a:solidFill>
                  <a:srgbClr val="000000"/>
                </a:solidFill>
                <a:latin typeface="Tahoma"/>
              </a:rPr>
              <a:t> </a:t>
            </a:r>
            <a:r>
              <a:rPr lang="en-US" sz="1600" b="0" strike="noStrike" spc="-1">
                <a:solidFill>
                  <a:srgbClr val="000000"/>
                </a:solidFill>
                <a:latin typeface="Tahoma"/>
              </a:rPr>
              <a:t>mother wavelet</a:t>
            </a:r>
            <a:endParaRPr lang="en-US" sz="16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640"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Texture features: Gabor filters</a:t>
            </a:r>
            <a:endParaRPr lang="en-US" sz="3600" b="0" strike="noStrike" spc="-1">
              <a:solidFill>
                <a:srgbClr val="000000"/>
              </a:solidFill>
              <a:latin typeface="Futura Bk"/>
            </a:endParaRPr>
          </a:p>
        </p:txBody>
      </p:sp>
      <p:sp>
        <p:nvSpPr>
          <p:cNvPr id="641" name=""/>
          <p:cNvSpPr/>
          <p:nvPr/>
        </p:nvSpPr>
        <p:spPr bwMode="auto">
          <a:xfrm>
            <a:off x="0" y="28144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642" name=""/>
          <p:cNvSpPr/>
          <p:nvPr/>
        </p:nvSpPr>
        <p:spPr bwMode="auto">
          <a:xfrm>
            <a:off x="0" y="322416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643" name=""/>
          <p:cNvSpPr/>
          <p:nvPr/>
        </p:nvSpPr>
        <p:spPr bwMode="auto">
          <a:xfrm>
            <a:off x="0" y="332892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644" name=""/>
          <p:cNvSpPr/>
          <p:nvPr/>
        </p:nvSpPr>
        <p:spPr bwMode="auto">
          <a:xfrm>
            <a:off x="209880" y="1462680"/>
            <a:ext cx="4217760" cy="3988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Futura Bk"/>
              </a:rPr>
              <a:t>Mother wavelet</a:t>
            </a:r>
            <a:r>
              <a:rPr lang="ru-RU" sz="2000" b="0" strike="noStrike" spc="-1">
                <a:solidFill>
                  <a:srgbClr val="000000"/>
                </a:solidFill>
                <a:latin typeface="Futura Bk"/>
              </a:rPr>
              <a:t>: </a:t>
            </a:r>
            <a:r>
              <a:rPr lang="en-US" sz="2000" b="0" strike="noStrike" spc="-1">
                <a:solidFill>
                  <a:srgbClr val="000000"/>
                </a:solidFill>
                <a:latin typeface="Futura Bk"/>
              </a:rPr>
              <a:t>Gabor function</a:t>
            </a:r>
            <a:endParaRPr lang="en-US" sz="2000" b="0" strike="noStrike" spc="-1">
              <a:solidFill>
                <a:srgbClr val="000000"/>
              </a:solidFill>
              <a:latin typeface="Arial"/>
            </a:endParaRPr>
          </a:p>
        </p:txBody>
      </p:sp>
      <p:sp>
        <p:nvSpPr>
          <p:cNvPr id="645" name=""/>
          <p:cNvSpPr/>
          <p:nvPr/>
        </p:nvSpPr>
        <p:spPr bwMode="auto">
          <a:xfrm>
            <a:off x="0" y="326232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646" name=""/>
          <p:cNvSpPr/>
          <p:nvPr/>
        </p:nvSpPr>
        <p:spPr bwMode="auto">
          <a:xfrm>
            <a:off x="0" y="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647" name=""/>
          <p:cNvSpPr txBox="1"/>
          <p:nvPr/>
        </p:nvSpPr>
        <p:spPr bwMode="auto">
          <a:xfrm>
            <a:off x="539640" y="2205000"/>
            <a:ext cx="4896000" cy="87012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r>
                        <m:rPr/>
                        <a:rPr/>
                        <m:t>g</m:t>
                      </m:r>
                      <m:r>
                        <m:rPr/>
                        <a:rPr/>
                        <m:t>(</m:t>
                      </m:r>
                      <m:r>
                        <m:rPr/>
                        <a:rPr/>
                        <m:t>x</m:t>
                      </m:r>
                      <m:r>
                        <m:rPr/>
                        <a:rPr/>
                        <m:t>,</m:t>
                      </m:r>
                      <m:r>
                        <m:rPr/>
                        <a:rPr/>
                        <m:t>y</m:t>
                      </m:r>
                      <m:r>
                        <m:rPr/>
                        <a:rPr/>
                        <m:t>)</m:t>
                      </m:r>
                      <m:r>
                        <m:rPr/>
                        <a:rPr/>
                        <m:t>=</m:t>
                      </m:r>
                      <m:d>
                        <m:dPr>
                          <m:begChr m:val="("/>
                          <m:endChr m:val=")"/>
                          <m:ctrlPr>
                            <a:rPr/>
                          </m:ctrlPr>
                        </m:dPr>
                        <m:e>
                          <m:f>
                            <m:fPr>
                              <m:ctrlPr>
                                <a:rPr/>
                              </m:ctrlPr>
                            </m:fPr>
                            <m:num>
                              <m:r>
                                <m:rPr/>
                                <a:rPr/>
                                <m:t>1</m:t>
                              </m:r>
                            </m:num>
                            <m:den>
                              <m:r>
                                <m:rPr/>
                                <a:rPr/>
                                <m:t>2</m:t>
                              </m:r>
                              <m:sSub>
                                <m:sSubPr>
                                  <m:ctrlPr>
                                    <a:rPr/>
                                  </m:ctrlPr>
                                </m:sSubPr>
                                <m:e>
                                  <m:r>
                                    <m:rPr>
                                      <m:lit m:val="on"/>
                                      <m:nor m:val="on"/>
                                    </m:rPr>
                                    <a:rPr/>
                                    <m:t>πσ</m:t>
                                  </m:r>
                                </m:e>
                                <m:sub>
                                  <m:r>
                                    <m:rPr/>
                                    <a:rPr/>
                                    <m:t>x</m:t>
                                  </m:r>
                                </m:sub>
                              </m:sSub>
                              <m:sSub>
                                <m:sSubPr>
                                  <m:ctrlPr>
                                    <a:rPr/>
                                  </m:ctrlPr>
                                </m:sSubPr>
                                <m:e>
                                  <m:r>
                                    <m:rPr/>
                                    <a:rPr/>
                                    <m:t>σ</m:t>
                                  </m:r>
                                </m:e>
                                <m:sub>
                                  <m:r>
                                    <m:rPr/>
                                    <a:rPr/>
                                    <m:t>y</m:t>
                                  </m:r>
                                </m:sub>
                              </m:sSub>
                            </m:den>
                          </m:f>
                        </m:e>
                      </m:d>
                      <m:r>
                        <m:rPr>
                          <m:lit m:val="on"/>
                          <m:nor m:val="on"/>
                        </m:rPr>
                        <a:rPr/>
                        <m:t>exp</m:t>
                      </m:r>
                      <m:d>
                        <m:dPr>
                          <m:begChr m:val="["/>
                          <m:endChr m:val="]"/>
                          <m:ctrlPr>
                            <a:rPr/>
                          </m:ctrlPr>
                        </m:dPr>
                        <m:e>
                          <m:r>
                            <m:rPr/>
                            <a:rPr/>
                            <m:t>−</m:t>
                          </m:r>
                          <m:f>
                            <m:fPr>
                              <m:ctrlPr>
                                <a:rPr/>
                              </m:ctrlPr>
                            </m:fPr>
                            <m:num>
                              <m:r>
                                <m:rPr/>
                                <a:rPr/>
                                <m:t>1</m:t>
                              </m:r>
                            </m:num>
                            <m:den>
                              <m:r>
                                <m:rPr/>
                                <a:rPr/>
                                <m:t>2</m:t>
                              </m:r>
                            </m:den>
                          </m:f>
                          <m:d>
                            <m:dPr>
                              <m:begChr m:val="("/>
                              <m:endChr m:val=")"/>
                              <m:ctrlPr>
                                <a:rPr/>
                              </m:ctrlPr>
                            </m:dPr>
                            <m:e>
                              <m:f>
                                <m:fPr>
                                  <m:ctrlPr>
                                    <a:rPr/>
                                  </m:ctrlPr>
                                </m:fPr>
                                <m:num>
                                  <m:sSup>
                                    <m:sSupPr>
                                      <m:ctrlPr>
                                        <a:rPr/>
                                      </m:ctrlPr>
                                    </m:sSupPr>
                                    <m:e>
                                      <m:r>
                                        <m:rPr/>
                                        <a:rPr/>
                                        <m:t>x</m:t>
                                      </m:r>
                                    </m:e>
                                    <m:sup>
                                      <m:r>
                                        <m:rPr/>
                                        <a:rPr/>
                                        <m:t>2</m:t>
                                      </m:r>
                                    </m:sup>
                                  </m:sSup>
                                </m:num>
                                <m:den>
                                  <m:sSubSup>
                                    <m:sSubSupPr>
                                      <m:alnScr m:val="off"/>
                                      <m:ctrlPr>
                                        <a:rPr/>
                                      </m:ctrlPr>
                                    </m:sSubSupPr>
                                    <m:e>
                                      <m:r>
                                        <m:rPr/>
                                        <a:rPr/>
                                        <m:t>σ</m:t>
                                      </m:r>
                                    </m:e>
                                    <m:sub>
                                      <m:r>
                                        <m:rPr/>
                                        <a:rPr/>
                                        <m:t>x</m:t>
                                      </m:r>
                                    </m:sub>
                                    <m:sup>
                                      <m:r>
                                        <m:rPr/>
                                        <a:rPr/>
                                        <m:t>2</m:t>
                                      </m:r>
                                    </m:sup>
                                  </m:sSubSup>
                                </m:den>
                              </m:f>
                              <m:r>
                                <m:rPr/>
                                <a:rPr/>
                                <m:t>+</m:t>
                              </m:r>
                              <m:f>
                                <m:fPr>
                                  <m:ctrlPr>
                                    <a:rPr/>
                                  </m:ctrlPr>
                                </m:fPr>
                                <m:num>
                                  <m:sSup>
                                    <m:sSupPr>
                                      <m:ctrlPr>
                                        <a:rPr/>
                                      </m:ctrlPr>
                                    </m:sSupPr>
                                    <m:e>
                                      <m:r>
                                        <m:rPr/>
                                        <a:rPr/>
                                        <m:t>y</m:t>
                                      </m:r>
                                    </m:e>
                                    <m:sup>
                                      <m:r>
                                        <m:rPr/>
                                        <a:rPr/>
                                        <m:t>2</m:t>
                                      </m:r>
                                    </m:sup>
                                  </m:sSup>
                                </m:num>
                                <m:den>
                                  <m:sSubSup>
                                    <m:sSubSupPr>
                                      <m:alnScr m:val="off"/>
                                      <m:ctrlPr>
                                        <a:rPr/>
                                      </m:ctrlPr>
                                    </m:sSubSupPr>
                                    <m:e>
                                      <m:r>
                                        <m:rPr/>
                                        <a:rPr/>
                                        <m:t>σ</m:t>
                                      </m:r>
                                    </m:e>
                                    <m:sub>
                                      <m:r>
                                        <m:rPr/>
                                        <a:rPr/>
                                        <m:t>y</m:t>
                                      </m:r>
                                    </m:sub>
                                    <m:sup>
                                      <m:r>
                                        <m:rPr/>
                                        <a:rPr/>
                                        <m:t>2</m:t>
                                      </m:r>
                                    </m:sup>
                                  </m:sSubSup>
                                </m:den>
                              </m:f>
                            </m:e>
                          </m:d>
                          <m:r>
                            <m:rPr/>
                            <a:rPr/>
                            <m:t>+</m:t>
                          </m:r>
                          <m:r>
                            <m:rPr/>
                            <a:rPr/>
                            <m:t>2</m:t>
                          </m:r>
                          <m:r>
                            <m:rPr/>
                            <a:rPr/>
                            <m:t>π</m:t>
                          </m:r>
                          <m:r>
                            <m:rPr>
                              <m:lit m:val="on"/>
                              <m:nor m:val="on"/>
                            </m:rPr>
                            <a:rPr/>
                            <m:t>jWx</m:t>
                          </m:r>
                        </m:e>
                      </m:d>
                    </m:oMath>
                  </m:oMathPara>
                </a14:m>
              </mc:Choice>
              <mc:Fallback/>
            </mc:AlternateContent>
            <a:endParaRPr/>
          </a:p>
        </p:txBody>
      </p:sp>
      <p:sp>
        <p:nvSpPr>
          <p:cNvPr id="648" name=""/>
          <p:cNvSpPr txBox="1"/>
          <p:nvPr/>
        </p:nvSpPr>
        <p:spPr bwMode="auto">
          <a:xfrm>
            <a:off x="611280" y="4075200"/>
            <a:ext cx="6337080" cy="115416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eqArr>
                        <m:eqArrPr>
                          <m:baseJc m:val="center"/>
                          <m:maxDist m:val="off"/>
                          <m:objDist m:val="off"/>
                          <m:rSp/>
                          <m:rSpRule/>
                          <m:ctrlPr>
                            <a:rPr/>
                          </m:ctrlPr>
                        </m:eqArrPr>
                        <m:e>
                          <m:sSub>
                            <m:sSubPr>
                              <m:ctrlPr>
                                <a:rPr/>
                              </m:ctrlPr>
                            </m:sSubPr>
                            <m:e>
                              <m:r>
                                <m:rPr/>
                                <a:rPr/>
                                <m:t>g</m:t>
                              </m:r>
                            </m:e>
                            <m:sub>
                              <m:r>
                                <m:rPr>
                                  <m:lit m:val="on"/>
                                  <m:nor m:val="on"/>
                                </m:rPr>
                                <a:rPr/>
                                <m:t>mn</m:t>
                              </m:r>
                            </m:sub>
                          </m:sSub>
                          <m:r>
                            <m:rPr/>
                            <a:rPr/>
                            <m:t>(</m:t>
                          </m:r>
                          <m:r>
                            <m:rPr/>
                            <a:rPr/>
                            <m:t>x</m:t>
                          </m:r>
                          <m:r>
                            <m:rPr/>
                            <a:rPr/>
                            <m:t>,</m:t>
                          </m:r>
                          <m:r>
                            <m:rPr/>
                            <a:rPr/>
                            <m:t>y</m:t>
                          </m:r>
                          <m:r>
                            <m:rPr/>
                            <a:rPr/>
                            <m:t>)</m:t>
                          </m:r>
                          <m:r>
                            <m:rPr/>
                            <a:rPr/>
                            <m:t>=</m:t>
                          </m:r>
                          <m:sSup>
                            <m:sSupPr>
                              <m:ctrlPr>
                                <a:rPr/>
                              </m:ctrlPr>
                            </m:sSupPr>
                            <m:e>
                              <m:r>
                                <m:rPr/>
                                <a:rPr/>
                                <m:t>a</m:t>
                              </m:r>
                            </m:e>
                            <m:sup>
                              <m:r>
                                <m:rPr/>
                                <a:rPr/>
                                <m:t>−</m:t>
                              </m:r>
                              <m:r>
                                <m:rPr/>
                                <a:rPr/>
                                <m:t>m</m:t>
                              </m:r>
                            </m:sup>
                          </m:sSup>
                          <m:r>
                            <m:rPr/>
                            <a:rPr/>
                            <m:t>g</m:t>
                          </m:r>
                          <m:r>
                            <m:rPr/>
                            <a:rPr/>
                            <m:t>(</m:t>
                          </m:r>
                          <m:sSup>
                            <m:sSupPr>
                              <m:ctrlPr>
                                <a:rPr/>
                              </m:ctrlPr>
                            </m:sSupPr>
                            <m:e>
                              <m:r>
                                <m:rPr/>
                                <a:rPr/>
                                <m:t>x</m:t>
                              </m:r>
                            </m:e>
                            <m:sup>
                              <m:r>
                                <m:rPr/>
                                <a:rPr/>
                                <m:t>'</m:t>
                              </m:r>
                            </m:sup>
                          </m:sSup>
                          <m:r>
                            <m:rPr/>
                            <a:rPr/>
                            <m:t>,</m:t>
                          </m:r>
                          <m:sSup>
                            <m:sSupPr>
                              <m:ctrlPr>
                                <a:rPr/>
                              </m:ctrlPr>
                            </m:sSupPr>
                            <m:e>
                              <m:r>
                                <m:rPr/>
                                <a:rPr/>
                                <m:t>y</m:t>
                              </m:r>
                            </m:e>
                            <m:sup>
                              <m:r>
                                <m:rPr/>
                                <a:rPr/>
                                <m:t>'</m:t>
                              </m:r>
                            </m:sup>
                          </m:sSup>
                          <m:r>
                            <m:rPr/>
                            <a:rPr/>
                            <m:t>)</m:t>
                          </m:r>
                          <m:r>
                            <m:rPr/>
                            <a:rPr/>
                            <m:t>,</m:t>
                          </m:r>
                          <m:r>
                            <m:rPr/>
                            <a:rPr/>
                            <m:t> </m:t>
                          </m:r>
                          <m:r>
                            <m:rPr/>
                            <a:rPr/>
                            <m:t>a</m:t>
                          </m:r>
                          <m:r>
                            <m:rPr/>
                            <a:rPr/>
                            <m:t>&gt;</m:t>
                          </m:r>
                          <m:r>
                            <m:rPr/>
                            <a:rPr/>
                            <m:t>1</m:t>
                          </m:r>
                          <m:r>
                            <m:rPr/>
                            <a:rPr/>
                            <m:t>,</m:t>
                          </m:r>
                          <m:r>
                            <m:rPr/>
                            <a:rPr/>
                            <m:t> </m:t>
                          </m:r>
                          <m:r>
                            <m:rPr/>
                            <a:rPr/>
                            <m:t>m</m:t>
                          </m:r>
                          <m:r>
                            <m:rPr/>
                            <a:rPr/>
                            <m:t>,</m:t>
                          </m:r>
                          <m:r>
                            <m:rPr/>
                            <a:rPr/>
                            <m:t>n</m:t>
                          </m:r>
                          <m:r>
                            <m:rPr/>
                            <a:rPr/>
                            <m:t>=</m:t>
                          </m:r>
                          <m:r>
                            <m:rPr>
                              <m:lit m:val="on"/>
                              <m:nor m:val="on"/>
                            </m:rPr>
                            <a:rPr/>
                            <m:t>integer,</m:t>
                          </m:r>
                          <m:r>
                            <m:rPr/>
                            <a:rPr/>
                            <m:t> </m:t>
                          </m:r>
                          <m:r>
                            <m:rPr/>
                            <a:rPr/>
                            <m:t>m</m:t>
                          </m:r>
                          <m:r>
                            <m:rPr/>
                            <a:rPr/>
                            <m:t>=</m:t>
                          </m:r>
                          <m:r>
                            <m:rPr>
                              <m:lit m:val="on"/>
                              <m:nor m:val="on"/>
                            </m:rPr>
                            <a:rPr/>
                            <m:t>0,1,</m:t>
                          </m:r>
                          <m:r>
                            <m:rPr>
                              <m:lit m:val="on"/>
                              <m:nor m:val="on"/>
                            </m:rPr>
                            <a:rPr/>
                            <m:t>.</m:t>
                          </m:r>
                          <m:r>
                            <m:rPr>
                              <m:lit m:val="on"/>
                              <m:nor m:val="on"/>
                            </m:rPr>
                            <a:rPr/>
                            <m:t>.</m:t>
                          </m:r>
                          <m:r>
                            <m:rPr>
                              <m:lit m:val="on"/>
                              <m:nor m:val="on"/>
                            </m:rPr>
                            <a:rPr/>
                            <m:t>.</m:t>
                          </m:r>
                          <m:r>
                            <m:rPr>
                              <m:lit m:val="on"/>
                              <m:nor m:val="on"/>
                            </m:rPr>
                            <a:rPr/>
                            <m:t>,S-1,</m:t>
                          </m:r>
                        </m:e>
                        <m:e>
                          <m:sSup>
                            <m:sSupPr>
                              <m:ctrlPr>
                                <a:rPr/>
                              </m:ctrlPr>
                            </m:sSupPr>
                            <m:e>
                              <m:r>
                                <m:rPr/>
                                <a:rPr/>
                                <m:t>x</m:t>
                              </m:r>
                            </m:e>
                            <m:sup>
                              <m:r>
                                <m:rPr/>
                                <a:rPr/>
                                <m:t>'</m:t>
                              </m:r>
                            </m:sup>
                          </m:sSup>
                          <m:r>
                            <m:rPr/>
                            <a:rPr/>
                            <m:t>=</m:t>
                          </m:r>
                          <m:sSup>
                            <m:sSupPr>
                              <m:ctrlPr>
                                <a:rPr/>
                              </m:ctrlPr>
                            </m:sSupPr>
                            <m:e>
                              <m:r>
                                <m:rPr/>
                                <a:rPr/>
                                <m:t>a</m:t>
                              </m:r>
                            </m:e>
                            <m:sup>
                              <m:r>
                                <m:rPr/>
                                <a:rPr/>
                                <m:t>−</m:t>
                              </m:r>
                              <m:r>
                                <m:rPr/>
                                <a:rPr/>
                                <m:t>m</m:t>
                              </m:r>
                            </m:sup>
                          </m:sSup>
                          <m:r>
                            <m:rPr/>
                            <a:rPr/>
                            <m:t>(</m:t>
                          </m:r>
                          <m:r>
                            <m:rPr/>
                            <a:rPr/>
                            <m:t>x</m:t>
                          </m:r>
                          <m:r>
                            <m:rPr/>
                            <a:rPr/>
                            <m:t> </m:t>
                          </m:r>
                          <m:r>
                            <m:rPr>
                              <m:lit m:val="on"/>
                              <m:nor m:val="on"/>
                            </m:rPr>
                            <a:rPr/>
                            <m:t>cos</m:t>
                          </m:r>
                          <m:r>
                            <m:rPr/>
                            <a:rPr/>
                            <m:t>Θ</m:t>
                          </m:r>
                          <m:r>
                            <m:rPr/>
                            <a:rPr/>
                            <m:t>+</m:t>
                          </m:r>
                          <m:r>
                            <m:rPr/>
                            <a:rPr/>
                            <m:t>y</m:t>
                          </m:r>
                          <m:r>
                            <m:rPr/>
                            <a:rPr/>
                            <m:t> </m:t>
                          </m:r>
                          <m:r>
                            <m:rPr>
                              <m:lit m:val="on"/>
                              <m:nor m:val="on"/>
                            </m:rPr>
                            <a:rPr/>
                            <m:t>sin</m:t>
                          </m:r>
                          <m:r>
                            <m:rPr/>
                            <a:rPr/>
                            <m:t>Θ</m:t>
                          </m:r>
                          <m:r>
                            <m:rPr/>
                            <a:rPr/>
                            <m:t>)</m:t>
                          </m:r>
                          <m:r>
                            <m:rPr/>
                            <a:rPr/>
                            <m:t>,</m:t>
                          </m:r>
                        </m:e>
                        <m:e>
                          <m:sSup>
                            <m:sSupPr>
                              <m:ctrlPr>
                                <a:rPr/>
                              </m:ctrlPr>
                            </m:sSupPr>
                            <m:e>
                              <m:r>
                                <m:rPr/>
                                <a:rPr/>
                                <m:t>y</m:t>
                              </m:r>
                            </m:e>
                            <m:sup>
                              <m:r>
                                <m:rPr/>
                                <a:rPr/>
                                <m:t>'</m:t>
                              </m:r>
                            </m:sup>
                          </m:sSup>
                          <m:r>
                            <m:rPr/>
                            <a:rPr/>
                            <m:t>=</m:t>
                          </m:r>
                          <m:sSup>
                            <m:sSupPr>
                              <m:ctrlPr>
                                <a:rPr/>
                              </m:ctrlPr>
                            </m:sSupPr>
                            <m:e>
                              <m:r>
                                <m:rPr/>
                                <a:rPr/>
                                <m:t>a</m:t>
                              </m:r>
                            </m:e>
                            <m:sup>
                              <m:r>
                                <m:rPr/>
                                <a:rPr/>
                                <m:t>−</m:t>
                              </m:r>
                              <m:r>
                                <m:rPr/>
                                <a:rPr/>
                                <m:t>m</m:t>
                              </m:r>
                            </m:sup>
                          </m:sSup>
                          <m:r>
                            <m:rPr/>
                            <a:rPr/>
                            <m:t>(</m:t>
                          </m:r>
                          <m:r>
                            <m:rPr/>
                            <a:rPr/>
                            <m:t>−</m:t>
                          </m:r>
                          <m:r>
                            <m:rPr/>
                            <a:rPr/>
                            <m:t>x</m:t>
                          </m:r>
                          <m:r>
                            <m:rPr/>
                            <a:rPr/>
                            <m:t> </m:t>
                          </m:r>
                          <m:r>
                            <m:rPr>
                              <m:lit m:val="on"/>
                              <m:nor m:val="on"/>
                            </m:rPr>
                            <a:rPr/>
                            <m:t>sin</m:t>
                          </m:r>
                          <m:r>
                            <m:rPr/>
                            <a:rPr/>
                            <m:t>Θ</m:t>
                          </m:r>
                          <m:r>
                            <m:rPr/>
                            <a:rPr/>
                            <m:t>+</m:t>
                          </m:r>
                          <m:r>
                            <m:rPr/>
                            <a:rPr/>
                            <m:t>y</m:t>
                          </m:r>
                          <m:r>
                            <m:rPr/>
                            <a:rPr/>
                            <m:t> </m:t>
                          </m:r>
                          <m:r>
                            <m:rPr>
                              <m:lit m:val="on"/>
                              <m:nor m:val="on"/>
                            </m:rPr>
                            <a:rPr/>
                            <m:t>cos</m:t>
                          </m:r>
                          <m:r>
                            <m:rPr/>
                            <a:rPr/>
                            <m:t>Θ</m:t>
                          </m:r>
                          <m:r>
                            <m:rPr/>
                            <a:rPr/>
                            <m:t>)</m:t>
                          </m:r>
                          <m:r>
                            <m:rPr/>
                            <a:rPr/>
                            <m:t>,</m:t>
                          </m:r>
                        </m:e>
                      </m:eqArr>
                    </m:oMath>
                  </m:oMathPara>
                </a14:m>
              </mc:Choice>
              <mc:Fallback/>
            </mc:AlternateContent>
            <a:endParaRPr/>
          </a:p>
        </p:txBody>
      </p:sp>
      <p:sp>
        <p:nvSpPr>
          <p:cNvPr id="649" name=""/>
          <p:cNvSpPr/>
          <p:nvPr/>
        </p:nvSpPr>
        <p:spPr bwMode="auto">
          <a:xfrm>
            <a:off x="375840" y="3535920"/>
            <a:ext cx="1753560" cy="3988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Tahoma"/>
              </a:rPr>
              <a:t>Filters bank</a:t>
            </a:r>
            <a:r>
              <a:rPr lang="ru-RU" sz="2000" b="0" strike="noStrike" spc="-1">
                <a:solidFill>
                  <a:srgbClr val="000000"/>
                </a:solidFill>
                <a:latin typeface="Tahoma"/>
              </a:rPr>
              <a:t>:</a:t>
            </a:r>
            <a:endParaRPr lang="en-US" sz="2000" b="0" strike="noStrike" spc="-1">
              <a:solidFill>
                <a:srgbClr val="000000"/>
              </a:solidFill>
              <a:latin typeface="Arial"/>
            </a:endParaRPr>
          </a:p>
        </p:txBody>
      </p:sp>
      <p:sp>
        <p:nvSpPr>
          <p:cNvPr id="650" name=""/>
          <p:cNvSpPr/>
          <p:nvPr/>
        </p:nvSpPr>
        <p:spPr bwMode="auto">
          <a:xfrm>
            <a:off x="0" y="334800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651" name=""/>
          <p:cNvSpPr txBox="1"/>
          <p:nvPr/>
        </p:nvSpPr>
        <p:spPr bwMode="auto">
          <a:xfrm>
            <a:off x="611280" y="5300640"/>
            <a:ext cx="1079280" cy="28728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r>
                        <m:rPr/>
                        <a:rPr/>
                        <m:t>Θ</m:t>
                      </m:r>
                      <m:r>
                        <m:rPr/>
                        <a:rPr/>
                        <m:t>=</m:t>
                      </m:r>
                      <m:f>
                        <m:fPr>
                          <m:type m:val="lin"/>
                          <m:ctrlPr>
                            <a:rPr/>
                          </m:ctrlPr>
                        </m:fPr>
                        <m:num>
                          <m:r>
                            <m:rPr/>
                            <a:rPr/>
                            <m:t>nπ</m:t>
                          </m:r>
                        </m:num>
                        <m:den>
                          <m:r>
                            <m:rPr/>
                            <a:rPr/>
                            <m:t>K</m:t>
                          </m:r>
                        </m:den>
                      </m:f>
                    </m:oMath>
                  </m:oMathPara>
                </a14:m>
              </mc:Choice>
              <mc:Fallback/>
            </mc:AlternateContent>
            <a:endParaRPr/>
          </a:p>
        </p:txBody>
      </p:sp>
      <p:sp>
        <p:nvSpPr>
          <p:cNvPr id="652" name=""/>
          <p:cNvSpPr/>
          <p:nvPr/>
        </p:nvSpPr>
        <p:spPr bwMode="auto">
          <a:xfrm>
            <a:off x="0" y="330984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653" name=""/>
          <p:cNvSpPr txBox="1"/>
          <p:nvPr/>
        </p:nvSpPr>
        <p:spPr bwMode="auto">
          <a:xfrm>
            <a:off x="611280" y="5661000"/>
            <a:ext cx="1873080" cy="38088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r>
                        <m:rPr/>
                        <a:rPr/>
                        <m:t>a</m:t>
                      </m:r>
                      <m:r>
                        <m:rPr/>
                        <a:rPr/>
                        <m:t>=</m:t>
                      </m:r>
                      <m:r>
                        <m:rPr/>
                        <a:rPr/>
                        <m:t>(</m:t>
                      </m:r>
                      <m:f>
                        <m:fPr>
                          <m:type m:val="lin"/>
                          <m:ctrlPr>
                            <a:rPr/>
                          </m:ctrlPr>
                        </m:fPr>
                        <m:num>
                          <m:sSub>
                            <m:sSubPr>
                              <m:ctrlPr>
                                <a:rPr/>
                              </m:ctrlPr>
                            </m:sSubPr>
                            <m:e>
                              <m:r>
                                <m:rPr/>
                                <a:rPr/>
                                <m:t>U</m:t>
                              </m:r>
                            </m:e>
                            <m:sub>
                              <m:r>
                                <m:rPr/>
                                <a:rPr/>
                                <m:t>h</m:t>
                              </m:r>
                            </m:sub>
                          </m:sSub>
                        </m:num>
                        <m:den>
                          <m:sSub>
                            <m:sSubPr>
                              <m:ctrlPr>
                                <a:rPr/>
                              </m:ctrlPr>
                            </m:sSubPr>
                            <m:e>
                              <m:r>
                                <m:rPr/>
                                <a:rPr/>
                                <m:t>U</m:t>
                              </m:r>
                            </m:e>
                            <m:sub>
                              <m:r>
                                <m:rPr/>
                                <a:rPr/>
                                <m:t>l</m:t>
                              </m:r>
                            </m:sub>
                          </m:sSub>
                        </m:den>
                      </m:f>
                      <m:sSup>
                        <m:sSupPr>
                          <m:ctrlPr>
                            <a:rPr/>
                          </m:ctrlPr>
                        </m:sSupPr>
                        <m:e>
                          <m:r>
                            <m:rPr/>
                            <a:rPr/>
                            <m:t>)</m:t>
                          </m:r>
                        </m:e>
                        <m:sup>
                          <m:f>
                            <m:fPr>
                              <m:type m:val="lin"/>
                              <m:ctrlPr>
                                <a:rPr/>
                              </m:ctrlPr>
                            </m:fPr>
                            <m:num>
                              <m:r>
                                <m:rPr/>
                                <a:rPr/>
                                <m:t>−</m:t>
                              </m:r>
                              <m:r>
                                <m:rPr/>
                                <a:rPr/>
                                <m:t>1</m:t>
                              </m:r>
                            </m:num>
                            <m:den>
                              <m:r>
                                <m:rPr/>
                                <a:rPr/>
                                <m:t>(</m:t>
                              </m:r>
                            </m:den>
                          </m:f>
                          <m:r>
                            <m:rPr/>
                            <a:rPr/>
                            <m:t>S</m:t>
                          </m:r>
                          <m:r>
                            <m:rPr/>
                            <a:rPr/>
                            <m:t>−</m:t>
                          </m:r>
                          <m:r>
                            <m:rPr/>
                            <a:rPr/>
                            <m:t>1</m:t>
                          </m:r>
                          <m:r>
                            <m:rPr/>
                            <a:rPr/>
                            <m:t>)</m:t>
                          </m:r>
                        </m:sup>
                      </m:sSup>
                    </m:oMath>
                  </m:oMathPara>
                </a14:m>
              </mc:Choice>
              <mc:Fallback/>
            </mc:AlternateContent>
            <a:endParaRPr/>
          </a:p>
        </p:txBody>
      </p:sp>
      <p:sp>
        <p:nvSpPr>
          <p:cNvPr id="654" name=""/>
          <p:cNvSpPr/>
          <p:nvPr/>
        </p:nvSpPr>
        <p:spPr bwMode="auto">
          <a:xfrm>
            <a:off x="3807000" y="5284080"/>
            <a:ext cx="5632200" cy="76356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400" b="0" strike="noStrike" spc="-1">
                <a:solidFill>
                  <a:srgbClr val="000000"/>
                </a:solidFill>
                <a:latin typeface="Tahoma"/>
              </a:rPr>
              <a:t>К – </a:t>
            </a:r>
            <a:r>
              <a:rPr lang="en-US" sz="1400" b="0" strike="noStrike" spc="-1">
                <a:solidFill>
                  <a:srgbClr val="000000"/>
                </a:solidFill>
                <a:latin typeface="Tahoma"/>
              </a:rPr>
              <a:t>a number of directions</a:t>
            </a:r>
            <a:r>
              <a:rPr lang="ru-RU" sz="1400" b="0" strike="noStrike" spc="-1">
                <a:solidFill>
                  <a:srgbClr val="000000"/>
                </a:solidFill>
                <a:latin typeface="Tahoma"/>
              </a:rPr>
              <a:t>, </a:t>
            </a:r>
            <a:endParaRPr lang="en-US" sz="1400" b="0" strike="noStrike" spc="-1">
              <a:solidFill>
                <a:srgbClr val="000000"/>
              </a:solidFill>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400" b="0" strike="noStrike" spc="-1">
                <a:solidFill>
                  <a:srgbClr val="000000"/>
                </a:solidFill>
                <a:latin typeface="Tahoma"/>
              </a:rPr>
              <a:t>S</a:t>
            </a:r>
            <a:r>
              <a:rPr lang="ru-RU" sz="1400" b="0" strike="noStrike" spc="-1">
                <a:solidFill>
                  <a:srgbClr val="000000"/>
                </a:solidFill>
                <a:latin typeface="Tahoma"/>
              </a:rPr>
              <a:t> – </a:t>
            </a:r>
            <a:r>
              <a:rPr lang="en-US" sz="1400" b="0" strike="noStrike" spc="-1">
                <a:solidFill>
                  <a:srgbClr val="000000"/>
                </a:solidFill>
                <a:latin typeface="Tahoma"/>
              </a:rPr>
              <a:t>a number of scales</a:t>
            </a:r>
            <a:r>
              <a:rPr lang="ru-RU" sz="1400" b="0" strike="noStrike" spc="-1">
                <a:solidFill>
                  <a:srgbClr val="000000"/>
                </a:solidFill>
                <a:latin typeface="Tahoma"/>
              </a:rPr>
              <a:t>,</a:t>
            </a:r>
            <a:endParaRPr lang="en-US" sz="1400" b="0" strike="noStrike" spc="-1">
              <a:solidFill>
                <a:srgbClr val="000000"/>
              </a:solidFill>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400" b="0" i="1" strike="noStrike" spc="-1">
                <a:solidFill>
                  <a:srgbClr val="000000"/>
                </a:solidFill>
                <a:latin typeface="Tahoma"/>
              </a:rPr>
              <a:t>U</a:t>
            </a:r>
            <a:r>
              <a:rPr lang="en-US" sz="1400" b="0" i="1" strike="noStrike" spc="-1" baseline="-25000">
                <a:solidFill>
                  <a:srgbClr val="000000"/>
                </a:solidFill>
                <a:latin typeface="Tahoma"/>
              </a:rPr>
              <a:t>h</a:t>
            </a:r>
            <a:r>
              <a:rPr lang="ru-RU" sz="1400" b="0" strike="noStrike" spc="-1">
                <a:solidFill>
                  <a:srgbClr val="000000"/>
                </a:solidFill>
                <a:latin typeface="Tahoma"/>
              </a:rPr>
              <a:t>, </a:t>
            </a:r>
            <a:r>
              <a:rPr lang="en-US" sz="1400" b="0" i="1" strike="noStrike" spc="-1">
                <a:solidFill>
                  <a:srgbClr val="000000"/>
                </a:solidFill>
                <a:latin typeface="Tahoma"/>
              </a:rPr>
              <a:t>U</a:t>
            </a:r>
            <a:r>
              <a:rPr lang="en-US" sz="1400" b="0" i="1" strike="noStrike" spc="-1" baseline="-25000">
                <a:solidFill>
                  <a:srgbClr val="000000"/>
                </a:solidFill>
                <a:latin typeface="Tahoma"/>
              </a:rPr>
              <a:t>l</a:t>
            </a:r>
            <a:r>
              <a:rPr lang="en-US" sz="1400" b="0" i="1" strike="noStrike" spc="-1">
                <a:solidFill>
                  <a:srgbClr val="000000"/>
                </a:solidFill>
                <a:latin typeface="Tahoma"/>
              </a:rPr>
              <a:t> </a:t>
            </a:r>
            <a:r>
              <a:rPr lang="ru-RU" sz="1400" b="0" strike="noStrike" spc="-1">
                <a:solidFill>
                  <a:srgbClr val="000000"/>
                </a:solidFill>
                <a:latin typeface="Tahoma"/>
              </a:rPr>
              <a:t>– </a:t>
            </a:r>
            <a:r>
              <a:rPr lang="en-US" sz="1400" b="0" strike="noStrike" spc="-1">
                <a:solidFill>
                  <a:srgbClr val="000000"/>
                </a:solidFill>
                <a:latin typeface="Tahoma"/>
              </a:rPr>
              <a:t>max and min of frequencies taken into consideration</a:t>
            </a:r>
            <a:r>
              <a:rPr lang="ru-RU" sz="1400" b="0" strike="noStrike" spc="-1">
                <a:solidFill>
                  <a:srgbClr val="000000"/>
                </a:solidFill>
                <a:latin typeface="Tahoma"/>
              </a:rPr>
              <a:t>.</a:t>
            </a:r>
            <a:endParaRPr lang="en-US" sz="1400" b="0" strike="noStrike" spc="-1">
              <a:solidFill>
                <a:srgbClr val="000000"/>
              </a:solidFill>
              <a:latin typeface="Arial"/>
            </a:endParaRPr>
          </a:p>
        </p:txBody>
      </p:sp>
      <p:pic>
        <p:nvPicPr>
          <p:cNvPr id="655" name="" descr=""/>
          <p:cNvPicPr/>
          <p:nvPr/>
        </p:nvPicPr>
        <p:blipFill>
          <a:blip r:embed="rId2"/>
          <a:stretch/>
        </p:blipFill>
        <p:spPr bwMode="auto">
          <a:xfrm>
            <a:off x="5724360" y="1844640"/>
            <a:ext cx="3024360" cy="2023920"/>
          </a:xfrm>
          <a:prstGeom prst="rect">
            <a:avLst/>
          </a:prstGeom>
          <a:ln w="0">
            <a:noFill/>
          </a:ln>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656"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Texture features: ICA filters</a:t>
            </a:r>
            <a:endParaRPr lang="en-US" sz="3600" b="0" strike="noStrike" spc="-1">
              <a:solidFill>
                <a:srgbClr val="000000"/>
              </a:solidFill>
              <a:latin typeface="Futura Bk"/>
            </a:endParaRPr>
          </a:p>
        </p:txBody>
      </p:sp>
      <p:sp>
        <p:nvSpPr>
          <p:cNvPr id="657" name=""/>
          <p:cNvSpPr/>
          <p:nvPr/>
        </p:nvSpPr>
        <p:spPr bwMode="auto">
          <a:xfrm>
            <a:off x="5292720" y="4510080"/>
            <a:ext cx="3529080" cy="1295280"/>
          </a:xfrm>
          <a:prstGeom prst="rect">
            <a:avLst/>
          </a:prstGeom>
          <a:noFill/>
          <a:ln w="0">
            <a:noFill/>
          </a:ln>
        </p:spPr>
        <p:style>
          <a:lnRef idx="0"/>
          <a:fillRef idx="0"/>
          <a:effectRef idx="0"/>
          <a:fontRef idx="minor"/>
        </p:style>
        <p:txBody>
          <a:bodyPr lIns="90000" tIns="46800" rIns="90000" bIns="46800" anchor="ctr">
            <a:noAutofit/>
          </a:bodyPr>
          <a:p>
            <a:pPr>
              <a:lnSpc>
                <a:spcPct val="11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400" b="0" strike="noStrike" spc="-1">
                <a:solidFill>
                  <a:srgbClr val="000000"/>
                </a:solidFill>
                <a:latin typeface="Tahoma"/>
                <a:ea typeface="宋体"/>
              </a:rPr>
              <a:t>H. Borgne, A. Guerin-Dugue, A. Antoniadis. Representation of images for classification with independent features. </a:t>
            </a:r>
            <a:r>
              <a:rPr lang="ru-RU" sz="1400" b="0" strike="noStrike" spc="-1">
                <a:solidFill>
                  <a:srgbClr val="000000"/>
                </a:solidFill>
                <a:latin typeface="Tahoma"/>
              </a:rPr>
              <a:t>Pattern Recognition Letters</a:t>
            </a:r>
            <a:r>
              <a:rPr lang="en-US" sz="1400" b="0" strike="noStrike" spc="-1">
                <a:solidFill>
                  <a:srgbClr val="000000"/>
                </a:solidFill>
                <a:latin typeface="Tahoma"/>
                <a:ea typeface="宋体"/>
              </a:rPr>
              <a:t>, v</a:t>
            </a:r>
            <a:r>
              <a:rPr lang="ru-RU" sz="1400" b="0" strike="noStrike" spc="-1">
                <a:solidFill>
                  <a:srgbClr val="000000"/>
                </a:solidFill>
                <a:latin typeface="Tahoma"/>
              </a:rPr>
              <a:t>ol. 25</a:t>
            </a:r>
            <a:r>
              <a:rPr lang="en-US" sz="1400" b="0" strike="noStrike" spc="-1">
                <a:solidFill>
                  <a:srgbClr val="000000"/>
                </a:solidFill>
                <a:latin typeface="Tahoma"/>
                <a:ea typeface="宋体"/>
              </a:rPr>
              <a:t>, p</a:t>
            </a:r>
            <a:r>
              <a:rPr lang="ru-RU" sz="1400" b="0" strike="noStrike" spc="-1">
                <a:solidFill>
                  <a:srgbClr val="000000"/>
                </a:solidFill>
                <a:latin typeface="Tahoma"/>
              </a:rPr>
              <a:t>. 141-154</a:t>
            </a:r>
            <a:r>
              <a:rPr lang="en-US" sz="1400" b="0" strike="noStrike" spc="-1">
                <a:solidFill>
                  <a:srgbClr val="000000"/>
                </a:solidFill>
                <a:latin typeface="Tahoma"/>
                <a:ea typeface="宋体"/>
              </a:rPr>
              <a:t>, 2004</a:t>
            </a:r>
            <a:r>
              <a:rPr lang="ru-RU" sz="1400" b="0" strike="noStrike" spc="-1">
                <a:solidFill>
                  <a:srgbClr val="000000"/>
                </a:solidFill>
                <a:latin typeface="Tahoma"/>
              </a:rPr>
              <a:t> </a:t>
            </a:r>
            <a:endParaRPr lang="en-US" sz="1400" b="0" strike="noStrike" spc="-1">
              <a:solidFill>
                <a:srgbClr val="000000"/>
              </a:solidFill>
              <a:latin typeface="Arial"/>
            </a:endParaRPr>
          </a:p>
        </p:txBody>
      </p:sp>
      <p:grpSp>
        <p:nvGrpSpPr>
          <p:cNvPr id="658" name=""/>
          <p:cNvGrpSpPr/>
          <p:nvPr/>
        </p:nvGrpSpPr>
        <p:grpSpPr bwMode="auto">
          <a:xfrm>
            <a:off x="684360" y="2133720"/>
            <a:ext cx="4103640" cy="4109760"/>
            <a:chOff x="684360" y="2133720"/>
            <a:chExt cx="4103640" cy="4109760"/>
          </a:xfrm>
        </p:grpSpPr>
        <p:sp>
          <p:nvSpPr>
            <p:cNvPr id="659" name=""/>
            <p:cNvSpPr/>
            <p:nvPr/>
          </p:nvSpPr>
          <p:spPr bwMode="auto">
            <a:xfrm>
              <a:off x="684360" y="4052880"/>
              <a:ext cx="4103640" cy="0"/>
            </a:xfrm>
            <a:prstGeom prst="line">
              <a:avLst/>
            </a:prstGeom>
            <a:ln w="38160">
              <a:solidFill>
                <a:srgbClr val="000000"/>
              </a:solidFill>
              <a:prstDash val="lgDash"/>
              <a:miter/>
            </a:ln>
          </p:spPr>
          <p:style>
            <a:lnRef idx="0"/>
            <a:fillRef idx="0"/>
            <a:effectRef idx="0"/>
            <a:fontRef idx="minor"/>
          </p:style>
          <p:txBody>
            <a:bodyPr lIns="90000" tIns="-46800" rIns="90000" bIns="-46800" anchor="b">
              <a:noAutofit/>
            </a:bodyPr>
            <a:p>
              <a:pPr>
                <a:defRPr/>
              </a:pPr>
              <a:endParaRPr lang="en-US" sz="1800" b="0" strike="noStrike" spc="-1">
                <a:solidFill>
                  <a:srgbClr val="000000"/>
                </a:solidFill>
                <a:latin typeface="Arial"/>
              </a:endParaRPr>
            </a:p>
          </p:txBody>
        </p:sp>
        <p:sp>
          <p:nvSpPr>
            <p:cNvPr id="660" name=""/>
            <p:cNvSpPr/>
            <p:nvPr/>
          </p:nvSpPr>
          <p:spPr bwMode="auto">
            <a:xfrm>
              <a:off x="1790640" y="4846680"/>
              <a:ext cx="978120" cy="398520"/>
            </a:xfrm>
            <a:prstGeom prst="rightArrow">
              <a:avLst>
                <a:gd name="adj1" fmla="val 50000"/>
                <a:gd name="adj2" fmla="val 61360"/>
              </a:avLst>
            </a:prstGeom>
            <a:noFill/>
            <a:ln w="12600">
              <a:solidFill>
                <a:srgbClr val="EB5F01"/>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661" name=""/>
            <p:cNvSpPr/>
            <p:nvPr/>
          </p:nvSpPr>
          <p:spPr bwMode="auto">
            <a:xfrm>
              <a:off x="1790640" y="2927519"/>
              <a:ext cx="978120" cy="396720"/>
            </a:xfrm>
            <a:prstGeom prst="rightArrow">
              <a:avLst>
                <a:gd name="adj1" fmla="val 50000"/>
                <a:gd name="adj2" fmla="val 61638"/>
              </a:avLst>
            </a:prstGeom>
            <a:noFill/>
            <a:ln w="12600">
              <a:solidFill>
                <a:srgbClr val="EB5F01"/>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662" name=""/>
            <p:cNvSpPr/>
            <p:nvPr/>
          </p:nvSpPr>
          <p:spPr bwMode="auto">
            <a:xfrm>
              <a:off x="1952640" y="2265480"/>
              <a:ext cx="455760" cy="3706560"/>
            </a:xfrm>
            <a:prstGeom prst="rect">
              <a:avLst/>
            </a:prstGeom>
            <a:solidFill>
              <a:srgbClr val="FFFFFF"/>
            </a:solidFill>
            <a:ln w="9360">
              <a:solidFill>
                <a:srgbClr val="FFFFFF"/>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663" name=""/>
            <p:cNvSpPr/>
            <p:nvPr/>
          </p:nvSpPr>
          <p:spPr bwMode="auto">
            <a:xfrm>
              <a:off x="1123200" y="3456000"/>
              <a:ext cx="298080" cy="33660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fr-FR" sz="1400" b="0" strike="noStrike" spc="-1">
                  <a:solidFill>
                    <a:srgbClr val="000000"/>
                  </a:solidFill>
                  <a:latin typeface="Tahoma"/>
                </a:rPr>
                <a:t>I</a:t>
              </a:r>
              <a:r>
                <a:rPr lang="fr-FR" sz="1400" b="0" strike="noStrike" spc="-1" baseline="-25000">
                  <a:solidFill>
                    <a:srgbClr val="000000"/>
                  </a:solidFill>
                  <a:latin typeface="Tahoma"/>
                </a:rPr>
                <a:t>1</a:t>
              </a:r>
              <a:endParaRPr lang="en-US" sz="1400" b="0" strike="noStrike" spc="-1">
                <a:solidFill>
                  <a:srgbClr val="000000"/>
                </a:solidFill>
                <a:latin typeface="Arial"/>
              </a:endParaRPr>
            </a:p>
          </p:txBody>
        </p:sp>
        <p:pic>
          <p:nvPicPr>
            <p:cNvPr id="664" name="" descr=""/>
            <p:cNvPicPr/>
            <p:nvPr/>
          </p:nvPicPr>
          <p:blipFill>
            <a:blip r:embed="rId2"/>
            <a:srcRect l="12890" t="7108" r="9988" b="12417"/>
            <a:stretch/>
          </p:blipFill>
          <p:spPr bwMode="auto">
            <a:xfrm>
              <a:off x="852480" y="2664000"/>
              <a:ext cx="782640" cy="793440"/>
            </a:xfrm>
            <a:prstGeom prst="rect">
              <a:avLst/>
            </a:prstGeom>
            <a:ln w="0">
              <a:noFill/>
            </a:ln>
          </p:spPr>
        </p:pic>
        <p:pic>
          <p:nvPicPr>
            <p:cNvPr id="665" name="" descr=""/>
            <p:cNvPicPr/>
            <p:nvPr/>
          </p:nvPicPr>
          <p:blipFill>
            <a:blip r:embed="rId3"/>
            <a:stretch/>
          </p:blipFill>
          <p:spPr bwMode="auto">
            <a:xfrm>
              <a:off x="852480" y="4583160"/>
              <a:ext cx="782640" cy="793800"/>
            </a:xfrm>
            <a:prstGeom prst="rect">
              <a:avLst/>
            </a:prstGeom>
            <a:ln w="0">
              <a:noFill/>
            </a:ln>
          </p:spPr>
        </p:pic>
        <p:sp>
          <p:nvSpPr>
            <p:cNvPr id="666" name=""/>
            <p:cNvSpPr/>
            <p:nvPr/>
          </p:nvSpPr>
          <p:spPr bwMode="auto">
            <a:xfrm>
              <a:off x="1127520" y="5349960"/>
              <a:ext cx="313200" cy="37116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fr-FR" sz="1600" b="0" strike="noStrike" spc="-1">
                  <a:solidFill>
                    <a:srgbClr val="000000"/>
                  </a:solidFill>
                  <a:latin typeface="Tahoma"/>
                </a:rPr>
                <a:t>I</a:t>
              </a:r>
              <a:r>
                <a:rPr lang="fr-FR" sz="1600" b="0" strike="noStrike" spc="-1" baseline="-25000">
                  <a:solidFill>
                    <a:srgbClr val="000000"/>
                  </a:solidFill>
                  <a:latin typeface="Tahoma"/>
                </a:rPr>
                <a:t>2</a:t>
              </a:r>
              <a:endParaRPr lang="en-US" sz="1600" b="0" strike="noStrike" spc="-1">
                <a:solidFill>
                  <a:srgbClr val="000000"/>
                </a:solidFill>
                <a:latin typeface="Arial"/>
              </a:endParaRPr>
            </a:p>
          </p:txBody>
        </p:sp>
        <p:grpSp>
          <p:nvGrpSpPr>
            <p:cNvPr id="667" name=""/>
            <p:cNvGrpSpPr/>
            <p:nvPr/>
          </p:nvGrpSpPr>
          <p:grpSpPr bwMode="auto">
            <a:xfrm>
              <a:off x="2017800" y="2332080"/>
              <a:ext cx="648360" cy="3507840"/>
              <a:chOff x="2017800" y="2332080"/>
              <a:chExt cx="648360" cy="3507840"/>
            </a:xfrm>
          </p:grpSpPr>
          <p:pic>
            <p:nvPicPr>
              <p:cNvPr id="668" name="" descr=""/>
              <p:cNvPicPr/>
              <p:nvPr/>
            </p:nvPicPr>
            <p:blipFill>
              <a:blip r:embed="rId4"/>
              <a:stretch/>
            </p:blipFill>
            <p:spPr bwMode="auto">
              <a:xfrm>
                <a:off x="2017800" y="2332080"/>
                <a:ext cx="313200" cy="2760480"/>
              </a:xfrm>
              <a:prstGeom prst="rect">
                <a:avLst/>
              </a:prstGeom>
              <a:ln w="0">
                <a:noFill/>
              </a:ln>
            </p:spPr>
          </p:pic>
          <p:pic>
            <p:nvPicPr>
              <p:cNvPr id="669" name="" descr=""/>
              <p:cNvPicPr/>
              <p:nvPr/>
            </p:nvPicPr>
            <p:blipFill>
              <a:blip r:embed="rId5"/>
              <a:stretch/>
            </p:blipFill>
            <p:spPr bwMode="auto">
              <a:xfrm>
                <a:off x="2018880" y="5552640"/>
                <a:ext cx="309600" cy="287280"/>
              </a:xfrm>
              <a:prstGeom prst="rect">
                <a:avLst/>
              </a:prstGeom>
              <a:ln w="0">
                <a:noFill/>
              </a:ln>
            </p:spPr>
          </p:pic>
          <p:sp>
            <p:nvSpPr>
              <p:cNvPr id="670" name=""/>
              <p:cNvSpPr/>
              <p:nvPr/>
            </p:nvSpPr>
            <p:spPr bwMode="auto">
              <a:xfrm rot="5400000">
                <a:off x="2134080" y="4990320"/>
                <a:ext cx="421560" cy="642600"/>
              </a:xfrm>
              <a:prstGeom prst="rect">
                <a:avLst/>
              </a:prstGeom>
              <a:noFill/>
              <a:ln w="0">
                <a:noFill/>
              </a:ln>
            </p:spPr>
            <p:style>
              <a:lnRef idx="0"/>
              <a:fillRef idx="0"/>
              <a:effectRef idx="0"/>
              <a:fontRef idx="minor"/>
            </p:style>
            <p:txBody>
              <a:bodyPr lIns="90000" tIns="46800" rIns="90000" bIns="46800" anchor="b">
                <a:sp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fr-FR" sz="3600" b="0" strike="noStrike" spc="-1">
                    <a:solidFill>
                      <a:srgbClr val="000000"/>
                    </a:solidFill>
                    <a:latin typeface="Tahoma"/>
                  </a:rPr>
                  <a:t>…</a:t>
                </a:r>
                <a:endParaRPr lang="en-US" sz="3600" b="0" strike="noStrike" spc="-1">
                  <a:solidFill>
                    <a:srgbClr val="000000"/>
                  </a:solidFill>
                  <a:latin typeface="Arial"/>
                </a:endParaRPr>
              </a:p>
            </p:txBody>
          </p:sp>
        </p:grpSp>
        <p:grpSp>
          <p:nvGrpSpPr>
            <p:cNvPr id="671" name=""/>
            <p:cNvGrpSpPr/>
            <p:nvPr/>
          </p:nvGrpSpPr>
          <p:grpSpPr bwMode="auto">
            <a:xfrm>
              <a:off x="2895480" y="2133720"/>
              <a:ext cx="1827000" cy="3837600"/>
              <a:chOff x="2895480" y="2133720"/>
              <a:chExt cx="1827000" cy="3837600"/>
            </a:xfrm>
          </p:grpSpPr>
          <p:grpSp>
            <p:nvGrpSpPr>
              <p:cNvPr id="672" name=""/>
              <p:cNvGrpSpPr/>
              <p:nvPr/>
            </p:nvGrpSpPr>
            <p:grpSpPr bwMode="auto">
              <a:xfrm>
                <a:off x="2895480" y="2133720"/>
                <a:ext cx="1827000" cy="1786320"/>
                <a:chOff x="2895480" y="2133720"/>
                <a:chExt cx="1827000" cy="1786320"/>
              </a:xfrm>
            </p:grpSpPr>
            <p:grpSp>
              <p:nvGrpSpPr>
                <p:cNvPr id="673" name=""/>
                <p:cNvGrpSpPr/>
                <p:nvPr/>
              </p:nvGrpSpPr>
              <p:grpSpPr bwMode="auto">
                <a:xfrm>
                  <a:off x="2895480" y="2133720"/>
                  <a:ext cx="1827000" cy="1786320"/>
                  <a:chOff x="2895480" y="2133720"/>
                  <a:chExt cx="1827000" cy="1786320"/>
                </a:xfrm>
              </p:grpSpPr>
              <p:sp>
                <p:nvSpPr>
                  <p:cNvPr id="674" name=""/>
                  <p:cNvSpPr/>
                  <p:nvPr/>
                </p:nvSpPr>
                <p:spPr bwMode="auto">
                  <a:xfrm>
                    <a:off x="3129840" y="2133720"/>
                    <a:ext cx="1592640" cy="158760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675" name=""/>
                  <p:cNvSpPr/>
                  <p:nvPr/>
                </p:nvSpPr>
                <p:spPr bwMode="auto">
                  <a:xfrm>
                    <a:off x="3062519" y="2200680"/>
                    <a:ext cx="1592640" cy="158796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676" name=""/>
                  <p:cNvSpPr/>
                  <p:nvPr/>
                </p:nvSpPr>
                <p:spPr bwMode="auto">
                  <a:xfrm>
                    <a:off x="2994840" y="2268000"/>
                    <a:ext cx="1592640" cy="158796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pic>
                <p:nvPicPr>
                  <p:cNvPr id="677" name="" descr=""/>
                  <p:cNvPicPr/>
                  <p:nvPr/>
                </p:nvPicPr>
                <p:blipFill>
                  <a:blip r:embed="rId6"/>
                  <a:stretch/>
                </p:blipFill>
                <p:spPr bwMode="auto">
                  <a:xfrm>
                    <a:off x="2895480" y="2335320"/>
                    <a:ext cx="1613880" cy="1584720"/>
                  </a:xfrm>
                  <a:prstGeom prst="rect">
                    <a:avLst/>
                  </a:prstGeom>
                  <a:ln w="9360">
                    <a:solidFill>
                      <a:srgbClr val="000000"/>
                    </a:solidFill>
                    <a:miter/>
                  </a:ln>
                </p:spPr>
              </p:pic>
            </p:grpSp>
            <p:sp>
              <p:nvSpPr>
                <p:cNvPr id="678" name=""/>
                <p:cNvSpPr/>
                <p:nvPr/>
              </p:nvSpPr>
              <p:spPr bwMode="auto">
                <a:xfrm>
                  <a:off x="4080600" y="2676600"/>
                  <a:ext cx="30960" cy="987120"/>
                </a:xfrm>
                <a:prstGeom prst="rect">
                  <a:avLst/>
                </a:prstGeom>
                <a:solidFill>
                  <a:srgbClr val="EB5F01"/>
                </a:solidFill>
                <a:ln w="9360">
                  <a:solidFill>
                    <a:srgbClr val="EB5F01"/>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grpSp>
          <p:grpSp>
            <p:nvGrpSpPr>
              <p:cNvPr id="679" name=""/>
              <p:cNvGrpSpPr/>
              <p:nvPr/>
            </p:nvGrpSpPr>
            <p:grpSpPr bwMode="auto">
              <a:xfrm>
                <a:off x="2898000" y="4185000"/>
                <a:ext cx="1824120" cy="1786320"/>
                <a:chOff x="2898000" y="4185000"/>
                <a:chExt cx="1824120" cy="1786320"/>
              </a:xfrm>
            </p:grpSpPr>
            <p:grpSp>
              <p:nvGrpSpPr>
                <p:cNvPr id="680" name=""/>
                <p:cNvGrpSpPr/>
                <p:nvPr/>
              </p:nvGrpSpPr>
              <p:grpSpPr bwMode="auto">
                <a:xfrm>
                  <a:off x="2898000" y="4185000"/>
                  <a:ext cx="1824120" cy="1786320"/>
                  <a:chOff x="2898000" y="4185000"/>
                  <a:chExt cx="1824120" cy="1786320"/>
                </a:xfrm>
              </p:grpSpPr>
              <p:sp>
                <p:nvSpPr>
                  <p:cNvPr id="681" name=""/>
                  <p:cNvSpPr/>
                  <p:nvPr/>
                </p:nvSpPr>
                <p:spPr bwMode="auto">
                  <a:xfrm>
                    <a:off x="3132000" y="4185000"/>
                    <a:ext cx="1590120" cy="158508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682" name=""/>
                  <p:cNvSpPr/>
                  <p:nvPr/>
                </p:nvSpPr>
                <p:spPr bwMode="auto">
                  <a:xfrm>
                    <a:off x="3064680" y="4251960"/>
                    <a:ext cx="1590120" cy="158508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683" name=""/>
                  <p:cNvSpPr/>
                  <p:nvPr/>
                </p:nvSpPr>
                <p:spPr bwMode="auto">
                  <a:xfrm>
                    <a:off x="2997360" y="4318920"/>
                    <a:ext cx="1590120" cy="158508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pic>
                <p:nvPicPr>
                  <p:cNvPr id="684" name="" descr=""/>
                  <p:cNvPicPr/>
                  <p:nvPr/>
                </p:nvPicPr>
                <p:blipFill>
                  <a:blip r:embed="rId7"/>
                  <a:stretch/>
                </p:blipFill>
                <p:spPr bwMode="auto">
                  <a:xfrm>
                    <a:off x="2898000" y="4386240"/>
                    <a:ext cx="1612440" cy="1585080"/>
                  </a:xfrm>
                  <a:prstGeom prst="rect">
                    <a:avLst/>
                  </a:prstGeom>
                  <a:ln w="9360">
                    <a:solidFill>
                      <a:srgbClr val="000000"/>
                    </a:solidFill>
                    <a:miter/>
                  </a:ln>
                </p:spPr>
              </p:pic>
            </p:grpSp>
            <p:sp>
              <p:nvSpPr>
                <p:cNvPr id="685" name=""/>
                <p:cNvSpPr/>
                <p:nvPr/>
              </p:nvSpPr>
              <p:spPr bwMode="auto">
                <a:xfrm>
                  <a:off x="4080240" y="5213160"/>
                  <a:ext cx="30960" cy="503280"/>
                </a:xfrm>
                <a:prstGeom prst="rect">
                  <a:avLst/>
                </a:prstGeom>
                <a:solidFill>
                  <a:srgbClr val="EB5F01"/>
                </a:solidFill>
                <a:ln w="9360">
                  <a:solidFill>
                    <a:srgbClr val="EB5F01"/>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grpSp>
        </p:grpSp>
        <p:sp>
          <p:nvSpPr>
            <p:cNvPr id="686" name=""/>
            <p:cNvSpPr/>
            <p:nvPr/>
          </p:nvSpPr>
          <p:spPr bwMode="auto">
            <a:xfrm>
              <a:off x="1721160" y="5936039"/>
              <a:ext cx="877320" cy="307439"/>
            </a:xfrm>
            <a:prstGeom prst="rect">
              <a:avLst/>
            </a:prstGeom>
            <a:noFill/>
            <a:ln w="0">
              <a:noFill/>
            </a:ln>
          </p:spPr>
          <p:style>
            <a:lnRef idx="0"/>
            <a:fillRef idx="0"/>
            <a:effectRef idx="0"/>
            <a:fontRef idx="minor"/>
          </p:style>
          <p:txBody>
            <a:bodyPr wrap="none" lIns="90000" tIns="46800" rIns="90000" bIns="46800" anchor="b">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400" b="0" strike="noStrike" spc="-1">
                  <a:solidFill>
                    <a:srgbClr val="000000"/>
                  </a:solidFill>
                  <a:latin typeface="Futura Bk"/>
                </a:rPr>
                <a:t>N filters</a:t>
              </a:r>
              <a:endParaRPr lang="en-US" sz="1400" b="0" strike="noStrike" spc="-1">
                <a:solidFill>
                  <a:srgbClr val="000000"/>
                </a:solidFill>
                <a:latin typeface="Arial"/>
              </a:endParaRPr>
            </a:p>
          </p:txBody>
        </p:sp>
      </p:grpSp>
      <p:grpSp>
        <p:nvGrpSpPr>
          <p:cNvPr id="687" name=""/>
          <p:cNvGrpSpPr/>
          <p:nvPr/>
        </p:nvGrpSpPr>
        <p:grpSpPr bwMode="auto">
          <a:xfrm>
            <a:off x="5415120" y="3261240"/>
            <a:ext cx="3124080" cy="1053720"/>
            <a:chOff x="5415120" y="3261240"/>
            <a:chExt cx="3124080" cy="1053720"/>
          </a:xfrm>
        </p:grpSpPr>
        <p:sp>
          <p:nvSpPr>
            <p:cNvPr id="688" name=""/>
            <p:cNvSpPr/>
            <p:nvPr/>
          </p:nvSpPr>
          <p:spPr bwMode="auto">
            <a:xfrm>
              <a:off x="5415120" y="3261240"/>
              <a:ext cx="3124080" cy="1053720"/>
            </a:xfrm>
            <a:prstGeom prst="rect">
              <a:avLst/>
            </a:prstGeom>
            <a:solidFill>
              <a:srgbClr val="FFFFFF"/>
            </a:solidFill>
            <a:ln w="12600">
              <a:solidFill>
                <a:srgbClr val="EB5F01"/>
              </a:solidFill>
              <a:miter/>
            </a:ln>
          </p:spPr>
          <p:style>
            <a:lnRef idx="0"/>
            <a:fillRef idx="0"/>
            <a:effectRef idx="0"/>
            <a:fontRef idx="minor"/>
          </p:style>
          <p:txBody>
            <a:bodyPr lIns="54000" tIns="370800" rIns="54000" bIns="370800" anchor="b">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i="1" strike="noStrike" spc="-1">
                  <a:solidFill>
                    <a:srgbClr val="000000"/>
                  </a:solidFill>
                  <a:latin typeface="Tahoma"/>
                </a:rPr>
                <a:t>dist(I</a:t>
              </a:r>
              <a:r>
                <a:rPr lang="en-US" sz="1800" b="0" i="1" strike="noStrike" spc="-1" baseline="-25000">
                  <a:solidFill>
                    <a:srgbClr val="000000"/>
                  </a:solidFill>
                  <a:latin typeface="Tahoma"/>
                </a:rPr>
                <a:t>1</a:t>
              </a:r>
              <a:r>
                <a:rPr lang="en-US" sz="1800" b="0" i="1" strike="noStrike" spc="-1">
                  <a:solidFill>
                    <a:srgbClr val="000000"/>
                  </a:solidFill>
                  <a:latin typeface="Tahoma"/>
                </a:rPr>
                <a:t>,I</a:t>
              </a:r>
              <a:r>
                <a:rPr lang="en-US" sz="1800" b="0" i="1" strike="noStrike" spc="-1" baseline="-25000">
                  <a:solidFill>
                    <a:srgbClr val="000000"/>
                  </a:solidFill>
                  <a:latin typeface="Tahoma"/>
                </a:rPr>
                <a:t>2</a:t>
              </a:r>
              <a:r>
                <a:rPr lang="en-US" sz="1800" b="0" i="1" strike="noStrike" spc="-1">
                  <a:solidFill>
                    <a:srgbClr val="000000"/>
                  </a:solidFill>
                  <a:latin typeface="Tahoma"/>
                </a:rPr>
                <a:t>) =      KL</a:t>
              </a:r>
              <a:r>
                <a:rPr lang="en-US" sz="1800" b="0" i="1" strike="noStrike" spc="-1" baseline="-25000">
                  <a:solidFill>
                    <a:srgbClr val="000000"/>
                  </a:solidFill>
                  <a:latin typeface="Tahoma"/>
                </a:rPr>
                <a:t>H</a:t>
              </a:r>
              <a:r>
                <a:rPr lang="en-US" sz="1800" b="0" i="1" strike="noStrike" spc="-1">
                  <a:solidFill>
                    <a:srgbClr val="000000"/>
                  </a:solidFill>
                  <a:latin typeface="Tahoma"/>
                </a:rPr>
                <a:t>(H</a:t>
              </a:r>
              <a:r>
                <a:rPr lang="en-US" sz="1800" b="0" i="1" strike="noStrike" spc="-1" baseline="-25000">
                  <a:solidFill>
                    <a:srgbClr val="000000"/>
                  </a:solidFill>
                  <a:latin typeface="Tahoma"/>
                </a:rPr>
                <a:t>1i </a:t>
              </a:r>
              <a:r>
                <a:rPr lang="en-US" sz="1800" b="0" i="1" strike="noStrike" spc="-1">
                  <a:solidFill>
                    <a:srgbClr val="000000"/>
                  </a:solidFill>
                  <a:latin typeface="Tahoma"/>
                </a:rPr>
                <a:t>, H</a:t>
              </a:r>
              <a:r>
                <a:rPr lang="en-US" sz="1800" b="0" i="1" strike="noStrike" spc="-1" baseline="-25000">
                  <a:solidFill>
                    <a:srgbClr val="000000"/>
                  </a:solidFill>
                  <a:latin typeface="Tahoma"/>
                </a:rPr>
                <a:t>2i</a:t>
              </a:r>
              <a:r>
                <a:rPr lang="en-US" sz="1800" b="0" i="1" strike="noStrike" spc="-1">
                  <a:solidFill>
                    <a:srgbClr val="000000"/>
                  </a:solidFill>
                  <a:latin typeface="Tahoma"/>
                </a:rPr>
                <a:t>)</a:t>
              </a:r>
              <a:endParaRPr lang="en-US" sz="1800" b="0" strike="noStrike" spc="-1">
                <a:solidFill>
                  <a:srgbClr val="000000"/>
                </a:solidFill>
                <a:latin typeface="Arial"/>
              </a:endParaRPr>
            </a:p>
          </p:txBody>
        </p:sp>
        <p:grpSp>
          <p:nvGrpSpPr>
            <p:cNvPr id="689" name=""/>
            <p:cNvGrpSpPr/>
            <p:nvPr/>
          </p:nvGrpSpPr>
          <p:grpSpPr bwMode="auto">
            <a:xfrm>
              <a:off x="6726600" y="3428640"/>
              <a:ext cx="447480" cy="734040"/>
              <a:chOff x="6726600" y="3428640"/>
              <a:chExt cx="447480" cy="734040"/>
            </a:xfrm>
          </p:grpSpPr>
          <p:grpSp>
            <p:nvGrpSpPr>
              <p:cNvPr id="690" name=""/>
              <p:cNvGrpSpPr/>
              <p:nvPr/>
            </p:nvGrpSpPr>
            <p:grpSpPr bwMode="auto">
              <a:xfrm>
                <a:off x="6726600" y="3487320"/>
                <a:ext cx="447480" cy="675360"/>
                <a:chOff x="6726600" y="3487320"/>
                <a:chExt cx="447480" cy="675360"/>
              </a:xfrm>
            </p:grpSpPr>
            <p:sp>
              <p:nvSpPr>
                <p:cNvPr id="691" name=""/>
                <p:cNvSpPr/>
                <p:nvPr/>
              </p:nvSpPr>
              <p:spPr bwMode="auto">
                <a:xfrm>
                  <a:off x="6730560" y="3487320"/>
                  <a:ext cx="424439" cy="581760"/>
                </a:xfrm>
                <a:prstGeom prst="rect">
                  <a:avLst/>
                </a:prstGeom>
                <a:noFill/>
                <a:ln w="0">
                  <a:noFill/>
                </a:ln>
              </p:spPr>
              <p:style>
                <a:lnRef idx="0"/>
                <a:fillRef idx="0"/>
                <a:effectRef idx="0"/>
                <a:fontRef idx="minor"/>
              </p:style>
              <p:txBody>
                <a:bodyPr wrap="none" lIns="90000" tIns="46800" rIns="90000" bIns="46800" anchor="b">
                  <a:sp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fr-FR" sz="3200" b="0" i="1" strike="noStrike" spc="-1">
                      <a:solidFill>
                        <a:srgbClr val="000000"/>
                      </a:solidFill>
                      <a:latin typeface="Arial"/>
                    </a:rPr>
                    <a:t>Σ</a:t>
                  </a:r>
                  <a:endParaRPr lang="en-US" sz="3200" b="0" strike="noStrike" spc="-1">
                    <a:solidFill>
                      <a:srgbClr val="000000"/>
                    </a:solidFill>
                    <a:latin typeface="Arial"/>
                  </a:endParaRPr>
                </a:p>
              </p:txBody>
            </p:sp>
            <p:sp>
              <p:nvSpPr>
                <p:cNvPr id="692" name=""/>
                <p:cNvSpPr/>
                <p:nvPr/>
              </p:nvSpPr>
              <p:spPr bwMode="auto">
                <a:xfrm>
                  <a:off x="6726600" y="3885840"/>
                  <a:ext cx="447480" cy="276840"/>
                </a:xfrm>
                <a:prstGeom prst="rect">
                  <a:avLst/>
                </a:prstGeom>
                <a:noFill/>
                <a:ln w="0">
                  <a:noFill/>
                </a:ln>
              </p:spPr>
              <p:style>
                <a:lnRef idx="0"/>
                <a:fillRef idx="0"/>
                <a:effectRef idx="0"/>
                <a:fontRef idx="minor"/>
              </p:style>
              <p:txBody>
                <a:bodyPr wrap="none" lIns="90000" tIns="46800" rIns="90000" bIns="46800" anchor="b">
                  <a:sp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fr-FR" sz="1200" b="0" i="1" strike="noStrike" spc="-1">
                      <a:solidFill>
                        <a:srgbClr val="000000"/>
                      </a:solidFill>
                      <a:latin typeface="Tahoma"/>
                    </a:rPr>
                    <a:t>i=1</a:t>
                  </a:r>
                  <a:endParaRPr lang="en-US" sz="1200" b="0" strike="noStrike" spc="-1">
                    <a:solidFill>
                      <a:srgbClr val="000000"/>
                    </a:solidFill>
                    <a:latin typeface="Arial"/>
                  </a:endParaRPr>
                </a:p>
              </p:txBody>
            </p:sp>
          </p:grpSp>
          <p:sp>
            <p:nvSpPr>
              <p:cNvPr id="693" name=""/>
              <p:cNvSpPr/>
              <p:nvPr/>
            </p:nvSpPr>
            <p:spPr bwMode="auto">
              <a:xfrm>
                <a:off x="6878160" y="3428640"/>
                <a:ext cx="293400" cy="276840"/>
              </a:xfrm>
              <a:prstGeom prst="rect">
                <a:avLst/>
              </a:prstGeom>
              <a:noFill/>
              <a:ln w="0">
                <a:noFill/>
              </a:ln>
            </p:spPr>
            <p:style>
              <a:lnRef idx="0"/>
              <a:fillRef idx="0"/>
              <a:effectRef idx="0"/>
              <a:fontRef idx="minor"/>
            </p:style>
            <p:txBody>
              <a:bodyPr wrap="none" lIns="90000" tIns="46800" rIns="90000" bIns="46800" anchor="b">
                <a:sp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fr-FR" sz="1200" b="0" i="1" strike="noStrike" spc="-1">
                    <a:solidFill>
                      <a:srgbClr val="000000"/>
                    </a:solidFill>
                    <a:latin typeface="Tahoma"/>
                  </a:rPr>
                  <a:t>N</a:t>
                </a:r>
                <a:endParaRPr lang="en-US" sz="1200" b="0" strike="noStrike" spc="-1">
                  <a:solidFill>
                    <a:srgbClr val="000000"/>
                  </a:solidFill>
                  <a:latin typeface="Arial"/>
                </a:endParaRPr>
              </a:p>
            </p:txBody>
          </p:sp>
        </p:grpSp>
      </p:grpSp>
      <p:grpSp>
        <p:nvGrpSpPr>
          <p:cNvPr id="694" name=""/>
          <p:cNvGrpSpPr/>
          <p:nvPr/>
        </p:nvGrpSpPr>
        <p:grpSpPr bwMode="auto">
          <a:xfrm>
            <a:off x="5415120" y="2060640"/>
            <a:ext cx="3124080" cy="1066680"/>
            <a:chOff x="5415120" y="2060640"/>
            <a:chExt cx="3124080" cy="1066680"/>
          </a:xfrm>
        </p:grpSpPr>
        <p:sp>
          <p:nvSpPr>
            <p:cNvPr id="695" name=""/>
            <p:cNvSpPr/>
            <p:nvPr/>
          </p:nvSpPr>
          <p:spPr bwMode="auto">
            <a:xfrm>
              <a:off x="5415120" y="2060640"/>
              <a:ext cx="3124080" cy="1066680"/>
            </a:xfrm>
            <a:prstGeom prst="rect">
              <a:avLst/>
            </a:prstGeom>
            <a:solidFill>
              <a:srgbClr val="FFFFFF"/>
            </a:solidFill>
            <a:ln w="12600">
              <a:solidFill>
                <a:srgbClr val="EB5F01"/>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pic>
          <p:nvPicPr>
            <p:cNvPr id="696" name="" descr=""/>
            <p:cNvPicPr/>
            <p:nvPr/>
          </p:nvPicPr>
          <p:blipFill>
            <a:blip r:embed="rId8"/>
            <a:stretch/>
          </p:blipFill>
          <p:spPr bwMode="auto">
            <a:xfrm>
              <a:off x="5489280" y="2181240"/>
              <a:ext cx="2975400" cy="825480"/>
            </a:xfrm>
            <a:prstGeom prst="rect">
              <a:avLst/>
            </a:prstGeom>
            <a:ln w="0">
              <a:noFill/>
            </a:ln>
          </p:spPr>
        </p:pic>
      </p:grpSp>
      <p:sp>
        <p:nvSpPr>
          <p:cNvPr id="697" name=""/>
          <p:cNvSpPr/>
          <p:nvPr/>
        </p:nvSpPr>
        <p:spPr bwMode="auto">
          <a:xfrm>
            <a:off x="-9720" y="1302480"/>
            <a:ext cx="7895160" cy="3988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Tahoma"/>
              </a:rPr>
              <a:t>Filters are obtained using Independent Component Analysis</a:t>
            </a:r>
            <a:r>
              <a:rPr lang="ru-RU" sz="2000" b="0" strike="noStrike" spc="-1">
                <a:solidFill>
                  <a:srgbClr val="000000"/>
                </a:solidFill>
                <a:latin typeface="Tahoma"/>
              </a:rPr>
              <a:t> </a:t>
            </a:r>
            <a:endParaRPr lang="en-US" sz="20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698"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fr-FR" sz="3600" b="0" strike="noStrike" spc="-1">
                <a:solidFill>
                  <a:srgbClr val="000000"/>
                </a:solidFill>
                <a:latin typeface="Futura Bk"/>
              </a:rPr>
              <a:t>ICA Filters</a:t>
            </a:r>
            <a:endParaRPr lang="en-US" sz="3600" b="0" strike="noStrike" spc="-1">
              <a:solidFill>
                <a:srgbClr val="000000"/>
              </a:solidFill>
              <a:latin typeface="Futura Bk"/>
            </a:endParaRPr>
          </a:p>
        </p:txBody>
      </p:sp>
      <p:pic>
        <p:nvPicPr>
          <p:cNvPr id="699" name="" descr=""/>
          <p:cNvPicPr/>
          <p:nvPr/>
        </p:nvPicPr>
        <p:blipFill>
          <a:blip r:embed="rId2"/>
          <a:stretch/>
        </p:blipFill>
        <p:spPr bwMode="auto">
          <a:xfrm>
            <a:off x="1905120" y="1371600"/>
            <a:ext cx="5562360" cy="4950000"/>
          </a:xfrm>
          <a:prstGeom prst="rect">
            <a:avLst/>
          </a:prstGeom>
          <a:ln w="0">
            <a:noFill/>
          </a:ln>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700" name="PlaceHolder 1"/>
          <p:cNvSpPr>
            <a:spLocks noGrp="1"/>
          </p:cNvSpPr>
          <p:nvPr>
            <p:ph/>
          </p:nvPr>
        </p:nvSpPr>
        <p:spPr bwMode="auto">
          <a:xfrm>
            <a:off x="399600" y="1557360"/>
            <a:ext cx="8272440" cy="4680000"/>
          </a:xfrm>
          <a:prstGeom prst="rect">
            <a:avLst/>
          </a:prstGeom>
          <a:noFill/>
          <a:ln w="0">
            <a:noFill/>
          </a:ln>
        </p:spPr>
        <p:txBody>
          <a:bodyPr lIns="90000" tIns="46800" rIns="90000" bIns="46800" anchor="t">
            <a:normAutofit/>
          </a:bodyPr>
          <a:p>
            <a:pPr marL="228600" indent="-228600">
              <a:lnSpc>
                <a:spcPct val="90000"/>
              </a:lnSpc>
              <a:spcBef>
                <a:spcPts val="1400"/>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71B4"/>
                </a:solidFill>
                <a:latin typeface="Futura Bk"/>
              </a:rPr>
              <a:t>Texture features</a:t>
            </a:r>
            <a:endParaRPr lang="en-US" sz="28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rPr>
              <a:t>Statistical</a:t>
            </a:r>
            <a:endParaRPr lang="en-US" sz="24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rPr>
              <a:t>Spectral</a:t>
            </a:r>
            <a:endParaRPr lang="en-US" sz="24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71B4"/>
                </a:solidFill>
                <a:latin typeface="Futura Bk"/>
              </a:rPr>
              <a:t>Comparison</a:t>
            </a:r>
            <a:endParaRPr lang="en-US" sz="2400" b="0" strike="noStrike" spc="-1">
              <a:solidFill>
                <a:srgbClr val="000000"/>
              </a:solidFill>
              <a:latin typeface="Futura Bk"/>
            </a:endParaRPr>
          </a:p>
          <a:p>
            <a:pPr marL="228600" indent="-228600">
              <a:lnSpc>
                <a:spcPct val="90000"/>
              </a:lnSpc>
              <a:spcBef>
                <a:spcPts val="1400"/>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B2B2B2"/>
                </a:solidFill>
                <a:latin typeface="Futura Bk"/>
              </a:rPr>
              <a:t>Shape features</a:t>
            </a:r>
            <a:endParaRPr lang="en-US" sz="28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rPr>
              <a:t>Boundary based</a:t>
            </a:r>
            <a:endParaRPr lang="en-US" sz="24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rPr>
              <a:t>Region based</a:t>
            </a:r>
            <a:endParaRPr lang="en-US" sz="24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rPr>
              <a:t>Comparison</a:t>
            </a:r>
            <a:endParaRPr lang="en-US" sz="2400" b="0" strike="noStrike" spc="-1">
              <a:solidFill>
                <a:srgbClr val="000000"/>
              </a:solidFill>
              <a:latin typeface="Futura Bk"/>
            </a:endParaRPr>
          </a:p>
          <a:p>
            <a:pPr marL="228600" indent="-228600">
              <a:lnSpc>
                <a:spcPct val="90000"/>
              </a:lnSpc>
              <a:spcBef>
                <a:spcPts val="1400"/>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B2B2B2"/>
                </a:solidFill>
                <a:latin typeface="Futura Bk"/>
              </a:rPr>
              <a:t>Fusion methods</a:t>
            </a:r>
            <a:endParaRPr lang="en-US" sz="2800" b="0" strike="noStrike" spc="-1">
              <a:solidFill>
                <a:srgbClr val="000000"/>
              </a:solidFill>
              <a:latin typeface="Futura Bk"/>
            </a:endParaRPr>
          </a:p>
        </p:txBody>
      </p:sp>
      <p:sp>
        <p:nvSpPr>
          <p:cNvPr id="701" name="PlaceHolder 2"/>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Lecture 3: Outline</a:t>
            </a:r>
            <a:endParaRPr lang="en-US" sz="3600" b="0" strike="noStrike" spc="-1">
              <a:solidFill>
                <a:srgbClr val="000000"/>
              </a:solidFill>
              <a:latin typeface="Futura Bk"/>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702"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Texture features: comparison</a:t>
            </a:r>
            <a:endParaRPr lang="en-US" sz="3600" b="0" strike="noStrike" spc="-1">
              <a:solidFill>
                <a:srgbClr val="000000"/>
              </a:solidFill>
              <a:latin typeface="Futura Bk"/>
            </a:endParaRPr>
          </a:p>
        </p:txBody>
      </p:sp>
      <p:sp>
        <p:nvSpPr>
          <p:cNvPr id="703" name=""/>
          <p:cNvSpPr/>
          <p:nvPr/>
        </p:nvSpPr>
        <p:spPr bwMode="auto">
          <a:xfrm>
            <a:off x="0" y="28144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04" name=""/>
          <p:cNvSpPr/>
          <p:nvPr/>
        </p:nvSpPr>
        <p:spPr bwMode="auto">
          <a:xfrm>
            <a:off x="0" y="275760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05" name=""/>
          <p:cNvSpPr/>
          <p:nvPr/>
        </p:nvSpPr>
        <p:spPr bwMode="auto">
          <a:xfrm>
            <a:off x="0" y="322416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06" name=""/>
          <p:cNvSpPr/>
          <p:nvPr/>
        </p:nvSpPr>
        <p:spPr bwMode="auto">
          <a:xfrm>
            <a:off x="0" y="332892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07" name=""/>
          <p:cNvSpPr/>
          <p:nvPr/>
        </p:nvSpPr>
        <p:spPr bwMode="auto">
          <a:xfrm>
            <a:off x="0" y="326232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pic>
        <p:nvPicPr>
          <p:cNvPr id="708" name="" descr=""/>
          <p:cNvPicPr/>
          <p:nvPr/>
        </p:nvPicPr>
        <p:blipFill>
          <a:blip r:embed="rId2"/>
          <a:stretch/>
        </p:blipFill>
        <p:spPr bwMode="auto">
          <a:xfrm>
            <a:off x="684360" y="1274759"/>
            <a:ext cx="4533840" cy="4386240"/>
          </a:xfrm>
          <a:prstGeom prst="rect">
            <a:avLst/>
          </a:prstGeom>
          <a:ln w="0">
            <a:noFill/>
          </a:ln>
        </p:spPr>
      </p:pic>
      <p:sp>
        <p:nvSpPr>
          <p:cNvPr id="709" name=""/>
          <p:cNvSpPr/>
          <p:nvPr/>
        </p:nvSpPr>
        <p:spPr bwMode="auto">
          <a:xfrm>
            <a:off x="611280" y="5753160"/>
            <a:ext cx="8192880" cy="52092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400" b="0" strike="noStrike" spc="-1">
                <a:solidFill>
                  <a:srgbClr val="000000"/>
                </a:solidFill>
                <a:latin typeface="Tahoma"/>
              </a:rPr>
              <a:t>P. Howarth, S. Rüger. Robust texture features for still image retrieval. </a:t>
            </a:r>
            <a:br>
              <a:rPr sz="1400"/>
            </a:br>
            <a:r>
              <a:rPr lang="ru-RU" sz="1400" b="0" strike="noStrike" spc="-1">
                <a:solidFill>
                  <a:srgbClr val="000000"/>
                </a:solidFill>
                <a:latin typeface="Tahoma"/>
              </a:rPr>
              <a:t>In Proc. IEE Vis. Image Signal Processing, vol. 152, No. 6, December 2006  </a:t>
            </a:r>
            <a:endParaRPr lang="en-US" sz="1400" b="0" strike="noStrike" spc="-1">
              <a:solidFill>
                <a:srgbClr val="000000"/>
              </a:solidFill>
              <a:latin typeface="Arial"/>
            </a:endParaRPr>
          </a:p>
        </p:txBody>
      </p:sp>
      <p:sp>
        <p:nvSpPr>
          <p:cNvPr id="710" name=""/>
          <p:cNvSpPr/>
          <p:nvPr/>
        </p:nvSpPr>
        <p:spPr bwMode="auto">
          <a:xfrm>
            <a:off x="5867280" y="1616400"/>
            <a:ext cx="2881440" cy="82548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64B900"/>
                </a:solidFill>
                <a:latin typeface="Tahoma"/>
              </a:rPr>
              <a:t>In the context of image retrieval</a:t>
            </a:r>
            <a:r>
              <a:rPr lang="ru-RU" sz="2400" b="0" strike="noStrike" spc="-1">
                <a:solidFill>
                  <a:srgbClr val="64B900"/>
                </a:solidFill>
                <a:latin typeface="Tahoma"/>
              </a:rPr>
              <a:t>!</a:t>
            </a:r>
            <a:endParaRPr lang="en-US" sz="24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711"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Texture features: comparison</a:t>
            </a:r>
            <a:r>
              <a:rPr lang="ru-RU" sz="3600" b="0" strike="noStrike" spc="-1">
                <a:solidFill>
                  <a:srgbClr val="000000"/>
                </a:solidFill>
                <a:latin typeface="Futura Bk"/>
              </a:rPr>
              <a:t> (2)</a:t>
            </a:r>
            <a:endParaRPr lang="en-US" sz="3600" b="0" strike="noStrike" spc="-1">
              <a:solidFill>
                <a:srgbClr val="000000"/>
              </a:solidFill>
              <a:latin typeface="Futura Bk"/>
            </a:endParaRPr>
          </a:p>
        </p:txBody>
      </p:sp>
      <p:sp>
        <p:nvSpPr>
          <p:cNvPr id="712" name=""/>
          <p:cNvSpPr/>
          <p:nvPr/>
        </p:nvSpPr>
        <p:spPr bwMode="auto">
          <a:xfrm>
            <a:off x="0" y="28144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13" name=""/>
          <p:cNvSpPr/>
          <p:nvPr/>
        </p:nvSpPr>
        <p:spPr bwMode="auto">
          <a:xfrm>
            <a:off x="0" y="275760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14" name=""/>
          <p:cNvSpPr/>
          <p:nvPr/>
        </p:nvSpPr>
        <p:spPr bwMode="auto">
          <a:xfrm>
            <a:off x="0" y="322416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15" name=""/>
          <p:cNvSpPr/>
          <p:nvPr/>
        </p:nvSpPr>
        <p:spPr bwMode="auto">
          <a:xfrm>
            <a:off x="0" y="326232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16" name=""/>
          <p:cNvSpPr/>
          <p:nvPr/>
        </p:nvSpPr>
        <p:spPr bwMode="auto">
          <a:xfrm>
            <a:off x="503280" y="5192280"/>
            <a:ext cx="7597800" cy="73440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400" b="0" strike="noStrike" spc="-1">
                <a:solidFill>
                  <a:srgbClr val="000000"/>
                </a:solidFill>
                <a:latin typeface="Tahoma"/>
              </a:rPr>
              <a:t>Snitkowska, E. Kasprzak, W. Independent Component Analysis of Textures in Angiography Images. </a:t>
            </a:r>
            <a:r>
              <a:rPr lang="en-US" sz="1400" b="0" strike="noStrike" spc="-1">
                <a:solidFill>
                  <a:srgbClr val="000000"/>
                </a:solidFill>
                <a:latin typeface="Tahoma"/>
              </a:rPr>
              <a:t>Computational</a:t>
            </a:r>
            <a:r>
              <a:rPr lang="ru-RU" sz="1400" b="0" strike="noStrike" spc="-1">
                <a:solidFill>
                  <a:srgbClr val="000000"/>
                </a:solidFill>
                <a:latin typeface="Tahoma"/>
              </a:rPr>
              <a:t> </a:t>
            </a:r>
            <a:r>
              <a:rPr lang="en-US" sz="1400" b="0" strike="noStrike" spc="-1">
                <a:solidFill>
                  <a:srgbClr val="000000"/>
                </a:solidFill>
                <a:latin typeface="Tahoma"/>
              </a:rPr>
              <a:t>Imaging</a:t>
            </a:r>
            <a:r>
              <a:rPr lang="ru-RU" sz="1400" b="0" strike="noStrike" spc="-1">
                <a:solidFill>
                  <a:srgbClr val="000000"/>
                </a:solidFill>
                <a:latin typeface="Tahoma"/>
              </a:rPr>
              <a:t> </a:t>
            </a:r>
            <a:r>
              <a:rPr lang="en-US" sz="1400" b="0" strike="noStrike" spc="-1">
                <a:solidFill>
                  <a:srgbClr val="000000"/>
                </a:solidFill>
                <a:latin typeface="Tahoma"/>
              </a:rPr>
              <a:t>and</a:t>
            </a:r>
            <a:r>
              <a:rPr lang="ru-RU" sz="1400" b="0" strike="noStrike" spc="-1">
                <a:solidFill>
                  <a:srgbClr val="000000"/>
                </a:solidFill>
                <a:latin typeface="Tahoma"/>
              </a:rPr>
              <a:t> </a:t>
            </a:r>
            <a:r>
              <a:rPr lang="en-US" sz="1400" b="0" strike="noStrike" spc="-1">
                <a:solidFill>
                  <a:srgbClr val="000000"/>
                </a:solidFill>
                <a:latin typeface="Tahoma"/>
              </a:rPr>
              <a:t>Vision</a:t>
            </a:r>
            <a:r>
              <a:rPr lang="ru-RU" sz="1400" b="0" strike="noStrike" spc="-1">
                <a:solidFill>
                  <a:srgbClr val="000000"/>
                </a:solidFill>
                <a:latin typeface="Tahoma"/>
              </a:rPr>
              <a:t>, </a:t>
            </a:r>
            <a:r>
              <a:rPr lang="en-US" sz="1400" b="0" strike="noStrike" spc="-1">
                <a:solidFill>
                  <a:srgbClr val="000000"/>
                </a:solidFill>
                <a:latin typeface="Tahoma"/>
              </a:rPr>
              <a:t>vol.</a:t>
            </a:r>
            <a:r>
              <a:rPr lang="ru-RU" sz="1400" b="0" strike="noStrike" spc="-1">
                <a:solidFill>
                  <a:srgbClr val="000000"/>
                </a:solidFill>
                <a:latin typeface="Tahoma"/>
              </a:rPr>
              <a:t> 32, pages 367-372</a:t>
            </a:r>
            <a:r>
              <a:rPr lang="en-US" sz="1400" b="0" strike="noStrike" spc="-1">
                <a:solidFill>
                  <a:srgbClr val="000000"/>
                </a:solidFill>
                <a:latin typeface="Tahoma"/>
              </a:rPr>
              <a:t>, 2006.</a:t>
            </a:r>
            <a:r>
              <a:rPr lang="ru-RU" sz="1400" b="0" strike="noStrike" spc="-1">
                <a:solidFill>
                  <a:srgbClr val="000000"/>
                </a:solidFill>
                <a:latin typeface="Tahoma"/>
              </a:rPr>
              <a:t> </a:t>
            </a:r>
            <a:endParaRPr lang="en-US" sz="1400" b="0" strike="noStrike" spc="-1">
              <a:solidFill>
                <a:srgbClr val="000000"/>
              </a:solidFill>
              <a:latin typeface="Arial"/>
            </a:endParaRPr>
          </a:p>
        </p:txBody>
      </p:sp>
      <p:sp>
        <p:nvSpPr>
          <p:cNvPr id="717" name=""/>
          <p:cNvSpPr/>
          <p:nvPr/>
        </p:nvSpPr>
        <p:spPr bwMode="auto">
          <a:xfrm>
            <a:off x="446040" y="1268280"/>
            <a:ext cx="8229600" cy="648000"/>
          </a:xfrm>
          <a:prstGeom prst="rect">
            <a:avLst/>
          </a:prstGeom>
          <a:noFill/>
          <a:ln w="0">
            <a:noFill/>
          </a:ln>
        </p:spPr>
        <p:style>
          <a:lnRef idx="0"/>
          <a:fillRef idx="0"/>
          <a:effectRef idx="0"/>
          <a:fontRef idx="minor"/>
        </p:style>
        <p:txBody>
          <a:bodyPr lIns="90000" tIns="46800" rIns="90000" bIns="46800" anchor="ctr">
            <a:noAutofit/>
          </a:bodyPr>
          <a:p>
            <a:pPr>
              <a:lnSpc>
                <a:spcPct val="90000"/>
              </a:lnSpc>
              <a:spcBef>
                <a:spcPts val="876"/>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71B4"/>
                </a:solidFill>
                <a:latin typeface="Futura Bk"/>
                <a:ea typeface="Arial"/>
              </a:rPr>
              <a:t>Gabor filters</a:t>
            </a:r>
            <a:r>
              <a:rPr lang="ru-RU" sz="2800" b="0" strike="noStrike" spc="-1">
                <a:solidFill>
                  <a:srgbClr val="0071B4"/>
                </a:solidFill>
                <a:latin typeface="Futura Bk"/>
                <a:ea typeface="Arial"/>
              </a:rPr>
              <a:t> </a:t>
            </a:r>
            <a:r>
              <a:rPr lang="en-US" sz="2800" b="0" strike="noStrike" spc="-1">
                <a:solidFill>
                  <a:srgbClr val="0071B4"/>
                </a:solidFill>
                <a:latin typeface="Futura Bk"/>
                <a:ea typeface="Arial"/>
              </a:rPr>
              <a:t>v. s. ICA filters</a:t>
            </a:r>
            <a:endParaRPr lang="en-US" sz="2800" b="0" strike="noStrike" spc="-1">
              <a:solidFill>
                <a:srgbClr val="000000"/>
              </a:solidFill>
              <a:latin typeface="Arial"/>
            </a:endParaRPr>
          </a:p>
        </p:txBody>
      </p:sp>
      <p:sp>
        <p:nvSpPr>
          <p:cNvPr id="718" name=""/>
          <p:cNvSpPr/>
          <p:nvPr/>
        </p:nvSpPr>
        <p:spPr bwMode="auto">
          <a:xfrm>
            <a:off x="468360" y="2118240"/>
            <a:ext cx="7272360" cy="42912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200" b="0" strike="noStrike" spc="-1">
                <a:solidFill>
                  <a:srgbClr val="000000"/>
                </a:solidFill>
                <a:latin typeface="Tahoma"/>
              </a:rPr>
              <a:t>Image classification task</a:t>
            </a:r>
            <a:r>
              <a:rPr lang="ru-RU" sz="2200" b="0" strike="noStrike" spc="-1">
                <a:solidFill>
                  <a:srgbClr val="000000"/>
                </a:solidFill>
                <a:latin typeface="Tahoma"/>
              </a:rPr>
              <a:t>:</a:t>
            </a:r>
            <a:endParaRPr lang="en-US" sz="2200" b="0" strike="noStrike" spc="-1">
              <a:solidFill>
                <a:srgbClr val="000000"/>
              </a:solidFill>
              <a:latin typeface="Arial"/>
            </a:endParaRPr>
          </a:p>
        </p:txBody>
      </p:sp>
      <p:sp>
        <p:nvSpPr>
          <p:cNvPr id="719" name=""/>
          <p:cNvSpPr/>
          <p:nvPr/>
        </p:nvSpPr>
        <p:spPr bwMode="auto">
          <a:xfrm>
            <a:off x="468360" y="2852640"/>
            <a:ext cx="8064360" cy="2232000"/>
          </a:xfrm>
          <a:prstGeom prst="rect">
            <a:avLst/>
          </a:prstGeom>
          <a:noFill/>
          <a:ln w="0">
            <a:noFill/>
          </a:ln>
        </p:spPr>
        <p:style>
          <a:lnRef idx="0"/>
          <a:fillRef idx="0"/>
          <a:effectRef idx="0"/>
          <a:fontRef idx="minor"/>
        </p:style>
        <p:txBody>
          <a:bodyPr lIns="90000" tIns="46800" rIns="90000" bIns="46800" anchor="t">
            <a:normAutofit/>
          </a:bodyPr>
          <a:p>
            <a:pPr marL="228600" indent="-228600">
              <a:lnSpc>
                <a:spcPct val="90000"/>
              </a:lnSpc>
              <a:spcBef>
                <a:spcPts val="901"/>
              </a:spcBef>
              <a:spcAft>
                <a:spcPts val="601"/>
              </a:spcAft>
              <a:buClr>
                <a:srgbClr val="000000"/>
              </a:buClr>
              <a:buSzPct val="85000"/>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ea typeface="Arial"/>
              </a:rPr>
              <a:t>Collection of angiographic images</a:t>
            </a:r>
            <a:endParaRPr lang="en-US" sz="2400" b="0" strike="noStrike" spc="-1">
              <a:solidFill>
                <a:srgbClr val="000000"/>
              </a:solidFill>
              <a:latin typeface="Arial"/>
            </a:endParaRPr>
          </a:p>
          <a:p>
            <a:pPr marL="571680" lvl="1" indent="-228600">
              <a:lnSpc>
                <a:spcPct val="90000"/>
              </a:lnSpc>
              <a:spcBef>
                <a:spcPts val="750"/>
              </a:spcBef>
              <a:spcAft>
                <a:spcPts val="499"/>
              </a:spcAft>
              <a:buClr>
                <a:srgbClr val="000000"/>
              </a:buClr>
              <a:buSzPct val="85000"/>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Futura Bk"/>
                <a:ea typeface="Arial"/>
              </a:rPr>
              <a:t>ICA filters performs better by </a:t>
            </a:r>
            <a:r>
              <a:rPr lang="ru-RU" sz="2000" b="0" strike="noStrike" spc="-1">
                <a:solidFill>
                  <a:srgbClr val="000000"/>
                </a:solidFill>
                <a:latin typeface="Futura Bk"/>
                <a:ea typeface="Arial"/>
              </a:rPr>
              <a:t>13%</a:t>
            </a:r>
            <a:endParaRPr lang="en-US" sz="2000" b="0" strike="noStrike" spc="-1">
              <a:solidFill>
                <a:srgbClr val="000000"/>
              </a:solidFill>
              <a:latin typeface="Arial"/>
            </a:endParaRPr>
          </a:p>
          <a:p>
            <a:pPr marL="228600" indent="-228600">
              <a:lnSpc>
                <a:spcPct val="90000"/>
              </a:lnSpc>
              <a:spcBef>
                <a:spcPts val="901"/>
              </a:spcBef>
              <a:spcAft>
                <a:spcPts val="601"/>
              </a:spcAft>
              <a:buClr>
                <a:srgbClr val="000000"/>
              </a:buClr>
              <a:buSzPct val="85000"/>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ea typeface="Arial"/>
              </a:rPr>
              <a:t>Brodatz texture collection</a:t>
            </a:r>
            <a:endParaRPr lang="en-US" sz="2400" b="0" strike="noStrike" spc="-1">
              <a:solidFill>
                <a:srgbClr val="000000"/>
              </a:solidFill>
              <a:latin typeface="Arial"/>
            </a:endParaRPr>
          </a:p>
          <a:p>
            <a:pPr marL="571680" lvl="1" indent="-228600">
              <a:lnSpc>
                <a:spcPct val="90000"/>
              </a:lnSpc>
              <a:spcBef>
                <a:spcPts val="750"/>
              </a:spcBef>
              <a:spcAft>
                <a:spcPts val="499"/>
              </a:spcAft>
              <a:buClr>
                <a:srgbClr val="000000"/>
              </a:buClr>
              <a:buSzPct val="85000"/>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Futura Bk"/>
                <a:ea typeface="Arial"/>
              </a:rPr>
              <a:t>ICA filters perform better by</a:t>
            </a:r>
            <a:r>
              <a:rPr lang="ru-RU" sz="2000" b="0" strike="noStrike" spc="-1">
                <a:solidFill>
                  <a:srgbClr val="000000"/>
                </a:solidFill>
                <a:latin typeface="Futura Bk"/>
                <a:ea typeface="Arial"/>
              </a:rPr>
              <a:t> 4%</a:t>
            </a:r>
            <a:endParaRPr lang="en-US" sz="20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720" name="PlaceHolder 1"/>
          <p:cNvSpPr>
            <a:spLocks noGrp="1"/>
          </p:cNvSpPr>
          <p:nvPr>
            <p:ph/>
          </p:nvPr>
        </p:nvSpPr>
        <p:spPr bwMode="auto">
          <a:xfrm>
            <a:off x="399600" y="1557360"/>
            <a:ext cx="8272440" cy="4680000"/>
          </a:xfrm>
          <a:prstGeom prst="rect">
            <a:avLst/>
          </a:prstGeom>
          <a:noFill/>
          <a:ln w="0">
            <a:noFill/>
          </a:ln>
        </p:spPr>
        <p:txBody>
          <a:bodyPr lIns="90000" tIns="46800" rIns="90000" bIns="46800" anchor="t">
            <a:normAutofit/>
          </a:bodyPr>
          <a:p>
            <a:pPr marL="228600" indent="-228600">
              <a:lnSpc>
                <a:spcPct val="90000"/>
              </a:lnSpc>
              <a:spcBef>
                <a:spcPts val="1400"/>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B2B2B2"/>
                </a:solidFill>
                <a:latin typeface="Futura Bk"/>
              </a:rPr>
              <a:t>Texture features</a:t>
            </a:r>
            <a:endParaRPr lang="en-US" sz="28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rPr>
              <a:t>Statistical</a:t>
            </a:r>
            <a:endParaRPr lang="en-US" sz="24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rPr>
              <a:t>Spectral</a:t>
            </a:r>
            <a:endParaRPr lang="en-US" sz="24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rPr>
              <a:t>Comparison</a:t>
            </a:r>
            <a:endParaRPr lang="en-US" sz="2400" b="0" strike="noStrike" spc="-1">
              <a:solidFill>
                <a:srgbClr val="000000"/>
              </a:solidFill>
              <a:latin typeface="Futura Bk"/>
            </a:endParaRPr>
          </a:p>
          <a:p>
            <a:pPr marL="228600" indent="-228600">
              <a:lnSpc>
                <a:spcPct val="90000"/>
              </a:lnSpc>
              <a:spcBef>
                <a:spcPts val="1400"/>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71B4"/>
                </a:solidFill>
                <a:latin typeface="Futura Bk"/>
              </a:rPr>
              <a:t>Shape features</a:t>
            </a:r>
            <a:endParaRPr lang="en-US" sz="28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rPr>
              <a:t>Boundary based</a:t>
            </a:r>
            <a:endParaRPr lang="en-US" sz="24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rPr>
              <a:t>Region based</a:t>
            </a:r>
            <a:endParaRPr lang="en-US" sz="24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rPr>
              <a:t>Comparison</a:t>
            </a:r>
            <a:endParaRPr lang="en-US" sz="2400" b="0" strike="noStrike" spc="-1">
              <a:solidFill>
                <a:srgbClr val="000000"/>
              </a:solidFill>
              <a:latin typeface="Futura Bk"/>
            </a:endParaRPr>
          </a:p>
          <a:p>
            <a:pPr marL="228600" indent="-228600">
              <a:lnSpc>
                <a:spcPct val="90000"/>
              </a:lnSpc>
              <a:spcBef>
                <a:spcPts val="1400"/>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B2B2B2"/>
                </a:solidFill>
                <a:latin typeface="Futura Bk"/>
              </a:rPr>
              <a:t>Fusion methods</a:t>
            </a:r>
            <a:endParaRPr lang="en-US" sz="2800" b="0" strike="noStrike" spc="-1">
              <a:solidFill>
                <a:srgbClr val="000000"/>
              </a:solidFill>
              <a:latin typeface="Futura Bk"/>
            </a:endParaRPr>
          </a:p>
        </p:txBody>
      </p:sp>
      <p:sp>
        <p:nvSpPr>
          <p:cNvPr id="721" name="PlaceHolder 2"/>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Lecture 3: Outline</a:t>
            </a:r>
            <a:endParaRPr lang="en-US" sz="3600" b="0" strike="noStrike" spc="-1">
              <a:solidFill>
                <a:srgbClr val="000000"/>
              </a:solidFill>
              <a:latin typeface="Futura Bk"/>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722"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Shape features</a:t>
            </a:r>
            <a:endParaRPr lang="en-US" sz="3600" b="0" strike="noStrike" spc="-1">
              <a:solidFill>
                <a:srgbClr val="000000"/>
              </a:solidFill>
              <a:latin typeface="Futura Bk"/>
            </a:endParaRPr>
          </a:p>
        </p:txBody>
      </p:sp>
      <p:sp>
        <p:nvSpPr>
          <p:cNvPr id="723" name=""/>
          <p:cNvSpPr/>
          <p:nvPr/>
        </p:nvSpPr>
        <p:spPr bwMode="auto">
          <a:xfrm>
            <a:off x="0" y="28144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24" name=""/>
          <p:cNvSpPr/>
          <p:nvPr/>
        </p:nvSpPr>
        <p:spPr bwMode="auto">
          <a:xfrm>
            <a:off x="0" y="275760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grpSp>
        <p:nvGrpSpPr>
          <p:cNvPr id="727" name=""/>
          <p:cNvGrpSpPr/>
          <p:nvPr/>
        </p:nvGrpSpPr>
        <p:grpSpPr bwMode="auto">
          <a:xfrm>
            <a:off x="395280" y="4583160"/>
            <a:ext cx="4322520" cy="1366920"/>
            <a:chOff x="395280" y="4583160"/>
            <a:chExt cx="4322520" cy="1366920"/>
          </a:xfrm>
        </p:grpSpPr>
        <p:sp>
          <p:nvSpPr>
            <p:cNvPr id="728" name=""/>
            <p:cNvSpPr/>
            <p:nvPr/>
          </p:nvSpPr>
          <p:spPr bwMode="auto">
            <a:xfrm>
              <a:off x="2700360" y="4583160"/>
              <a:ext cx="2017440" cy="719280"/>
            </a:xfrm>
            <a:prstGeom prst="ellipse">
              <a:avLst/>
            </a:prstGeom>
            <a:noFill/>
            <a:ln w="19080">
              <a:solidFill>
                <a:srgbClr val="EB5F01"/>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729" name=""/>
            <p:cNvSpPr/>
            <p:nvPr/>
          </p:nvSpPr>
          <p:spPr bwMode="auto">
            <a:xfrm>
              <a:off x="395280" y="5015160"/>
              <a:ext cx="2700360" cy="934920"/>
            </a:xfrm>
            <a:prstGeom prst="rect">
              <a:avLst/>
            </a:prstGeom>
            <a:noFill/>
            <a:ln w="0">
              <a:noFill/>
            </a:ln>
          </p:spPr>
          <p:style>
            <a:lnRef idx="0"/>
            <a:fillRef idx="0"/>
            <a:effectRef idx="0"/>
            <a:fontRef idx="minor"/>
          </p:style>
          <p:txBody>
            <a:bodyPr lIns="90000" tIns="46800" rIns="90000" bIns="46800" anchor="ctr">
              <a:noAutofit/>
            </a:bodyPr>
            <a:p>
              <a:pPr algn="ctr">
                <a:lnSpc>
                  <a:spcPct val="11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400" b="0" strike="noStrike" spc="-1">
                  <a:solidFill>
                    <a:srgbClr val="EB5F01"/>
                  </a:solidFill>
                  <a:latin typeface="Tahoma"/>
                  <a:ea typeface="宋体"/>
                </a:rPr>
                <a:t>Spectral descriptors</a:t>
              </a:r>
              <a:endParaRPr lang="en-US" sz="1400" b="0" strike="noStrike" spc="-1">
                <a:solidFill>
                  <a:srgbClr val="000000"/>
                </a:solidFill>
                <a:latin typeface="Arial"/>
              </a:endParaRPr>
            </a:p>
          </p:txBody>
        </p:sp>
      </p:grpSp>
      <p:grpSp>
        <p:nvGrpSpPr>
          <p:cNvPr id="730" name=""/>
          <p:cNvGrpSpPr/>
          <p:nvPr/>
        </p:nvGrpSpPr>
        <p:grpSpPr bwMode="auto">
          <a:xfrm>
            <a:off x="1042920" y="3284640"/>
            <a:ext cx="7274160" cy="1800000"/>
            <a:chOff x="1042920" y="3284640"/>
            <a:chExt cx="7274160" cy="1800000"/>
          </a:xfrm>
        </p:grpSpPr>
        <p:sp>
          <p:nvSpPr>
            <p:cNvPr id="731" name=""/>
            <p:cNvSpPr/>
            <p:nvPr/>
          </p:nvSpPr>
          <p:spPr bwMode="auto">
            <a:xfrm>
              <a:off x="1042920" y="4437000"/>
              <a:ext cx="1728720" cy="432000"/>
            </a:xfrm>
            <a:prstGeom prst="ellipse">
              <a:avLst/>
            </a:prstGeom>
            <a:noFill/>
            <a:ln w="19080">
              <a:solidFill>
                <a:srgbClr val="CC0066"/>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732" name=""/>
            <p:cNvSpPr/>
            <p:nvPr/>
          </p:nvSpPr>
          <p:spPr bwMode="auto">
            <a:xfrm>
              <a:off x="6804000" y="3933720"/>
              <a:ext cx="1295280" cy="287280"/>
            </a:xfrm>
            <a:prstGeom prst="ellipse">
              <a:avLst/>
            </a:prstGeom>
            <a:noFill/>
            <a:ln w="19080">
              <a:solidFill>
                <a:srgbClr val="CC0066"/>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733" name=""/>
            <p:cNvSpPr/>
            <p:nvPr/>
          </p:nvSpPr>
          <p:spPr bwMode="auto">
            <a:xfrm>
              <a:off x="6877080" y="3284640"/>
              <a:ext cx="1440000" cy="215640"/>
            </a:xfrm>
            <a:prstGeom prst="ellipse">
              <a:avLst/>
            </a:prstGeom>
            <a:noFill/>
            <a:ln w="19080">
              <a:solidFill>
                <a:srgbClr val="CC0066"/>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734" name=""/>
            <p:cNvSpPr/>
            <p:nvPr/>
          </p:nvSpPr>
          <p:spPr bwMode="auto">
            <a:xfrm>
              <a:off x="2843280" y="4508640"/>
              <a:ext cx="1512720" cy="576000"/>
            </a:xfrm>
            <a:prstGeom prst="ellipse">
              <a:avLst/>
            </a:prstGeom>
            <a:noFill/>
            <a:ln w="19080">
              <a:solidFill>
                <a:srgbClr val="CC0066"/>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gr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48" dur="indefinite" restart="never" nodeType="tmRoot">
          <p:childTnLst>
            <p:seq>
              <p:cTn id="49" dur="indefinite" nodeType="mainSeq">
                <p:childTnLst>
                  <p:par>
                    <p:cTn id="50" fill="hold">
                      <p:stCondLst>
                        <p:cond delay="indefinite"/>
                      </p:stCondLst>
                      <p:childTnLst>
                        <p:par>
                          <p:cTn id="51" fill="hold">
                            <p:stCondLst>
                              <p:cond delay="0"/>
                            </p:stCondLst>
                            <p:childTnLst>
                              <p:par>
                                <p:cTn id="52" presetID="1" presetClass="entr" fill="hold" nodeType="clickEffect">
                                  <p:stCondLst>
                                    <p:cond delay="0"/>
                                  </p:stCondLst>
                                  <p:childTnLst>
                                    <p:set>
                                      <p:cBhvr>
                                        <p:cTn id="53" dur="1" fill="hold">
                                          <p:stCondLst>
                                            <p:cond delay="0"/>
                                          </p:stCondLst>
                                        </p:cTn>
                                        <p:tgtEl>
                                          <p:spTgt spid="727"/>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fill="hold" nodeType="clickEffect">
                                  <p:stCondLst>
                                    <p:cond delay="0"/>
                                  </p:stCondLst>
                                  <p:childTnLst>
                                    <p:set>
                                      <p:cBhvr>
                                        <p:cTn id="57" dur="1" fill="hold">
                                          <p:stCondLst>
                                            <p:cond delay="0"/>
                                          </p:stCondLst>
                                        </p:cTn>
                                        <p:tgtEl>
                                          <p:spTgt spid="730"/>
                                        </p:tgtEl>
                                        <p:attrNameLst>
                                          <p:attrName>style.visibility</p:attrName>
                                        </p:attrNameLst>
                                      </p:cBhvr>
                                      <p:to>
                                        <p:strVal val="visible"/>
                                      </p:to>
                                    </p:set>
                                  </p:childTnLst>
                                </p:cTn>
                              </p:par>
                              <p:par>
                                <p:cTn id="58" presetID="1" presetClass="exit" fill="hold" nodeType="withEffect">
                                  <p:stCondLst>
                                    <p:cond delay="0"/>
                                  </p:stCondLst>
                                  <p:childTnLst>
                                    <p:set>
                                      <p:cBhvr>
                                        <p:cTn id="59" dur="1" fill="hold">
                                          <p:stCondLst>
                                            <p:cond delay="0"/>
                                          </p:stCondLst>
                                        </p:cTn>
                                        <p:tgtEl>
                                          <p:spTgt spid="72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735"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Requirements to the shape features</a:t>
            </a:r>
            <a:endParaRPr lang="en-US" sz="3600" b="0" strike="noStrike" spc="-1">
              <a:solidFill>
                <a:srgbClr val="000000"/>
              </a:solidFill>
              <a:latin typeface="Futura Bk"/>
            </a:endParaRPr>
          </a:p>
        </p:txBody>
      </p:sp>
      <p:sp>
        <p:nvSpPr>
          <p:cNvPr id="736" name=""/>
          <p:cNvSpPr/>
          <p:nvPr/>
        </p:nvSpPr>
        <p:spPr bwMode="auto">
          <a:xfrm>
            <a:off x="0" y="28144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37" name=""/>
          <p:cNvSpPr/>
          <p:nvPr/>
        </p:nvSpPr>
        <p:spPr bwMode="auto">
          <a:xfrm>
            <a:off x="0" y="275760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38" name=""/>
          <p:cNvSpPr/>
          <p:nvPr/>
        </p:nvSpPr>
        <p:spPr bwMode="auto">
          <a:xfrm>
            <a:off x="0" y="322416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39" name=""/>
          <p:cNvSpPr/>
          <p:nvPr/>
        </p:nvSpPr>
        <p:spPr bwMode="auto">
          <a:xfrm>
            <a:off x="0" y="332892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40" name=""/>
          <p:cNvSpPr/>
          <p:nvPr/>
        </p:nvSpPr>
        <p:spPr bwMode="auto">
          <a:xfrm>
            <a:off x="0" y="326232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41" name=""/>
          <p:cNvSpPr/>
          <p:nvPr/>
        </p:nvSpPr>
        <p:spPr bwMode="auto">
          <a:xfrm>
            <a:off x="468360" y="1844640"/>
            <a:ext cx="8064360" cy="3745080"/>
          </a:xfrm>
          <a:prstGeom prst="rect">
            <a:avLst/>
          </a:prstGeom>
          <a:noFill/>
          <a:ln w="0">
            <a:noFill/>
          </a:ln>
        </p:spPr>
        <p:style>
          <a:lnRef idx="0"/>
          <a:fillRef idx="0"/>
          <a:effectRef idx="0"/>
          <a:fontRef idx="minor"/>
        </p:style>
        <p:txBody>
          <a:bodyPr lIns="90000" tIns="46800" rIns="90000" bIns="46800" anchor="t">
            <a:normAutofit/>
          </a:bodyPr>
          <a:p>
            <a:pPr marL="228600" indent="-228600">
              <a:lnSpc>
                <a:spcPct val="90000"/>
              </a:lnSpc>
              <a:spcBef>
                <a:spcPts val="1049"/>
              </a:spcBef>
              <a:spcAft>
                <a:spcPts val="700"/>
              </a:spcAft>
              <a:buClr>
                <a:srgbClr val="000000"/>
              </a:buClr>
              <a:buSzPct val="85000"/>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ea typeface="Arial"/>
              </a:rPr>
              <a:t>T</a:t>
            </a:r>
            <a:r>
              <a:rPr lang="ru-RU" sz="2800" b="0" strike="noStrike" spc="-1">
                <a:solidFill>
                  <a:srgbClr val="000000"/>
                </a:solidFill>
                <a:latin typeface="Futura Bk"/>
                <a:ea typeface="Arial"/>
              </a:rPr>
              <a:t>ranslation</a:t>
            </a:r>
            <a:r>
              <a:rPr lang="en-US" sz="2800" b="0" strike="noStrike" spc="-1">
                <a:solidFill>
                  <a:srgbClr val="000000"/>
                </a:solidFill>
                <a:latin typeface="Futura Bk"/>
                <a:ea typeface="Arial"/>
              </a:rPr>
              <a:t> invariance</a:t>
            </a:r>
            <a:endParaRPr lang="en-US" sz="2800" b="0" strike="noStrike" spc="-1">
              <a:solidFill>
                <a:srgbClr val="000000"/>
              </a:solidFill>
              <a:latin typeface="Arial"/>
            </a:endParaRPr>
          </a:p>
          <a:p>
            <a:pPr marL="228600" indent="-228600">
              <a:lnSpc>
                <a:spcPct val="90000"/>
              </a:lnSpc>
              <a:spcBef>
                <a:spcPts val="1049"/>
              </a:spcBef>
              <a:spcAft>
                <a:spcPts val="700"/>
              </a:spcAft>
              <a:buClr>
                <a:srgbClr val="000000"/>
              </a:buClr>
              <a:buSzPct val="85000"/>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ea typeface="Arial"/>
              </a:rPr>
              <a:t>Scale invariance</a:t>
            </a:r>
            <a:endParaRPr lang="en-US" sz="2800" b="0" strike="noStrike" spc="-1">
              <a:solidFill>
                <a:srgbClr val="000000"/>
              </a:solidFill>
              <a:latin typeface="Arial"/>
            </a:endParaRPr>
          </a:p>
          <a:p>
            <a:pPr marL="228600" indent="-228600">
              <a:lnSpc>
                <a:spcPct val="90000"/>
              </a:lnSpc>
              <a:spcBef>
                <a:spcPts val="1049"/>
              </a:spcBef>
              <a:spcAft>
                <a:spcPts val="700"/>
              </a:spcAft>
              <a:buClr>
                <a:srgbClr val="000000"/>
              </a:buClr>
              <a:buSzPct val="85000"/>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ea typeface="Arial"/>
              </a:rPr>
              <a:t>Rotational invariance</a:t>
            </a:r>
            <a:endParaRPr lang="en-US" sz="2800" b="0" strike="noStrike" spc="-1">
              <a:solidFill>
                <a:srgbClr val="000000"/>
              </a:solidFill>
              <a:latin typeface="Arial"/>
            </a:endParaRPr>
          </a:p>
          <a:p>
            <a:pPr marL="228600" indent="-228600">
              <a:lnSpc>
                <a:spcPct val="90000"/>
              </a:lnSpc>
              <a:spcBef>
                <a:spcPts val="1049"/>
              </a:spcBef>
              <a:spcAft>
                <a:spcPts val="700"/>
              </a:spcAft>
              <a:buClr>
                <a:srgbClr val="000000"/>
              </a:buClr>
              <a:buSzPct val="85000"/>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ea typeface="Arial"/>
              </a:rPr>
              <a:t>Stability against small form changes</a:t>
            </a:r>
            <a:endParaRPr lang="en-US" sz="2800" b="0" strike="noStrike" spc="-1">
              <a:solidFill>
                <a:srgbClr val="000000"/>
              </a:solidFill>
              <a:latin typeface="Arial"/>
            </a:endParaRPr>
          </a:p>
          <a:p>
            <a:pPr marL="228600" indent="-228600">
              <a:lnSpc>
                <a:spcPct val="90000"/>
              </a:lnSpc>
              <a:spcBef>
                <a:spcPts val="1049"/>
              </a:spcBef>
              <a:spcAft>
                <a:spcPts val="700"/>
              </a:spcAft>
              <a:buClr>
                <a:srgbClr val="000000"/>
              </a:buClr>
              <a:buSzPct val="85000"/>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ea typeface="Arial"/>
              </a:rPr>
              <a:t>Low computation complexity</a:t>
            </a:r>
            <a:endParaRPr lang="en-US" sz="2800" b="0" strike="noStrike" spc="-1">
              <a:solidFill>
                <a:srgbClr val="000000"/>
              </a:solidFill>
              <a:latin typeface="Arial"/>
            </a:endParaRPr>
          </a:p>
          <a:p>
            <a:pPr marL="228600" indent="-228600">
              <a:lnSpc>
                <a:spcPct val="90000"/>
              </a:lnSpc>
              <a:spcBef>
                <a:spcPts val="1049"/>
              </a:spcBef>
              <a:spcAft>
                <a:spcPts val="700"/>
              </a:spcAft>
              <a:buClr>
                <a:srgbClr val="000000"/>
              </a:buClr>
              <a:buSzPct val="85000"/>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0000"/>
                </a:solidFill>
                <a:latin typeface="Futura Bk"/>
                <a:ea typeface="Arial"/>
              </a:rPr>
              <a:t>Low comparison complexity</a:t>
            </a:r>
            <a:endParaRPr lang="en-US" sz="28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742"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Boundary-based features</a:t>
            </a:r>
            <a:endParaRPr lang="en-US" sz="3600" b="0" strike="noStrike" spc="-1">
              <a:solidFill>
                <a:srgbClr val="000000"/>
              </a:solidFill>
              <a:latin typeface="Futura Bk"/>
            </a:endParaRPr>
          </a:p>
        </p:txBody>
      </p:sp>
      <p:sp>
        <p:nvSpPr>
          <p:cNvPr id="743" name=""/>
          <p:cNvSpPr/>
          <p:nvPr/>
        </p:nvSpPr>
        <p:spPr bwMode="auto">
          <a:xfrm>
            <a:off x="0" y="28144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44" name=""/>
          <p:cNvSpPr/>
          <p:nvPr/>
        </p:nvSpPr>
        <p:spPr bwMode="auto">
          <a:xfrm>
            <a:off x="0" y="275760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grpSp>
        <p:nvGrpSpPr>
          <p:cNvPr id="745" name=""/>
          <p:cNvGrpSpPr/>
          <p:nvPr/>
        </p:nvGrpSpPr>
        <p:grpSpPr bwMode="auto">
          <a:xfrm>
            <a:off x="457200" y="1698480"/>
            <a:ext cx="8229600" cy="4178519"/>
            <a:chOff x="457200" y="1698480"/>
            <a:chExt cx="8229600" cy="4178519"/>
          </a:xfrm>
        </p:grpSpPr>
        <p:pic>
          <p:nvPicPr>
            <p:cNvPr id="747" name="" descr=""/>
            <p:cNvPicPr/>
            <p:nvPr/>
          </p:nvPicPr>
          <p:blipFill>
            <a:blip r:embed="rId2"/>
            <a:stretch/>
          </p:blipFill>
          <p:spPr bwMode="auto">
            <a:xfrm>
              <a:off x="457200" y="1698480"/>
              <a:ext cx="8229600" cy="4178519"/>
            </a:xfrm>
            <a:prstGeom prst="rect">
              <a:avLst/>
            </a:prstGeom>
            <a:ln w="0">
              <a:noFill/>
            </a:ln>
          </p:spPr>
        </p:pic>
        <p:sp>
          <p:nvSpPr>
            <p:cNvPr id="748" name=""/>
            <p:cNvSpPr/>
            <p:nvPr/>
          </p:nvSpPr>
          <p:spPr bwMode="auto">
            <a:xfrm>
              <a:off x="539640" y="4148280"/>
              <a:ext cx="2016360" cy="431640"/>
            </a:xfrm>
            <a:prstGeom prst="ellipse">
              <a:avLst/>
            </a:prstGeom>
            <a:noFill/>
            <a:ln w="19080">
              <a:solidFill>
                <a:srgbClr val="CC0066"/>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749" name=""/>
            <p:cNvSpPr/>
            <p:nvPr/>
          </p:nvSpPr>
          <p:spPr bwMode="auto">
            <a:xfrm>
              <a:off x="2700360" y="4219560"/>
              <a:ext cx="2016000" cy="431640"/>
            </a:xfrm>
            <a:prstGeom prst="ellipse">
              <a:avLst/>
            </a:prstGeom>
            <a:noFill/>
            <a:ln w="19080">
              <a:solidFill>
                <a:srgbClr val="CC0066"/>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gr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750"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Chain codes</a:t>
            </a:r>
            <a:endParaRPr lang="en-US" sz="3600" b="0" strike="noStrike" spc="-1">
              <a:solidFill>
                <a:srgbClr val="000000"/>
              </a:solidFill>
              <a:latin typeface="Futura Bk"/>
            </a:endParaRPr>
          </a:p>
        </p:txBody>
      </p:sp>
      <p:sp>
        <p:nvSpPr>
          <p:cNvPr id="751" name=""/>
          <p:cNvSpPr/>
          <p:nvPr/>
        </p:nvSpPr>
        <p:spPr bwMode="auto">
          <a:xfrm>
            <a:off x="0" y="28144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52" name=""/>
          <p:cNvSpPr/>
          <p:nvPr/>
        </p:nvSpPr>
        <p:spPr bwMode="auto">
          <a:xfrm>
            <a:off x="0" y="322416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53" name=""/>
          <p:cNvSpPr/>
          <p:nvPr/>
        </p:nvSpPr>
        <p:spPr bwMode="auto">
          <a:xfrm>
            <a:off x="0" y="332892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54" name=""/>
          <p:cNvSpPr/>
          <p:nvPr/>
        </p:nvSpPr>
        <p:spPr bwMode="auto">
          <a:xfrm>
            <a:off x="0" y="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pic>
        <p:nvPicPr>
          <p:cNvPr id="755" name="" descr=""/>
          <p:cNvPicPr/>
          <p:nvPr/>
        </p:nvPicPr>
        <p:blipFill>
          <a:blip r:embed="rId2"/>
          <a:stretch/>
        </p:blipFill>
        <p:spPr bwMode="auto">
          <a:xfrm>
            <a:off x="468360" y="1628640"/>
            <a:ext cx="3095640" cy="1298880"/>
          </a:xfrm>
          <a:prstGeom prst="rect">
            <a:avLst/>
          </a:prstGeom>
          <a:ln w="0">
            <a:noFill/>
          </a:ln>
        </p:spPr>
      </p:pic>
      <p:sp>
        <p:nvSpPr>
          <p:cNvPr id="756" name=""/>
          <p:cNvSpPr/>
          <p:nvPr/>
        </p:nvSpPr>
        <p:spPr bwMode="auto">
          <a:xfrm>
            <a:off x="5528160" y="2348280"/>
            <a:ext cx="2744280" cy="307439"/>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400" b="0" strike="noStrike" spc="-1">
                <a:solidFill>
                  <a:srgbClr val="000000"/>
                </a:solidFill>
                <a:latin typeface="Tahoma"/>
              </a:rPr>
              <a:t>A</a:t>
            </a:r>
            <a:r>
              <a:rPr lang="ru-RU" sz="1400" b="0" strike="noStrike" spc="-1">
                <a:solidFill>
                  <a:srgbClr val="000000"/>
                </a:solidFill>
                <a:latin typeface="Tahoma"/>
              </a:rPr>
              <a:t>: 03001033332322121111 </a:t>
            </a:r>
            <a:endParaRPr lang="en-US" sz="1400" b="0" strike="noStrike" spc="-1">
              <a:solidFill>
                <a:srgbClr val="000000"/>
              </a:solidFill>
              <a:latin typeface="Arial"/>
            </a:endParaRPr>
          </a:p>
        </p:txBody>
      </p:sp>
      <p:sp>
        <p:nvSpPr>
          <p:cNvPr id="757" name=""/>
          <p:cNvSpPr/>
          <p:nvPr/>
        </p:nvSpPr>
        <p:spPr bwMode="auto">
          <a:xfrm>
            <a:off x="5577120" y="2635560"/>
            <a:ext cx="2063160" cy="307439"/>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400" b="0" strike="noStrike" spc="-1">
                <a:solidFill>
                  <a:srgbClr val="000000"/>
                </a:solidFill>
                <a:latin typeface="Tahoma"/>
              </a:rPr>
              <a:t>B</a:t>
            </a:r>
            <a:r>
              <a:rPr lang="ru-RU" sz="1400" b="0" strike="noStrike" spc="-1">
                <a:solidFill>
                  <a:srgbClr val="000000"/>
                </a:solidFill>
                <a:latin typeface="Tahoma"/>
              </a:rPr>
              <a:t>: 70016665533222 </a:t>
            </a:r>
            <a:endParaRPr lang="en-US" sz="1400" b="0" strike="noStrike" spc="-1">
              <a:solidFill>
                <a:srgbClr val="000000"/>
              </a:solidFill>
              <a:latin typeface="Arial"/>
            </a:endParaRPr>
          </a:p>
        </p:txBody>
      </p:sp>
      <p:sp>
        <p:nvSpPr>
          <p:cNvPr id="758" name=""/>
          <p:cNvSpPr/>
          <p:nvPr/>
        </p:nvSpPr>
        <p:spPr bwMode="auto">
          <a:xfrm>
            <a:off x="119520" y="1252080"/>
            <a:ext cx="6048000" cy="3376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600" b="0" strike="noStrike" spc="-1">
                <a:solidFill>
                  <a:srgbClr val="64B900"/>
                </a:solidFill>
                <a:latin typeface="Futura Bk"/>
              </a:rPr>
              <a:t>Directions for </a:t>
            </a:r>
            <a:r>
              <a:rPr lang="ru-RU" sz="1600" b="0" strike="noStrike" spc="-1">
                <a:solidFill>
                  <a:srgbClr val="64B900"/>
                </a:solidFill>
                <a:latin typeface="Futura Bk"/>
              </a:rPr>
              <a:t> 4-</a:t>
            </a:r>
            <a:r>
              <a:rPr lang="en-US" sz="1600" b="0" strike="noStrike" spc="-1">
                <a:solidFill>
                  <a:srgbClr val="64B900"/>
                </a:solidFill>
                <a:latin typeface="Futura Bk"/>
              </a:rPr>
              <a:t>connected</a:t>
            </a:r>
            <a:r>
              <a:rPr lang="ru-RU" sz="1600" b="0" strike="noStrike" spc="-1">
                <a:solidFill>
                  <a:srgbClr val="64B900"/>
                </a:solidFill>
                <a:latin typeface="Futura Bk"/>
              </a:rPr>
              <a:t> </a:t>
            </a:r>
            <a:r>
              <a:rPr lang="en-US" sz="1600" b="0" strike="noStrike" spc="-1">
                <a:solidFill>
                  <a:srgbClr val="64B900"/>
                </a:solidFill>
                <a:latin typeface="Futura Bk"/>
              </a:rPr>
              <a:t>and </a:t>
            </a:r>
            <a:r>
              <a:rPr lang="ru-RU" sz="1600" b="0" strike="noStrike" spc="-1">
                <a:solidFill>
                  <a:srgbClr val="64B900"/>
                </a:solidFill>
                <a:latin typeface="Futura Bk"/>
              </a:rPr>
              <a:t>8-</a:t>
            </a:r>
            <a:r>
              <a:rPr lang="en-US" sz="1600" b="0" strike="noStrike" spc="-1">
                <a:solidFill>
                  <a:srgbClr val="64B900"/>
                </a:solidFill>
                <a:latin typeface="Futura Bk"/>
              </a:rPr>
              <a:t>connected</a:t>
            </a:r>
            <a:r>
              <a:rPr lang="ru-RU" sz="1600" b="0" strike="noStrike" spc="-1">
                <a:solidFill>
                  <a:srgbClr val="64B900"/>
                </a:solidFill>
                <a:latin typeface="Futura Bk"/>
              </a:rPr>
              <a:t> </a:t>
            </a:r>
            <a:r>
              <a:rPr lang="en-US" sz="1600" b="0" strike="noStrike" spc="-1">
                <a:solidFill>
                  <a:srgbClr val="64B900"/>
                </a:solidFill>
                <a:latin typeface="Futura Bk"/>
              </a:rPr>
              <a:t>chain codes</a:t>
            </a:r>
            <a:r>
              <a:rPr lang="ru-RU" sz="1600" b="0" strike="noStrike" spc="-1">
                <a:solidFill>
                  <a:srgbClr val="64B900"/>
                </a:solidFill>
                <a:latin typeface="Futura Bk"/>
              </a:rPr>
              <a:t>:</a:t>
            </a:r>
            <a:endParaRPr lang="en-US" sz="1600" b="0" strike="noStrike" spc="-1">
              <a:solidFill>
                <a:srgbClr val="000000"/>
              </a:solidFill>
              <a:latin typeface="Arial"/>
            </a:endParaRPr>
          </a:p>
        </p:txBody>
      </p:sp>
      <p:sp>
        <p:nvSpPr>
          <p:cNvPr id="759" name=""/>
          <p:cNvSpPr/>
          <p:nvPr/>
        </p:nvSpPr>
        <p:spPr bwMode="auto">
          <a:xfrm>
            <a:off x="514439" y="3284280"/>
            <a:ext cx="1127160" cy="3376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600" b="0" strike="noStrike" spc="-1">
                <a:solidFill>
                  <a:srgbClr val="64B900"/>
                </a:solidFill>
                <a:latin typeface="Futura Bk"/>
              </a:rPr>
              <a:t>Example:</a:t>
            </a:r>
            <a:endParaRPr lang="en-US" sz="1600" b="0" strike="noStrike" spc="-1">
              <a:solidFill>
                <a:srgbClr val="000000"/>
              </a:solidFill>
              <a:latin typeface="Arial"/>
            </a:endParaRPr>
          </a:p>
        </p:txBody>
      </p:sp>
      <p:grpSp>
        <p:nvGrpSpPr>
          <p:cNvPr id="760" name=""/>
          <p:cNvGrpSpPr/>
          <p:nvPr/>
        </p:nvGrpSpPr>
        <p:grpSpPr bwMode="auto">
          <a:xfrm>
            <a:off x="619200" y="3687840"/>
            <a:ext cx="4457520" cy="1830240"/>
            <a:chOff x="619200" y="3687840"/>
            <a:chExt cx="4457520" cy="1830240"/>
          </a:xfrm>
        </p:grpSpPr>
        <p:grpSp>
          <p:nvGrpSpPr>
            <p:cNvPr id="761" name=""/>
            <p:cNvGrpSpPr/>
            <p:nvPr/>
          </p:nvGrpSpPr>
          <p:grpSpPr bwMode="auto">
            <a:xfrm>
              <a:off x="619200" y="3687840"/>
              <a:ext cx="4457520" cy="1662120"/>
              <a:chOff x="619200" y="3687840"/>
              <a:chExt cx="4457520" cy="1662120"/>
            </a:xfrm>
          </p:grpSpPr>
          <p:pic>
            <p:nvPicPr>
              <p:cNvPr id="763" name="" descr=""/>
              <p:cNvPicPr/>
              <p:nvPr/>
            </p:nvPicPr>
            <p:blipFill>
              <a:blip r:embed="rId3"/>
              <a:stretch/>
            </p:blipFill>
            <p:spPr bwMode="auto">
              <a:xfrm>
                <a:off x="619200" y="3687840"/>
                <a:ext cx="4457520" cy="1590840"/>
              </a:xfrm>
              <a:prstGeom prst="rect">
                <a:avLst/>
              </a:prstGeom>
              <a:ln w="0">
                <a:noFill/>
              </a:ln>
            </p:spPr>
          </p:pic>
          <p:sp>
            <p:nvSpPr>
              <p:cNvPr id="764" name=""/>
              <p:cNvSpPr/>
              <p:nvPr/>
            </p:nvSpPr>
            <p:spPr bwMode="auto">
              <a:xfrm>
                <a:off x="1116000" y="5133960"/>
                <a:ext cx="287280" cy="216000"/>
              </a:xfrm>
              <a:prstGeom prst="rect">
                <a:avLst/>
              </a:prstGeom>
              <a:solidFill>
                <a:srgbClr val="FFFFFF"/>
              </a:solidFill>
              <a:ln w="0">
                <a:noFill/>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765" name=""/>
              <p:cNvSpPr/>
              <p:nvPr/>
            </p:nvSpPr>
            <p:spPr bwMode="auto">
              <a:xfrm>
                <a:off x="2700360" y="5133960"/>
                <a:ext cx="287280" cy="216000"/>
              </a:xfrm>
              <a:prstGeom prst="rect">
                <a:avLst/>
              </a:prstGeom>
              <a:solidFill>
                <a:srgbClr val="FFFFFF"/>
              </a:solidFill>
              <a:ln w="0">
                <a:noFill/>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766" name=""/>
              <p:cNvSpPr/>
              <p:nvPr/>
            </p:nvSpPr>
            <p:spPr bwMode="auto">
              <a:xfrm>
                <a:off x="4284720" y="5133960"/>
                <a:ext cx="287280" cy="216000"/>
              </a:xfrm>
              <a:prstGeom prst="rect">
                <a:avLst/>
              </a:prstGeom>
              <a:solidFill>
                <a:srgbClr val="FFFFFF"/>
              </a:solidFill>
              <a:ln w="0">
                <a:noFill/>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grpSp>
        <p:sp>
          <p:nvSpPr>
            <p:cNvPr id="767" name=""/>
            <p:cNvSpPr/>
            <p:nvPr/>
          </p:nvSpPr>
          <p:spPr bwMode="auto">
            <a:xfrm>
              <a:off x="2693880" y="5210640"/>
              <a:ext cx="359280" cy="307439"/>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400" b="0" strike="noStrike" spc="-1">
                  <a:solidFill>
                    <a:srgbClr val="000000"/>
                  </a:solidFill>
                  <a:latin typeface="Tahoma"/>
                </a:rPr>
                <a:t>A</a:t>
              </a:r>
              <a:r>
                <a:rPr lang="ru-RU" sz="1400" b="0" strike="noStrike" spc="-1">
                  <a:solidFill>
                    <a:srgbClr val="000000"/>
                  </a:solidFill>
                  <a:latin typeface="Tahoma"/>
                </a:rPr>
                <a:t> </a:t>
              </a:r>
              <a:endParaRPr lang="en-US" sz="1400" b="0" strike="noStrike" spc="-1">
                <a:solidFill>
                  <a:srgbClr val="000000"/>
                </a:solidFill>
                <a:latin typeface="Arial"/>
              </a:endParaRPr>
            </a:p>
          </p:txBody>
        </p:sp>
        <p:sp>
          <p:nvSpPr>
            <p:cNvPr id="768" name=""/>
            <p:cNvSpPr/>
            <p:nvPr/>
          </p:nvSpPr>
          <p:spPr bwMode="auto">
            <a:xfrm>
              <a:off x="4293360" y="5210640"/>
              <a:ext cx="359280" cy="307439"/>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400" b="0" strike="noStrike" spc="-1">
                  <a:solidFill>
                    <a:srgbClr val="000000"/>
                  </a:solidFill>
                  <a:latin typeface="Tahoma"/>
                </a:rPr>
                <a:t>B</a:t>
              </a:r>
              <a:r>
                <a:rPr lang="ru-RU" sz="1400" b="0" strike="noStrike" spc="-1">
                  <a:solidFill>
                    <a:srgbClr val="000000"/>
                  </a:solidFill>
                  <a:latin typeface="Tahoma"/>
                </a:rPr>
                <a:t> </a:t>
              </a:r>
              <a:endParaRPr lang="en-US" sz="1400" b="0" strike="noStrike" spc="-1">
                <a:solidFill>
                  <a:srgbClr val="000000"/>
                </a:solidFill>
                <a:latin typeface="Arial"/>
              </a:endParaRPr>
            </a:p>
          </p:txBody>
        </p:sp>
      </p:grpSp>
      <p:sp>
        <p:nvSpPr>
          <p:cNvPr id="769" name=""/>
          <p:cNvSpPr/>
          <p:nvPr/>
        </p:nvSpPr>
        <p:spPr bwMode="auto">
          <a:xfrm rot="5400000">
            <a:off x="6719400" y="3031920"/>
            <a:ext cx="360360" cy="576360"/>
          </a:xfrm>
          <a:custGeom>
            <a:avLst/>
            <a:gdLst>
              <a:gd name="textAreaLeft" fmla="*/ 56160 w 360360"/>
              <a:gd name="textAreaRight" fmla="*/ 315360 w 360360"/>
              <a:gd name="textAreaTop" fmla="*/ 144000 h 576360"/>
              <a:gd name="textAreaBottom" fmla="*/ 432360 h 576360"/>
            </a:gdLst>
            <a:ahLst/>
            <a:cxnLst/>
            <a:rect l="textAreaLeft" t="textAreaTop" r="textAreaRight" b="textAreaBottom"/>
            <a:pathLst>
              <a:path w="21600" h="21600" fill="norm" stroke="1" extrusionOk="0">
                <a:moveTo>
                  <a:pt x="3375" y="5400"/>
                </a:moveTo>
                <a:lnTo>
                  <a:pt x="16200" y="5400"/>
                </a:lnTo>
                <a:lnTo>
                  <a:pt x="16200" y="0"/>
                </a:lnTo>
                <a:lnTo>
                  <a:pt x="21600" y="10800"/>
                </a:lnTo>
                <a:lnTo>
                  <a:pt x="16200" y="21600"/>
                </a:lnTo>
                <a:lnTo>
                  <a:pt x="16200" y="16200"/>
                </a:lnTo>
                <a:lnTo>
                  <a:pt x="3375" y="16200"/>
                </a:lnTo>
                <a:close/>
              </a:path>
              <a:path w="21600" h="21600" fill="norm" stroke="1" extrusionOk="0">
                <a:moveTo>
                  <a:pt x="0" y="5400"/>
                </a:moveTo>
                <a:lnTo>
                  <a:pt x="675" y="5400"/>
                </a:lnTo>
                <a:lnTo>
                  <a:pt x="675" y="16200"/>
                </a:lnTo>
                <a:lnTo>
                  <a:pt x="0" y="16200"/>
                </a:lnTo>
                <a:close/>
              </a:path>
              <a:path w="21600" h="21600" fill="norm" stroke="1" extrusionOk="0">
                <a:moveTo>
                  <a:pt x="1350" y="5400"/>
                </a:moveTo>
                <a:lnTo>
                  <a:pt x="2700" y="5400"/>
                </a:lnTo>
                <a:lnTo>
                  <a:pt x="2700" y="16200"/>
                </a:lnTo>
                <a:lnTo>
                  <a:pt x="1350" y="16200"/>
                </a:lnTo>
                <a:close/>
              </a:path>
            </a:pathLst>
          </a:custGeom>
          <a:solidFill>
            <a:srgbClr val="CC0066"/>
          </a:solidFill>
          <a:ln w="9360">
            <a:solidFill>
              <a:srgbClr val="CC0066"/>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770" name=""/>
          <p:cNvSpPr/>
          <p:nvPr/>
        </p:nvSpPr>
        <p:spPr bwMode="auto">
          <a:xfrm>
            <a:off x="5724360" y="3385080"/>
            <a:ext cx="3240360" cy="116136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400" b="0" strike="noStrike" spc="-1">
                <a:solidFill>
                  <a:srgbClr val="000000"/>
                </a:solidFill>
                <a:latin typeface="Tahoma"/>
              </a:rPr>
              <a:t>Starting point invariance</a:t>
            </a:r>
            <a:r>
              <a:rPr lang="ru-RU" sz="1400" b="0" strike="noStrike" spc="-1">
                <a:solidFill>
                  <a:srgbClr val="000000"/>
                </a:solidFill>
                <a:latin typeface="Tahoma"/>
              </a:rPr>
              <a:t>: </a:t>
            </a:r>
            <a:r>
              <a:rPr lang="en-US" sz="1400" b="0" strike="noStrike" spc="-1">
                <a:solidFill>
                  <a:srgbClr val="000000"/>
                </a:solidFill>
                <a:latin typeface="Tahoma"/>
              </a:rPr>
              <a:t>minimal code</a:t>
            </a:r>
            <a:r>
              <a:rPr lang="ru-RU" sz="1400" b="0" strike="noStrike" spc="-1">
                <a:solidFill>
                  <a:srgbClr val="000000"/>
                </a:solidFill>
                <a:latin typeface="Tahoma"/>
              </a:rPr>
              <a:t> </a:t>
            </a:r>
            <a:endParaRPr lang="en-US" sz="1400" b="0" strike="noStrike" spc="-1">
              <a:solidFill>
                <a:srgbClr val="000000"/>
              </a:solidFill>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400" b="0" strike="noStrike" spc="-1">
              <a:solidFill>
                <a:srgbClr val="000000"/>
              </a:solidFill>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400" b="0" strike="noStrike" spc="-1">
                <a:solidFill>
                  <a:srgbClr val="000000"/>
                </a:solidFill>
                <a:latin typeface="Tahoma"/>
              </a:rPr>
              <a:t>70016665533222</a:t>
            </a:r>
            <a:r>
              <a:rPr lang="en-US" sz="1400" b="0" strike="noStrike" spc="-1">
                <a:solidFill>
                  <a:srgbClr val="000000"/>
                </a:solidFill>
                <a:latin typeface="Tahoma"/>
              </a:rPr>
              <a:t> -&gt; </a:t>
            </a:r>
            <a:r>
              <a:rPr lang="ru-RU" sz="1400" b="0" strike="noStrike" spc="-1">
                <a:solidFill>
                  <a:srgbClr val="000000"/>
                </a:solidFill>
                <a:latin typeface="Tahoma"/>
              </a:rPr>
              <a:t>0016665533222</a:t>
            </a:r>
            <a:r>
              <a:rPr lang="en-US" sz="1400" b="0" strike="noStrike" spc="-1">
                <a:solidFill>
                  <a:srgbClr val="000000"/>
                </a:solidFill>
                <a:latin typeface="Tahoma"/>
              </a:rPr>
              <a:t>7</a:t>
            </a:r>
            <a:endParaRPr lang="en-US" sz="1400" b="0" strike="noStrike" spc="-1">
              <a:solidFill>
                <a:srgbClr val="000000"/>
              </a:solidFill>
              <a:latin typeface="Arial"/>
            </a:endParaRPr>
          </a:p>
        </p:txBody>
      </p:sp>
      <p:sp>
        <p:nvSpPr>
          <p:cNvPr id="771" name=""/>
          <p:cNvSpPr/>
          <p:nvPr/>
        </p:nvSpPr>
        <p:spPr bwMode="auto">
          <a:xfrm>
            <a:off x="5724360" y="4715280"/>
            <a:ext cx="3240360" cy="116136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400" b="0" strike="noStrike" spc="-1">
                <a:solidFill>
                  <a:srgbClr val="000000"/>
                </a:solidFill>
                <a:latin typeface="Tahoma"/>
              </a:rPr>
              <a:t>Rotation invariance</a:t>
            </a:r>
            <a:r>
              <a:rPr lang="ru-RU" sz="1400" b="0" strike="noStrike" spc="-1">
                <a:solidFill>
                  <a:srgbClr val="000000"/>
                </a:solidFill>
                <a:latin typeface="Tahoma"/>
              </a:rPr>
              <a:t>: </a:t>
            </a:r>
            <a:r>
              <a:rPr lang="en-US" sz="1400" b="0" strike="noStrike" spc="-1">
                <a:solidFill>
                  <a:srgbClr val="000000"/>
                </a:solidFill>
                <a:latin typeface="Tahoma"/>
              </a:rPr>
              <a:t>codes subtraction</a:t>
            </a:r>
            <a:r>
              <a:rPr lang="ru-RU" sz="1400" b="0" strike="noStrike" spc="-1">
                <a:solidFill>
                  <a:srgbClr val="000000"/>
                </a:solidFill>
                <a:latin typeface="Tahoma"/>
              </a:rPr>
              <a:t> </a:t>
            </a:r>
            <a:br>
              <a:rPr sz="1400"/>
            </a:br>
            <a:br>
              <a:rPr sz="1400"/>
            </a:br>
            <a:r>
              <a:rPr lang="ru-RU" sz="1400" b="0" strike="noStrike" spc="-1">
                <a:solidFill>
                  <a:srgbClr val="000000"/>
                </a:solidFill>
                <a:latin typeface="Tahoma"/>
              </a:rPr>
              <a:t>0016665533222</a:t>
            </a:r>
            <a:r>
              <a:rPr lang="en-US" sz="1400" b="0" strike="noStrike" spc="-1">
                <a:solidFill>
                  <a:srgbClr val="000000"/>
                </a:solidFill>
                <a:latin typeface="Tahoma"/>
              </a:rPr>
              <a:t>7 -&gt; </a:t>
            </a:r>
            <a:r>
              <a:rPr lang="ru-RU" sz="1400" b="0" strike="noStrike" spc="-1">
                <a:solidFill>
                  <a:srgbClr val="000000"/>
                </a:solidFill>
                <a:latin typeface="Tahoma"/>
              </a:rPr>
              <a:t>0</a:t>
            </a:r>
            <a:r>
              <a:rPr lang="en-US" sz="1400" b="0" strike="noStrike" spc="-1">
                <a:solidFill>
                  <a:srgbClr val="000000"/>
                </a:solidFill>
                <a:latin typeface="Tahoma"/>
              </a:rPr>
              <a:t>1500706070051</a:t>
            </a:r>
            <a:endParaRPr lang="en-US" sz="1400" b="0" strike="noStrike" spc="-1">
              <a:solidFill>
                <a:srgbClr val="000000"/>
              </a:solidFill>
              <a:latin typeface="Arial"/>
            </a:endParaRPr>
          </a:p>
        </p:txBody>
      </p:sp>
      <p:sp>
        <p:nvSpPr>
          <p:cNvPr id="772" name=""/>
          <p:cNvSpPr/>
          <p:nvPr/>
        </p:nvSpPr>
        <p:spPr bwMode="auto">
          <a:xfrm rot="5400000">
            <a:off x="6719400" y="4400640"/>
            <a:ext cx="360360" cy="576360"/>
          </a:xfrm>
          <a:custGeom>
            <a:avLst/>
            <a:gdLst>
              <a:gd name="textAreaLeft" fmla="*/ 56160 w 360360"/>
              <a:gd name="textAreaRight" fmla="*/ 315360 w 360360"/>
              <a:gd name="textAreaTop" fmla="*/ 144000 h 576360"/>
              <a:gd name="textAreaBottom" fmla="*/ 432360 h 576360"/>
            </a:gdLst>
            <a:ahLst/>
            <a:cxnLst/>
            <a:rect l="textAreaLeft" t="textAreaTop" r="textAreaRight" b="textAreaBottom"/>
            <a:pathLst>
              <a:path w="21600" h="21600" fill="norm" stroke="1" extrusionOk="0">
                <a:moveTo>
                  <a:pt x="3375" y="5400"/>
                </a:moveTo>
                <a:lnTo>
                  <a:pt x="16200" y="5400"/>
                </a:lnTo>
                <a:lnTo>
                  <a:pt x="16200" y="0"/>
                </a:lnTo>
                <a:lnTo>
                  <a:pt x="21600" y="10800"/>
                </a:lnTo>
                <a:lnTo>
                  <a:pt x="16200" y="21600"/>
                </a:lnTo>
                <a:lnTo>
                  <a:pt x="16200" y="16200"/>
                </a:lnTo>
                <a:lnTo>
                  <a:pt x="3375" y="16200"/>
                </a:lnTo>
                <a:close/>
              </a:path>
              <a:path w="21600" h="21600" fill="norm" stroke="1" extrusionOk="0">
                <a:moveTo>
                  <a:pt x="0" y="5400"/>
                </a:moveTo>
                <a:lnTo>
                  <a:pt x="675" y="5400"/>
                </a:lnTo>
                <a:lnTo>
                  <a:pt x="675" y="16200"/>
                </a:lnTo>
                <a:lnTo>
                  <a:pt x="0" y="16200"/>
                </a:lnTo>
                <a:close/>
              </a:path>
              <a:path w="21600" h="21600" fill="norm" stroke="1" extrusionOk="0">
                <a:moveTo>
                  <a:pt x="1350" y="5400"/>
                </a:moveTo>
                <a:lnTo>
                  <a:pt x="2700" y="5400"/>
                </a:lnTo>
                <a:lnTo>
                  <a:pt x="2700" y="16200"/>
                </a:lnTo>
                <a:lnTo>
                  <a:pt x="1350" y="16200"/>
                </a:lnTo>
                <a:close/>
              </a:path>
            </a:pathLst>
          </a:custGeom>
          <a:solidFill>
            <a:srgbClr val="CC0066"/>
          </a:solidFill>
          <a:ln w="9360">
            <a:solidFill>
              <a:srgbClr val="CC0066"/>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773"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Fourier descriptors</a:t>
            </a:r>
            <a:endParaRPr lang="en-US" sz="3600" b="0" strike="noStrike" spc="-1">
              <a:solidFill>
                <a:srgbClr val="000000"/>
              </a:solidFill>
              <a:latin typeface="Futura Bk"/>
            </a:endParaRPr>
          </a:p>
        </p:txBody>
      </p:sp>
      <p:sp>
        <p:nvSpPr>
          <p:cNvPr id="774" name=""/>
          <p:cNvSpPr/>
          <p:nvPr/>
        </p:nvSpPr>
        <p:spPr bwMode="auto">
          <a:xfrm>
            <a:off x="0" y="322416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75" name=""/>
          <p:cNvSpPr/>
          <p:nvPr/>
        </p:nvSpPr>
        <p:spPr bwMode="auto">
          <a:xfrm>
            <a:off x="0" y="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76" name=""/>
          <p:cNvSpPr/>
          <p:nvPr/>
        </p:nvSpPr>
        <p:spPr bwMode="auto">
          <a:xfrm>
            <a:off x="241200" y="1237680"/>
            <a:ext cx="4280040" cy="3682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800" b="0" strike="noStrike" spc="-1">
                <a:solidFill>
                  <a:srgbClr val="64B900"/>
                </a:solidFill>
                <a:latin typeface="Tahoma"/>
              </a:rPr>
              <a:t>1. </a:t>
            </a:r>
            <a:r>
              <a:rPr lang="en-US" sz="1800" b="0" strike="noStrike" spc="-1">
                <a:solidFill>
                  <a:srgbClr val="64B900"/>
                </a:solidFill>
                <a:latin typeface="Tahoma"/>
              </a:rPr>
              <a:t>Signature calculation</a:t>
            </a:r>
            <a:r>
              <a:rPr lang="ru-RU" sz="1800" b="0" strike="noStrike" spc="-1">
                <a:solidFill>
                  <a:srgbClr val="64B900"/>
                </a:solidFill>
                <a:latin typeface="Tahoma"/>
              </a:rPr>
              <a:t> (2</a:t>
            </a:r>
            <a:r>
              <a:rPr lang="en-US" sz="1800" b="0" strike="noStrike" spc="-1">
                <a:solidFill>
                  <a:srgbClr val="64B900"/>
                </a:solidFill>
                <a:latin typeface="Tahoma"/>
              </a:rPr>
              <a:t>D -&gt; 1D</a:t>
            </a:r>
            <a:r>
              <a:rPr lang="ru-RU" sz="1800" b="0" strike="noStrike" spc="-1">
                <a:solidFill>
                  <a:srgbClr val="64B900"/>
                </a:solidFill>
                <a:latin typeface="Tahoma"/>
              </a:rPr>
              <a:t>):</a:t>
            </a:r>
            <a:endParaRPr lang="en-US" sz="1800" b="0" strike="noStrike" spc="-1">
              <a:solidFill>
                <a:srgbClr val="000000"/>
              </a:solidFill>
              <a:latin typeface="Arial"/>
            </a:endParaRPr>
          </a:p>
        </p:txBody>
      </p:sp>
      <p:sp>
        <p:nvSpPr>
          <p:cNvPr id="777" name=""/>
          <p:cNvSpPr/>
          <p:nvPr/>
        </p:nvSpPr>
        <p:spPr bwMode="auto">
          <a:xfrm>
            <a:off x="684360" y="1628640"/>
            <a:ext cx="5040000" cy="1008360"/>
          </a:xfrm>
          <a:prstGeom prst="rect">
            <a:avLst/>
          </a:prstGeom>
          <a:noFill/>
          <a:ln w="0">
            <a:noFill/>
          </a:ln>
        </p:spPr>
        <p:style>
          <a:lnRef idx="0"/>
          <a:fillRef idx="0"/>
          <a:effectRef idx="0"/>
          <a:fontRef idx="minor"/>
        </p:style>
        <p:txBody>
          <a:bodyPr lIns="90000" tIns="46800" rIns="90000" bIns="46800" anchor="t">
            <a:normAutofit/>
          </a:bodyPr>
          <a:p>
            <a:pPr marL="228600" indent="-228600">
              <a:lnSpc>
                <a:spcPct val="90000"/>
              </a:lnSpc>
              <a:spcBef>
                <a:spcPts val="499"/>
              </a:spcBef>
              <a:spcAft>
                <a:spcPts val="400"/>
              </a:spcAft>
              <a:buClr>
                <a:srgbClr val="000000"/>
              </a:buClr>
              <a:buSzPct val="85000"/>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600" b="0" strike="noStrike" spc="-1">
                <a:solidFill>
                  <a:srgbClr val="000000"/>
                </a:solidFill>
                <a:latin typeface="Futura Bk"/>
                <a:ea typeface="Arial"/>
              </a:rPr>
              <a:t>Centroid – contour distance</a:t>
            </a:r>
            <a:endParaRPr lang="en-US" sz="1600" b="0" strike="noStrike" spc="-1">
              <a:solidFill>
                <a:srgbClr val="000000"/>
              </a:solidFill>
              <a:latin typeface="Arial"/>
            </a:endParaRPr>
          </a:p>
          <a:p>
            <a:pPr marL="228600" indent="-228600">
              <a:lnSpc>
                <a:spcPct val="90000"/>
              </a:lnSpc>
              <a:spcBef>
                <a:spcPts val="499"/>
              </a:spcBef>
              <a:spcAft>
                <a:spcPts val="400"/>
              </a:spcAft>
              <a:buClr>
                <a:srgbClr val="000000"/>
              </a:buClr>
              <a:buSzPct val="85000"/>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600" b="0" strike="noStrike" spc="-1">
                <a:solidFill>
                  <a:srgbClr val="000000"/>
                </a:solidFill>
                <a:latin typeface="Futura Bk"/>
                <a:ea typeface="Arial"/>
              </a:rPr>
              <a:t>Complex coordinates</a:t>
            </a:r>
            <a:r>
              <a:rPr lang="ru-RU" sz="1600" b="0" strike="noStrike" spc="-1">
                <a:solidFill>
                  <a:srgbClr val="000000"/>
                </a:solidFill>
                <a:latin typeface="Futura Bk"/>
                <a:ea typeface="Arial"/>
              </a:rPr>
              <a:t>: </a:t>
            </a:r>
            <a:r>
              <a:rPr lang="en-US" sz="1600" b="0" strike="noStrike" spc="-1">
                <a:solidFill>
                  <a:srgbClr val="000000"/>
                </a:solidFill>
                <a:latin typeface="Futura Bk"/>
                <a:ea typeface="Arial"/>
              </a:rPr>
              <a:t>z(t) = x(t) + iy(t)</a:t>
            </a:r>
            <a:endParaRPr lang="en-US" sz="1600" b="0" strike="noStrike" spc="-1">
              <a:solidFill>
                <a:srgbClr val="000000"/>
              </a:solidFill>
              <a:latin typeface="Arial"/>
            </a:endParaRPr>
          </a:p>
          <a:p>
            <a:pPr marL="228600" indent="-228600">
              <a:lnSpc>
                <a:spcPct val="90000"/>
              </a:lnSpc>
              <a:spcBef>
                <a:spcPts val="499"/>
              </a:spcBef>
              <a:spcAft>
                <a:spcPts val="400"/>
              </a:spcAft>
              <a:buClr>
                <a:srgbClr val="000000"/>
              </a:buClr>
              <a:buSzPct val="85000"/>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600" b="0" strike="noStrike" spc="-1">
                <a:solidFill>
                  <a:srgbClr val="000000"/>
                </a:solidFill>
                <a:latin typeface="Futura Bk"/>
                <a:ea typeface="Arial"/>
              </a:rPr>
              <a:t>...</a:t>
            </a:r>
            <a:endParaRPr lang="en-US" sz="1600" b="0" strike="noStrike" spc="-1">
              <a:solidFill>
                <a:srgbClr val="000000"/>
              </a:solidFill>
              <a:latin typeface="Arial"/>
            </a:endParaRPr>
          </a:p>
          <a:p>
            <a:pPr marL="228600" indent="-228600">
              <a:lnSpc>
                <a:spcPct val="90000"/>
              </a:lnSpc>
              <a:spcBef>
                <a:spcPts val="499"/>
              </a:spcBef>
              <a:spcAft>
                <a:spcPts val="400"/>
              </a:spcAft>
              <a:buClr>
                <a:srgbClr val="000000"/>
              </a:buClr>
              <a:buSzPct val="85000"/>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600" b="0" strike="noStrike" spc="-1">
              <a:solidFill>
                <a:srgbClr val="000000"/>
              </a:solidFill>
              <a:latin typeface="Arial"/>
            </a:endParaRPr>
          </a:p>
        </p:txBody>
      </p:sp>
      <p:sp>
        <p:nvSpPr>
          <p:cNvPr id="778" name=""/>
          <p:cNvSpPr/>
          <p:nvPr/>
        </p:nvSpPr>
        <p:spPr bwMode="auto">
          <a:xfrm>
            <a:off x="-27720" y="2687040"/>
            <a:ext cx="8983440" cy="3682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800" b="0" strike="noStrike" spc="-1">
                <a:solidFill>
                  <a:srgbClr val="64B900"/>
                </a:solidFill>
                <a:latin typeface="Tahoma"/>
              </a:rPr>
              <a:t>2. </a:t>
            </a:r>
            <a:r>
              <a:rPr lang="en-US" sz="1800" b="0" strike="noStrike" spc="-1">
                <a:solidFill>
                  <a:srgbClr val="64B900"/>
                </a:solidFill>
                <a:latin typeface="Tahoma"/>
              </a:rPr>
              <a:t>Perform the discrete Fourier transform, take coefficients </a:t>
            </a:r>
            <a:r>
              <a:rPr lang="ru-RU" sz="1800" b="0" strike="noStrike" spc="-1">
                <a:solidFill>
                  <a:srgbClr val="64B900"/>
                </a:solidFill>
                <a:latin typeface="Tahoma"/>
              </a:rPr>
              <a:t>(</a:t>
            </a:r>
            <a:r>
              <a:rPr lang="en-US" sz="1800" b="0" strike="noStrike" spc="-1">
                <a:solidFill>
                  <a:srgbClr val="64B900"/>
                </a:solidFill>
                <a:latin typeface="Tahoma"/>
              </a:rPr>
              <a:t>s(t) – signature</a:t>
            </a:r>
            <a:r>
              <a:rPr lang="ru-RU" sz="1800" b="0" strike="noStrike" spc="-1">
                <a:solidFill>
                  <a:srgbClr val="64B900"/>
                </a:solidFill>
                <a:latin typeface="Tahoma"/>
              </a:rPr>
              <a:t>):</a:t>
            </a:r>
            <a:endParaRPr lang="en-US" sz="1800" b="0" strike="noStrike" spc="-1">
              <a:solidFill>
                <a:srgbClr val="000000"/>
              </a:solidFill>
              <a:latin typeface="Arial"/>
            </a:endParaRPr>
          </a:p>
        </p:txBody>
      </p:sp>
      <p:sp>
        <p:nvSpPr>
          <p:cNvPr id="779" name=""/>
          <p:cNvSpPr/>
          <p:nvPr/>
        </p:nvSpPr>
        <p:spPr bwMode="auto">
          <a:xfrm>
            <a:off x="0" y="32338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80" name=""/>
          <p:cNvSpPr txBox="1"/>
          <p:nvPr/>
        </p:nvSpPr>
        <p:spPr bwMode="auto">
          <a:xfrm>
            <a:off x="828720" y="3182760"/>
            <a:ext cx="2158920" cy="69696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sSub>
                        <m:sSubPr>
                          <m:ctrlPr>
                            <a:rPr/>
                          </m:ctrlPr>
                        </m:sSubPr>
                        <m:e>
                          <m:r>
                            <m:rPr/>
                            <a:rPr/>
                            <m:t>u</m:t>
                          </m:r>
                        </m:e>
                        <m:sub>
                          <m:r>
                            <m:rPr/>
                            <a:rPr/>
                            <m:t>n</m:t>
                          </m:r>
                        </m:sub>
                      </m:sSub>
                      <m:r>
                        <m:rPr/>
                        <a:rPr/>
                        <m:t>=</m:t>
                      </m:r>
                      <m:f>
                        <m:fPr>
                          <m:ctrlPr>
                            <a:rPr/>
                          </m:ctrlPr>
                        </m:fPr>
                        <m:num>
                          <m:r>
                            <m:rPr/>
                            <a:rPr/>
                            <m:t>1</m:t>
                          </m:r>
                        </m:num>
                        <m:den>
                          <m:r>
                            <m:rPr/>
                            <a:rPr/>
                            <m:t>N</m:t>
                          </m:r>
                        </m:den>
                      </m:f>
                      <m:nary>
                        <m:naryPr>
                          <m:chr m:val="∑"/>
                          <m:grow m:val="off"/>
                          <m:ctrlPr>
                            <a:rPr/>
                          </m:ctrlPr>
                        </m:naryPr>
                        <m:sub>
                          <m:r>
                            <m:rPr/>
                            <a:rPr/>
                            <m:t>t</m:t>
                          </m:r>
                          <m:r>
                            <m:rPr/>
                            <a:rPr/>
                            <m:t>=</m:t>
                          </m:r>
                          <m:r>
                            <m:rPr/>
                            <a:rPr/>
                            <m:t>0</m:t>
                          </m:r>
                        </m:sub>
                        <m:sup>
                          <m:r>
                            <m:rPr/>
                            <a:rPr/>
                            <m:t>N</m:t>
                          </m:r>
                          <m:r>
                            <m:rPr/>
                            <a:rPr/>
                            <m:t>−</m:t>
                          </m:r>
                          <m:r>
                            <m:rPr/>
                            <a:rPr/>
                            <m:t>1</m:t>
                          </m:r>
                        </m:sup>
                        <m:e>
                          <m:r>
                            <m:rPr/>
                            <a:rPr/>
                            <m:t>s</m:t>
                          </m:r>
                          <m:r>
                            <m:rPr/>
                            <a:rPr/>
                            <m:t>(</m:t>
                          </m:r>
                          <m:r>
                            <m:rPr/>
                            <a:rPr/>
                            <m:t>t</m:t>
                          </m:r>
                          <m:r>
                            <m:rPr/>
                            <a:rPr/>
                            <m:t>)</m:t>
                          </m:r>
                          <m:sSup>
                            <m:sSupPr>
                              <m:ctrlPr>
                                <a:rPr/>
                              </m:ctrlPr>
                            </m:sSupPr>
                            <m:e>
                              <m:r>
                                <m:rPr/>
                                <a:rPr/>
                                <m:t>e</m:t>
                              </m:r>
                            </m:e>
                            <m:sup>
                              <m:r>
                                <m:rPr/>
                                <a:rPr/>
                                <m:t>−</m:t>
                              </m:r>
                              <m:r>
                                <m:rPr/>
                                <a:rPr/>
                                <m:t>j</m:t>
                              </m:r>
                              <m:r>
                                <m:rPr/>
                                <a:rPr/>
                                <m:t>2</m:t>
                              </m:r>
                              <m:r>
                                <m:rPr/>
                                <a:rPr/>
                                <m:t>π</m:t>
                              </m:r>
                              <m:f>
                                <m:fPr>
                                  <m:type m:val="lin"/>
                                  <m:ctrlPr>
                                    <a:rPr/>
                                  </m:ctrlPr>
                                </m:fPr>
                                <m:num>
                                  <m:r>
                                    <m:rPr>
                                      <m:lit m:val="on"/>
                                      <m:nor m:val="on"/>
                                    </m:rPr>
                                    <a:rPr/>
                                    <m:t>nt</m:t>
                                  </m:r>
                                </m:num>
                                <m:den>
                                  <m:r>
                                    <m:rPr/>
                                    <a:rPr/>
                                    <m:t>N</m:t>
                                  </m:r>
                                </m:den>
                              </m:f>
                            </m:sup>
                          </m:sSup>
                        </m:e>
                      </m:nary>
                    </m:oMath>
                  </m:oMathPara>
                </a14:m>
              </mc:Choice>
              <mc:Fallback/>
            </mc:AlternateContent>
            <a:endParaRPr/>
          </a:p>
        </p:txBody>
      </p:sp>
      <p:sp>
        <p:nvSpPr>
          <p:cNvPr id="781" name=""/>
          <p:cNvSpPr/>
          <p:nvPr/>
        </p:nvSpPr>
        <p:spPr bwMode="auto">
          <a:xfrm>
            <a:off x="0" y="32194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82" name=""/>
          <p:cNvSpPr txBox="1"/>
          <p:nvPr/>
        </p:nvSpPr>
        <p:spPr bwMode="auto">
          <a:xfrm>
            <a:off x="826920" y="4459320"/>
            <a:ext cx="1440000" cy="66672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f>
                        <m:fPr>
                          <m:ctrlPr>
                            <a:rPr/>
                          </m:ctrlPr>
                        </m:fPr>
                        <m:num>
                          <m:d>
                            <m:dPr>
                              <m:begChr m:val="|"/>
                              <m:endChr m:val="|"/>
                              <m:ctrlPr>
                                <a:rPr/>
                              </m:ctrlPr>
                            </m:dPr>
                            <m:e>
                              <m:sSub>
                                <m:sSubPr>
                                  <m:ctrlPr>
                                    <a:rPr/>
                                  </m:ctrlPr>
                                </m:sSubPr>
                                <m:e>
                                  <m:r>
                                    <m:rPr/>
                                    <a:rPr/>
                                    <m:t>u</m:t>
                                  </m:r>
                                </m:e>
                                <m:sub>
                                  <m:r>
                                    <m:rPr/>
                                    <a:rPr/>
                                    <m:t>1</m:t>
                                  </m:r>
                                </m:sub>
                              </m:sSub>
                            </m:e>
                          </m:d>
                        </m:num>
                        <m:den>
                          <m:d>
                            <m:dPr>
                              <m:begChr m:val="|"/>
                              <m:endChr m:val="|"/>
                              <m:ctrlPr>
                                <a:rPr/>
                              </m:ctrlPr>
                            </m:dPr>
                            <m:e>
                              <m:sSub>
                                <m:sSubPr>
                                  <m:ctrlPr>
                                    <a:rPr/>
                                  </m:ctrlPr>
                                </m:sSubPr>
                                <m:e>
                                  <m:r>
                                    <m:rPr/>
                                    <a:rPr/>
                                    <m:t>u</m:t>
                                  </m:r>
                                </m:e>
                                <m:sub>
                                  <m:r>
                                    <m:rPr/>
                                    <a:rPr/>
                                    <m:t>0</m:t>
                                  </m:r>
                                </m:sub>
                              </m:sSub>
                            </m:e>
                          </m:d>
                        </m:den>
                      </m:f>
                      <m:r>
                        <m:rPr/>
                        <a:rPr/>
                        <m:t>,</m:t>
                      </m:r>
                      <m:f>
                        <m:fPr>
                          <m:ctrlPr>
                            <a:rPr/>
                          </m:ctrlPr>
                        </m:fPr>
                        <m:num>
                          <m:d>
                            <m:dPr>
                              <m:begChr m:val="|"/>
                              <m:endChr m:val="|"/>
                              <m:ctrlPr>
                                <a:rPr/>
                              </m:ctrlPr>
                            </m:dPr>
                            <m:e>
                              <m:sSub>
                                <m:sSubPr>
                                  <m:ctrlPr>
                                    <a:rPr/>
                                  </m:ctrlPr>
                                </m:sSubPr>
                                <m:e>
                                  <m:r>
                                    <m:rPr/>
                                    <a:rPr/>
                                    <m:t>u</m:t>
                                  </m:r>
                                </m:e>
                                <m:sub>
                                  <m:r>
                                    <m:rPr/>
                                    <a:rPr/>
                                    <m:t>2</m:t>
                                  </m:r>
                                </m:sub>
                              </m:sSub>
                            </m:e>
                          </m:d>
                        </m:num>
                        <m:den>
                          <m:d>
                            <m:dPr>
                              <m:begChr m:val="|"/>
                              <m:endChr m:val="|"/>
                              <m:ctrlPr>
                                <a:rPr/>
                              </m:ctrlPr>
                            </m:dPr>
                            <m:e>
                              <m:sSub>
                                <m:sSubPr>
                                  <m:ctrlPr>
                                    <a:rPr/>
                                  </m:ctrlPr>
                                </m:sSubPr>
                                <m:e>
                                  <m:r>
                                    <m:rPr/>
                                    <a:rPr/>
                                    <m:t>u</m:t>
                                  </m:r>
                                </m:e>
                                <m:sub>
                                  <m:r>
                                    <m:rPr/>
                                    <a:rPr/>
                                    <m:t>0</m:t>
                                  </m:r>
                                </m:sub>
                              </m:sSub>
                            </m:e>
                          </m:d>
                        </m:den>
                      </m:f>
                      <m:r>
                        <m:rPr/>
                        <a:rPr/>
                        <m:t>,</m:t>
                      </m:r>
                      <m:r>
                        <m:rPr>
                          <m:lit m:val="on"/>
                          <m:nor m:val="on"/>
                        </m:rPr>
                        <a:rPr/>
                        <m:t>.</m:t>
                      </m:r>
                      <m:r>
                        <m:rPr>
                          <m:lit m:val="on"/>
                          <m:nor m:val="on"/>
                        </m:rPr>
                        <a:rPr/>
                        <m:t>.</m:t>
                      </m:r>
                      <m:r>
                        <m:rPr>
                          <m:lit m:val="on"/>
                          <m:nor m:val="on"/>
                        </m:rPr>
                        <a:rPr/>
                        <m:t>.</m:t>
                      </m:r>
                      <m:r>
                        <m:rPr/>
                        <a:rPr/>
                        <m:t>,</m:t>
                      </m:r>
                      <m:f>
                        <m:fPr>
                          <m:ctrlPr>
                            <a:rPr/>
                          </m:ctrlPr>
                        </m:fPr>
                        <m:num>
                          <m:d>
                            <m:dPr>
                              <m:begChr m:val="|"/>
                              <m:endChr m:val="|"/>
                              <m:ctrlPr>
                                <a:rPr/>
                              </m:ctrlPr>
                            </m:dPr>
                            <m:e>
                              <m:sSub>
                                <m:sSubPr>
                                  <m:ctrlPr>
                                    <a:rPr/>
                                  </m:ctrlPr>
                                </m:sSubPr>
                                <m:e>
                                  <m:r>
                                    <m:rPr/>
                                    <a:rPr/>
                                    <m:t>u</m:t>
                                  </m:r>
                                </m:e>
                                <m:sub>
                                  <m:r>
                                    <m:rPr/>
                                    <a:rPr/>
                                    <m:t>N</m:t>
                                  </m:r>
                                  <m:r>
                                    <m:rPr/>
                                    <a:rPr/>
                                    <m:t>−</m:t>
                                  </m:r>
                                  <m:r>
                                    <m:rPr/>
                                    <a:rPr/>
                                    <m:t>1</m:t>
                                  </m:r>
                                </m:sub>
                              </m:sSub>
                            </m:e>
                          </m:d>
                        </m:num>
                        <m:den>
                          <m:d>
                            <m:dPr>
                              <m:begChr m:val="|"/>
                              <m:endChr m:val="|"/>
                              <m:ctrlPr>
                                <a:rPr/>
                              </m:ctrlPr>
                            </m:dPr>
                            <m:e>
                              <m:sSub>
                                <m:sSubPr>
                                  <m:ctrlPr>
                                    <a:rPr/>
                                  </m:ctrlPr>
                                </m:sSubPr>
                                <m:e>
                                  <m:r>
                                    <m:rPr/>
                                    <a:rPr/>
                                    <m:t>u</m:t>
                                  </m:r>
                                </m:e>
                                <m:sub>
                                  <m:r>
                                    <m:rPr/>
                                    <a:rPr/>
                                    <m:t>0</m:t>
                                  </m:r>
                                </m:sub>
                              </m:sSub>
                            </m:e>
                          </m:d>
                        </m:den>
                      </m:f>
                    </m:oMath>
                  </m:oMathPara>
                </a14:m>
              </mc:Choice>
              <mc:Fallback/>
            </mc:AlternateContent>
            <a:endParaRPr/>
          </a:p>
        </p:txBody>
      </p:sp>
      <p:sp>
        <p:nvSpPr>
          <p:cNvPr id="783" name=""/>
          <p:cNvSpPr/>
          <p:nvPr/>
        </p:nvSpPr>
        <p:spPr bwMode="auto">
          <a:xfrm>
            <a:off x="102600" y="3911040"/>
            <a:ext cx="6688080" cy="3682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800" b="0" strike="noStrike" spc="-1">
                <a:solidFill>
                  <a:srgbClr val="64B900"/>
                </a:solidFill>
                <a:latin typeface="Tahoma"/>
              </a:rPr>
              <a:t>3. </a:t>
            </a:r>
            <a:r>
              <a:rPr lang="en-US" sz="1800" b="0" strike="noStrike" spc="-1">
                <a:solidFill>
                  <a:srgbClr val="64B900"/>
                </a:solidFill>
                <a:latin typeface="Tahoma"/>
              </a:rPr>
              <a:t>Normalization</a:t>
            </a:r>
            <a:r>
              <a:rPr lang="ru-RU" sz="1800" b="0" strike="noStrike" spc="-1">
                <a:solidFill>
                  <a:srgbClr val="64B900"/>
                </a:solidFill>
                <a:latin typeface="Tahoma"/>
              </a:rPr>
              <a:t> (</a:t>
            </a:r>
            <a:r>
              <a:rPr lang="en-US" sz="1800" b="0" strike="noStrike" spc="-1">
                <a:solidFill>
                  <a:srgbClr val="64B900"/>
                </a:solidFill>
                <a:latin typeface="Tahoma"/>
              </a:rPr>
              <a:t>NFD – Normalized Fourier Descriptors</a:t>
            </a:r>
            <a:r>
              <a:rPr lang="ru-RU" sz="1800" b="0" strike="noStrike" spc="-1">
                <a:solidFill>
                  <a:srgbClr val="64B900"/>
                </a:solidFill>
                <a:latin typeface="Tahoma"/>
              </a:rPr>
              <a:t>):</a:t>
            </a:r>
            <a:endParaRPr lang="en-US" sz="1800" b="0" strike="noStrike" spc="-1">
              <a:solidFill>
                <a:srgbClr val="000000"/>
              </a:solidFill>
              <a:latin typeface="Arial"/>
            </a:endParaRPr>
          </a:p>
        </p:txBody>
      </p:sp>
      <p:sp>
        <p:nvSpPr>
          <p:cNvPr id="784" name=""/>
          <p:cNvSpPr/>
          <p:nvPr/>
        </p:nvSpPr>
        <p:spPr bwMode="auto">
          <a:xfrm>
            <a:off x="0" y="322416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85" name=""/>
          <p:cNvSpPr txBox="1"/>
          <p:nvPr/>
        </p:nvSpPr>
        <p:spPr bwMode="auto">
          <a:xfrm>
            <a:off x="828720" y="5581800"/>
            <a:ext cx="1942920" cy="72684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r>
                        <m:rPr/>
                        <a:rPr/>
                        <m:t>d</m:t>
                      </m:r>
                      <m:r>
                        <m:rPr/>
                        <a:rPr/>
                        <m:t>=</m:t>
                      </m:r>
                      <m:r>
                        <m:rPr/>
                        <a:rPr/>
                        <m:t>(</m:t>
                      </m:r>
                      <m:nary>
                        <m:naryPr>
                          <m:chr m:val="∑"/>
                          <m:grow m:val="off"/>
                          <m:ctrlPr>
                            <a:rPr/>
                          </m:ctrlPr>
                        </m:naryPr>
                        <m:sub>
                          <m:r>
                            <m:rPr/>
                            <a:rPr/>
                            <m:t>n</m:t>
                          </m:r>
                          <m:r>
                            <m:rPr/>
                            <a:rPr/>
                            <m:t>=</m:t>
                          </m:r>
                          <m:r>
                            <m:rPr/>
                            <a:rPr/>
                            <m:t>0</m:t>
                          </m:r>
                        </m:sub>
                        <m:sup>
                          <m:sSub>
                            <m:sSubPr>
                              <m:ctrlPr>
                                <a:rPr/>
                              </m:ctrlPr>
                            </m:sSubPr>
                            <m:e>
                              <m:r>
                                <m:rPr/>
                                <a:rPr/>
                                <m:t>N</m:t>
                              </m:r>
                            </m:e>
                            <m:sub>
                              <m:r>
                                <m:rPr/>
                                <a:rPr/>
                                <m:t>c</m:t>
                              </m:r>
                            </m:sub>
                          </m:sSub>
                        </m:sup>
                        <m:e>
                          <m:sSup>
                            <m:sSupPr>
                              <m:ctrlPr>
                                <a:rPr/>
                              </m:ctrlPr>
                            </m:sSupPr>
                            <m:e>
                              <m:d>
                                <m:dPr>
                                  <m:begChr m:val="|"/>
                                  <m:endChr m:val="|"/>
                                  <m:ctrlPr>
                                    <a:rPr/>
                                  </m:ctrlPr>
                                </m:dPr>
                                <m:e>
                                  <m:sSubSup>
                                    <m:sSubSupPr>
                                      <m:alnScr m:val="off"/>
                                      <m:ctrlPr>
                                        <a:rPr/>
                                      </m:ctrlPr>
                                    </m:sSubSupPr>
                                    <m:e>
                                      <m:r>
                                        <m:rPr/>
                                        <a:rPr/>
                                        <m:t>f</m:t>
                                      </m:r>
                                    </m:e>
                                    <m:sub>
                                      <m:r>
                                        <m:rPr/>
                                        <a:rPr/>
                                        <m:t>I</m:t>
                                      </m:r>
                                    </m:sub>
                                    <m:sup>
                                      <m:r>
                                        <m:rPr/>
                                        <a:rPr/>
                                        <m:t>n</m:t>
                                      </m:r>
                                    </m:sup>
                                  </m:sSubSup>
                                  <m:r>
                                    <m:rPr/>
                                    <a:rPr/>
                                    <m:t>−</m:t>
                                  </m:r>
                                  <m:sSubSup>
                                    <m:sSubSupPr>
                                      <m:alnScr m:val="off"/>
                                      <m:ctrlPr>
                                        <a:rPr/>
                                      </m:ctrlPr>
                                    </m:sSubSupPr>
                                    <m:e>
                                      <m:r>
                                        <m:rPr/>
                                        <a:rPr/>
                                        <m:t>f</m:t>
                                      </m:r>
                                    </m:e>
                                    <m:sub>
                                      <m:r>
                                        <m:rPr/>
                                        <a:rPr/>
                                        <m:t>J</m:t>
                                      </m:r>
                                    </m:sub>
                                    <m:sup>
                                      <m:r>
                                        <m:rPr/>
                                        <a:rPr/>
                                        <m:t>n</m:t>
                                      </m:r>
                                    </m:sup>
                                  </m:sSubSup>
                                </m:e>
                              </m:d>
                            </m:e>
                            <m:sup>
                              <m:r>
                                <m:rPr/>
                                <a:rPr/>
                                <m:t>2</m:t>
                              </m:r>
                            </m:sup>
                          </m:sSup>
                        </m:e>
                      </m:nary>
                      <m:sSup>
                        <m:sSupPr>
                          <m:ctrlPr>
                            <a:rPr/>
                          </m:ctrlPr>
                        </m:sSupPr>
                        <m:e>
                          <m:r>
                            <m:rPr/>
                            <a:rPr/>
                            <m:t>)</m:t>
                          </m:r>
                        </m:e>
                        <m:sup>
                          <m:f>
                            <m:fPr>
                              <m:ctrlPr>
                                <a:rPr/>
                              </m:ctrlPr>
                            </m:fPr>
                            <m:num>
                              <m:r>
                                <m:rPr/>
                                <a:rPr/>
                                <m:t>1</m:t>
                              </m:r>
                            </m:num>
                            <m:den>
                              <m:r>
                                <m:rPr/>
                                <a:rPr/>
                                <m:t>2</m:t>
                              </m:r>
                            </m:den>
                          </m:f>
                        </m:sup>
                      </m:sSup>
                    </m:oMath>
                  </m:oMathPara>
                </a14:m>
              </mc:Choice>
              <mc:Fallback/>
            </mc:AlternateContent>
            <a:endParaRPr/>
          </a:p>
        </p:txBody>
      </p:sp>
      <p:sp>
        <p:nvSpPr>
          <p:cNvPr id="786" name=""/>
          <p:cNvSpPr/>
          <p:nvPr/>
        </p:nvSpPr>
        <p:spPr bwMode="auto">
          <a:xfrm>
            <a:off x="370439" y="5279400"/>
            <a:ext cx="1915200" cy="3682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64B900"/>
                </a:solidFill>
                <a:latin typeface="Tahoma"/>
              </a:rPr>
              <a:t>4</a:t>
            </a:r>
            <a:r>
              <a:rPr lang="ru-RU" sz="1800" b="0" strike="noStrike" spc="-1">
                <a:solidFill>
                  <a:srgbClr val="64B900"/>
                </a:solidFill>
                <a:latin typeface="Tahoma"/>
              </a:rPr>
              <a:t>. </a:t>
            </a:r>
            <a:r>
              <a:rPr lang="en-US" sz="1800" b="0" strike="noStrike" spc="-1">
                <a:solidFill>
                  <a:srgbClr val="64B900"/>
                </a:solidFill>
                <a:latin typeface="Tahoma"/>
              </a:rPr>
              <a:t>Comparison</a:t>
            </a:r>
            <a:r>
              <a:rPr lang="ru-RU" sz="1800" b="0" strike="noStrike" spc="-1">
                <a:solidFill>
                  <a:srgbClr val="64B900"/>
                </a:solidFill>
                <a:latin typeface="Tahoma"/>
              </a:rPr>
              <a:t>:</a:t>
            </a:r>
            <a:endParaRPr lang="en-US" sz="18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787"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Region-based features</a:t>
            </a:r>
            <a:endParaRPr lang="en-US" sz="3600" b="0" strike="noStrike" spc="-1">
              <a:solidFill>
                <a:srgbClr val="000000"/>
              </a:solidFill>
              <a:latin typeface="Futura Bk"/>
            </a:endParaRPr>
          </a:p>
        </p:txBody>
      </p:sp>
      <p:sp>
        <p:nvSpPr>
          <p:cNvPr id="788" name=""/>
          <p:cNvSpPr/>
          <p:nvPr/>
        </p:nvSpPr>
        <p:spPr bwMode="auto">
          <a:xfrm>
            <a:off x="0" y="28144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89" name=""/>
          <p:cNvSpPr/>
          <p:nvPr/>
        </p:nvSpPr>
        <p:spPr bwMode="auto">
          <a:xfrm>
            <a:off x="0" y="275760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92" name=""/>
          <p:cNvSpPr/>
          <p:nvPr/>
        </p:nvSpPr>
        <p:spPr bwMode="auto">
          <a:xfrm>
            <a:off x="6804000" y="4005360"/>
            <a:ext cx="1366920" cy="287280"/>
          </a:xfrm>
          <a:prstGeom prst="ellipse">
            <a:avLst/>
          </a:prstGeom>
          <a:noFill/>
          <a:ln w="19080">
            <a:solidFill>
              <a:srgbClr val="CC0066"/>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793" name=""/>
          <p:cNvSpPr/>
          <p:nvPr/>
        </p:nvSpPr>
        <p:spPr bwMode="auto">
          <a:xfrm>
            <a:off x="6804000" y="3357720"/>
            <a:ext cx="1366920" cy="287280"/>
          </a:xfrm>
          <a:prstGeom prst="ellipse">
            <a:avLst/>
          </a:prstGeom>
          <a:noFill/>
          <a:ln w="19080">
            <a:solidFill>
              <a:srgbClr val="CC0066"/>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794"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Grid-method</a:t>
            </a:r>
            <a:endParaRPr lang="en-US" sz="3600" b="0" strike="noStrike" spc="-1">
              <a:solidFill>
                <a:srgbClr val="000000"/>
              </a:solidFill>
              <a:latin typeface="Futura Bk"/>
            </a:endParaRPr>
          </a:p>
        </p:txBody>
      </p:sp>
      <p:sp>
        <p:nvSpPr>
          <p:cNvPr id="795" name=""/>
          <p:cNvSpPr/>
          <p:nvPr/>
        </p:nvSpPr>
        <p:spPr bwMode="auto">
          <a:xfrm>
            <a:off x="0" y="322416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96" name=""/>
          <p:cNvSpPr/>
          <p:nvPr/>
        </p:nvSpPr>
        <p:spPr bwMode="auto">
          <a:xfrm>
            <a:off x="0" y="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97" name=""/>
          <p:cNvSpPr/>
          <p:nvPr/>
        </p:nvSpPr>
        <p:spPr bwMode="auto">
          <a:xfrm>
            <a:off x="0" y="32338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798" name=""/>
          <p:cNvSpPr/>
          <p:nvPr/>
        </p:nvSpPr>
        <p:spPr bwMode="auto">
          <a:xfrm>
            <a:off x="0" y="32194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pic>
        <p:nvPicPr>
          <p:cNvPr id="799" name="" descr=""/>
          <p:cNvPicPr/>
          <p:nvPr/>
        </p:nvPicPr>
        <p:blipFill>
          <a:blip r:embed="rId2"/>
          <a:stretch/>
        </p:blipFill>
        <p:spPr bwMode="auto">
          <a:xfrm>
            <a:off x="755640" y="1341360"/>
            <a:ext cx="1703520" cy="1160640"/>
          </a:xfrm>
          <a:prstGeom prst="rect">
            <a:avLst/>
          </a:prstGeom>
          <a:ln w="0">
            <a:noFill/>
          </a:ln>
        </p:spPr>
      </p:pic>
      <p:pic>
        <p:nvPicPr>
          <p:cNvPr id="800" name="" descr=""/>
          <p:cNvPicPr/>
          <p:nvPr/>
        </p:nvPicPr>
        <p:blipFill>
          <a:blip r:embed="rId3"/>
          <a:stretch/>
        </p:blipFill>
        <p:spPr bwMode="auto">
          <a:xfrm>
            <a:off x="755640" y="2529000"/>
            <a:ext cx="1655640" cy="1116000"/>
          </a:xfrm>
          <a:prstGeom prst="rect">
            <a:avLst/>
          </a:prstGeom>
          <a:ln w="0">
            <a:noFill/>
          </a:ln>
        </p:spPr>
      </p:pic>
      <p:pic>
        <p:nvPicPr>
          <p:cNvPr id="801" name="" descr=""/>
          <p:cNvPicPr/>
          <p:nvPr/>
        </p:nvPicPr>
        <p:blipFill>
          <a:blip r:embed="rId4"/>
          <a:stretch/>
        </p:blipFill>
        <p:spPr bwMode="auto">
          <a:xfrm>
            <a:off x="3708360" y="4292640"/>
            <a:ext cx="2430360" cy="1333440"/>
          </a:xfrm>
          <a:prstGeom prst="rect">
            <a:avLst/>
          </a:prstGeom>
          <a:ln w="0">
            <a:noFill/>
          </a:ln>
        </p:spPr>
      </p:pic>
      <p:sp>
        <p:nvSpPr>
          <p:cNvPr id="802" name=""/>
          <p:cNvSpPr/>
          <p:nvPr/>
        </p:nvSpPr>
        <p:spPr bwMode="auto">
          <a:xfrm>
            <a:off x="2142360" y="1395720"/>
            <a:ext cx="6997680" cy="307439"/>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400" b="0" strike="noStrike" spc="-1">
                <a:solidFill>
                  <a:srgbClr val="000000"/>
                </a:solidFill>
                <a:latin typeface="Tahoma"/>
              </a:rPr>
              <a:t>А: </a:t>
            </a:r>
            <a:r>
              <a:rPr lang="en-US" sz="1400" b="0" strike="noStrike" spc="-1">
                <a:solidFill>
                  <a:srgbClr val="000000"/>
                </a:solidFill>
                <a:latin typeface="Tahoma"/>
              </a:rPr>
              <a:t>001111000 011111111 111111111 111111111 111110111 0111000011</a:t>
            </a:r>
            <a:r>
              <a:rPr lang="ru-RU" sz="1400" b="0" strike="noStrike" spc="-1">
                <a:solidFill>
                  <a:srgbClr val="000000"/>
                </a:solidFill>
                <a:latin typeface="Tahoma"/>
              </a:rPr>
              <a:t> </a:t>
            </a:r>
            <a:endParaRPr lang="en-US" sz="1400" b="0" strike="noStrike" spc="-1">
              <a:solidFill>
                <a:srgbClr val="000000"/>
              </a:solidFill>
              <a:latin typeface="Arial"/>
            </a:endParaRPr>
          </a:p>
        </p:txBody>
      </p:sp>
      <p:sp>
        <p:nvSpPr>
          <p:cNvPr id="803" name=""/>
          <p:cNvSpPr/>
          <p:nvPr/>
        </p:nvSpPr>
        <p:spPr bwMode="auto">
          <a:xfrm>
            <a:off x="2151000" y="2546640"/>
            <a:ext cx="6826680" cy="307439"/>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400" b="0" strike="noStrike" spc="-1">
                <a:solidFill>
                  <a:srgbClr val="000000"/>
                </a:solidFill>
                <a:latin typeface="Tahoma"/>
              </a:rPr>
              <a:t>Б: </a:t>
            </a:r>
            <a:r>
              <a:rPr lang="en-US" sz="1400" b="0" strike="noStrike" spc="-1">
                <a:solidFill>
                  <a:srgbClr val="000000"/>
                </a:solidFill>
                <a:latin typeface="Tahoma"/>
              </a:rPr>
              <a:t>001100000 011100000 111100000 111101111 111111110 001111000</a:t>
            </a:r>
            <a:endParaRPr lang="en-US" sz="1400" b="0" strike="noStrike" spc="-1">
              <a:solidFill>
                <a:srgbClr val="000000"/>
              </a:solidFill>
              <a:latin typeface="Arial"/>
            </a:endParaRPr>
          </a:p>
        </p:txBody>
      </p:sp>
      <p:sp>
        <p:nvSpPr>
          <p:cNvPr id="804" name=""/>
          <p:cNvSpPr/>
          <p:nvPr/>
        </p:nvSpPr>
        <p:spPr bwMode="auto">
          <a:xfrm>
            <a:off x="462240" y="1340280"/>
            <a:ext cx="302760" cy="307439"/>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400" b="0" strike="noStrike" spc="-1">
                <a:solidFill>
                  <a:srgbClr val="000000"/>
                </a:solidFill>
                <a:latin typeface="Tahoma"/>
              </a:rPr>
              <a:t>А</a:t>
            </a:r>
            <a:endParaRPr lang="en-US" sz="1400" b="0" strike="noStrike" spc="-1">
              <a:solidFill>
                <a:srgbClr val="000000"/>
              </a:solidFill>
              <a:latin typeface="Arial"/>
            </a:endParaRPr>
          </a:p>
        </p:txBody>
      </p:sp>
      <p:sp>
        <p:nvSpPr>
          <p:cNvPr id="805" name=""/>
          <p:cNvSpPr/>
          <p:nvPr/>
        </p:nvSpPr>
        <p:spPr bwMode="auto">
          <a:xfrm>
            <a:off x="461520" y="2527560"/>
            <a:ext cx="302760" cy="307439"/>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400" b="0" strike="noStrike" spc="-1">
                <a:solidFill>
                  <a:srgbClr val="000000"/>
                </a:solidFill>
                <a:latin typeface="Tahoma"/>
              </a:rPr>
              <a:t>Б</a:t>
            </a:r>
            <a:endParaRPr lang="en-US" sz="1400" b="0" strike="noStrike" spc="-1">
              <a:solidFill>
                <a:srgbClr val="000000"/>
              </a:solidFill>
              <a:latin typeface="Arial"/>
            </a:endParaRPr>
          </a:p>
        </p:txBody>
      </p:sp>
      <p:sp>
        <p:nvSpPr>
          <p:cNvPr id="806" name=""/>
          <p:cNvSpPr/>
          <p:nvPr/>
        </p:nvSpPr>
        <p:spPr bwMode="auto">
          <a:xfrm>
            <a:off x="485640" y="3940920"/>
            <a:ext cx="1453320" cy="3682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64B900"/>
                </a:solidFill>
                <a:latin typeface="Futura Bk"/>
              </a:rPr>
              <a:t>Invariance:</a:t>
            </a:r>
            <a:endParaRPr lang="en-US" sz="1800" b="0" strike="noStrike" spc="-1">
              <a:solidFill>
                <a:srgbClr val="000000"/>
              </a:solidFill>
              <a:latin typeface="Arial"/>
            </a:endParaRPr>
          </a:p>
        </p:txBody>
      </p:sp>
      <p:sp>
        <p:nvSpPr>
          <p:cNvPr id="807" name=""/>
          <p:cNvSpPr/>
          <p:nvPr/>
        </p:nvSpPr>
        <p:spPr bwMode="auto">
          <a:xfrm>
            <a:off x="611280" y="4195080"/>
            <a:ext cx="2881080" cy="1414080"/>
          </a:xfrm>
          <a:prstGeom prst="rect">
            <a:avLst/>
          </a:prstGeom>
          <a:noFill/>
          <a:ln w="0">
            <a:noFill/>
          </a:ln>
        </p:spPr>
        <p:style>
          <a:lnRef idx="0"/>
          <a:fillRef idx="0"/>
          <a:effectRef idx="0"/>
          <a:fontRef idx="minor"/>
        </p:style>
        <p:txBody>
          <a:bodyPr lIns="90000" tIns="46800" rIns="90000" bIns="46800" anchor="ctr">
            <a:spAutoFit/>
          </a:bodyPr>
          <a:p>
            <a:pPr>
              <a:lnSpc>
                <a:spcPct val="100000"/>
              </a:lnSpc>
              <a:spcAft>
                <a:spcPts val="799"/>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600" b="0" strike="noStrike" spc="-1">
                <a:solidFill>
                  <a:srgbClr val="000000"/>
                </a:solidFill>
                <a:latin typeface="Futura Bk"/>
              </a:rPr>
              <a:t>Normalization by major axe</a:t>
            </a:r>
            <a:r>
              <a:rPr lang="ru-RU" sz="1600" b="0" strike="noStrike" spc="-1">
                <a:solidFill>
                  <a:srgbClr val="000000"/>
                </a:solidFill>
                <a:latin typeface="Futura Bk"/>
              </a:rPr>
              <a:t>:</a:t>
            </a:r>
            <a:endParaRPr lang="en-US" sz="1600" b="0" strike="noStrike" spc="-1">
              <a:solidFill>
                <a:srgbClr val="000000"/>
              </a:solidFill>
              <a:latin typeface="Arial"/>
            </a:endParaRPr>
          </a:p>
          <a:p>
            <a:pPr>
              <a:lnSpc>
                <a:spcPct val="100000"/>
              </a:lnSpc>
              <a:buClr>
                <a:srgbClr val="000000"/>
              </a:buClr>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600" b="0" strike="noStrike" spc="-1">
                <a:solidFill>
                  <a:srgbClr val="000000"/>
                </a:solidFill>
                <a:latin typeface="Futura Bk"/>
              </a:rPr>
              <a:t> </a:t>
            </a:r>
            <a:r>
              <a:rPr lang="en-US" sz="1600" b="0" strike="noStrike" spc="-1">
                <a:solidFill>
                  <a:srgbClr val="000000"/>
                </a:solidFill>
                <a:latin typeface="Futura Bk"/>
              </a:rPr>
              <a:t>direction</a:t>
            </a:r>
            <a:r>
              <a:rPr lang="ru-RU" sz="1600" b="0" strike="noStrike" spc="-1">
                <a:solidFill>
                  <a:srgbClr val="000000"/>
                </a:solidFill>
                <a:latin typeface="Futura Bk"/>
              </a:rPr>
              <a:t>;</a:t>
            </a:r>
            <a:endParaRPr lang="en-US" sz="1600" b="0" strike="noStrike" spc="-1">
              <a:solidFill>
                <a:srgbClr val="000000"/>
              </a:solidFill>
              <a:latin typeface="Arial"/>
            </a:endParaRPr>
          </a:p>
          <a:p>
            <a:pPr>
              <a:lnSpc>
                <a:spcPct val="100000"/>
              </a:lnSpc>
              <a:buClr>
                <a:srgbClr val="000000"/>
              </a:buClr>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600" b="0" strike="noStrike" spc="-1">
                <a:solidFill>
                  <a:srgbClr val="000000"/>
                </a:solidFill>
                <a:latin typeface="Futura Bk"/>
              </a:rPr>
              <a:t> </a:t>
            </a:r>
            <a:r>
              <a:rPr lang="en-US" sz="1600" b="0" strike="noStrike" spc="-1">
                <a:solidFill>
                  <a:srgbClr val="000000"/>
                </a:solidFill>
                <a:latin typeface="Futura Bk"/>
              </a:rPr>
              <a:t>scale</a:t>
            </a:r>
            <a:r>
              <a:rPr lang="ru-RU" sz="1600" b="0" strike="noStrike" spc="-1">
                <a:solidFill>
                  <a:srgbClr val="000000"/>
                </a:solidFill>
                <a:latin typeface="Futura Bk"/>
              </a:rPr>
              <a:t>;</a:t>
            </a:r>
            <a:endParaRPr lang="en-US" sz="1600" b="0" strike="noStrike" spc="-1">
              <a:solidFill>
                <a:srgbClr val="000000"/>
              </a:solidFill>
              <a:latin typeface="Arial"/>
            </a:endParaRPr>
          </a:p>
          <a:p>
            <a:pPr>
              <a:lnSpc>
                <a:spcPct val="100000"/>
              </a:lnSpc>
              <a:buClr>
                <a:srgbClr val="000000"/>
              </a:buClr>
              <a:buFont typeface="Wingdings"/>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600" b="0" strike="noStrike" spc="-1">
                <a:solidFill>
                  <a:srgbClr val="000000"/>
                </a:solidFill>
                <a:latin typeface="Futura Bk"/>
              </a:rPr>
              <a:t> </a:t>
            </a:r>
            <a:r>
              <a:rPr lang="en-US" sz="1600" b="0" strike="noStrike" spc="-1">
                <a:solidFill>
                  <a:srgbClr val="000000"/>
                </a:solidFill>
                <a:latin typeface="Futura Bk"/>
              </a:rPr>
              <a:t>position</a:t>
            </a:r>
            <a:r>
              <a:rPr lang="ru-RU" sz="1600" b="0" strike="noStrike" spc="-1">
                <a:solidFill>
                  <a:srgbClr val="000000"/>
                </a:solidFill>
                <a:latin typeface="Futura Bk"/>
              </a:rPr>
              <a:t>.</a:t>
            </a:r>
            <a:endParaRPr lang="en-US" sz="16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808"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Moment invariants</a:t>
            </a:r>
            <a:endParaRPr lang="en-US" sz="3600" b="0" strike="noStrike" spc="-1">
              <a:solidFill>
                <a:srgbClr val="000000"/>
              </a:solidFill>
              <a:latin typeface="Futura Bk"/>
            </a:endParaRPr>
          </a:p>
        </p:txBody>
      </p:sp>
      <p:sp>
        <p:nvSpPr>
          <p:cNvPr id="809" name=""/>
          <p:cNvSpPr txBox="1"/>
          <p:nvPr/>
        </p:nvSpPr>
        <p:spPr bwMode="auto">
          <a:xfrm>
            <a:off x="771480" y="1768320"/>
            <a:ext cx="3186000" cy="623879"/>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sSub>
                        <m:sSubPr>
                          <m:ctrlPr>
                            <a:rPr/>
                          </m:ctrlPr>
                        </m:sSubPr>
                        <m:e>
                          <m:r>
                            <m:rPr/>
                            <a:rPr/>
                            <m:t>m</m:t>
                          </m:r>
                        </m:e>
                        <m:sub>
                          <m:r>
                            <m:rPr>
                              <m:lit m:val="on"/>
                              <m:nor m:val="on"/>
                            </m:rPr>
                            <a:rPr/>
                            <m:t>pq</m:t>
                          </m:r>
                        </m:sub>
                      </m:sSub>
                      <m:r>
                        <m:rPr/>
                        <a:rPr/>
                        <m:t>=</m:t>
                      </m:r>
                      <m:nary>
                        <m:naryPr>
                          <m:chr m:val="∬"/>
                          <m:grow m:val="off"/>
                          <m:subHide m:val="on"/>
                          <m:supHide m:val="on"/>
                          <m:ctrlPr>
                            <a:rPr/>
                          </m:ctrlPr>
                        </m:naryPr>
                        <m:sub/>
                        <m:sup/>
                        <m:e>
                          <m:sSup>
                            <m:sSupPr>
                              <m:ctrlPr>
                                <a:rPr/>
                              </m:ctrlPr>
                            </m:sSupPr>
                            <m:e>
                              <m:r>
                                <m:rPr/>
                                <a:rPr/>
                                <m:t>x</m:t>
                              </m:r>
                            </m:e>
                            <m:sup>
                              <m:r>
                                <m:rPr/>
                                <a:rPr/>
                                <m:t>p</m:t>
                              </m:r>
                            </m:sup>
                          </m:sSup>
                          <m:sSup>
                            <m:sSupPr>
                              <m:ctrlPr>
                                <a:rPr/>
                              </m:ctrlPr>
                            </m:sSupPr>
                            <m:e>
                              <m:r>
                                <m:rPr/>
                                <a:rPr/>
                                <m:t>y</m:t>
                              </m:r>
                            </m:e>
                            <m:sup>
                              <m:r>
                                <m:rPr/>
                                <a:rPr/>
                                <m:t>q</m:t>
                              </m:r>
                            </m:sup>
                          </m:sSup>
                          <m:r>
                            <m:rPr/>
                            <a:rPr/>
                            <m:t>f</m:t>
                          </m:r>
                          <m:r>
                            <m:rPr/>
                            <a:rPr/>
                            <m:t>(</m:t>
                          </m:r>
                          <m:r>
                            <m:rPr/>
                            <a:rPr/>
                            <m:t>x</m:t>
                          </m:r>
                          <m:r>
                            <m:rPr/>
                            <a:rPr/>
                            <m:t>,</m:t>
                          </m:r>
                          <m:r>
                            <m:rPr/>
                            <a:rPr/>
                            <m:t>y</m:t>
                          </m:r>
                          <m:r>
                            <m:rPr/>
                            <a:rPr/>
                            <m:t>)</m:t>
                          </m:r>
                          <m:r>
                            <m:rPr>
                              <m:lit m:val="on"/>
                              <m:nor m:val="on"/>
                            </m:rPr>
                            <a:rPr/>
                            <m:t>dxdy</m:t>
                          </m:r>
                        </m:e>
                      </m:nary>
                    </m:oMath>
                  </m:oMathPara>
                </a14:m>
              </mc:Choice>
              <mc:Fallback/>
            </mc:AlternateContent>
            <a:endParaRPr/>
          </a:p>
        </p:txBody>
      </p:sp>
      <p:sp>
        <p:nvSpPr>
          <p:cNvPr id="810" name=""/>
          <p:cNvSpPr/>
          <p:nvPr/>
        </p:nvSpPr>
        <p:spPr bwMode="auto">
          <a:xfrm>
            <a:off x="0" y="322416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811" name=""/>
          <p:cNvSpPr/>
          <p:nvPr/>
        </p:nvSpPr>
        <p:spPr bwMode="auto">
          <a:xfrm>
            <a:off x="0" y="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812" name=""/>
          <p:cNvSpPr/>
          <p:nvPr/>
        </p:nvSpPr>
        <p:spPr bwMode="auto">
          <a:xfrm>
            <a:off x="0" y="32338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813" name=""/>
          <p:cNvSpPr/>
          <p:nvPr/>
        </p:nvSpPr>
        <p:spPr bwMode="auto">
          <a:xfrm>
            <a:off x="0" y="32194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814" name=""/>
          <p:cNvSpPr/>
          <p:nvPr/>
        </p:nvSpPr>
        <p:spPr bwMode="auto">
          <a:xfrm>
            <a:off x="-213120" y="1340640"/>
            <a:ext cx="8116560" cy="3682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64B900"/>
                </a:solidFill>
                <a:latin typeface="Futura Bk"/>
              </a:rPr>
              <a:t>The moment of order</a:t>
            </a:r>
            <a:r>
              <a:rPr lang="ru-RU" sz="1800" b="0" strike="noStrike" spc="-1">
                <a:solidFill>
                  <a:srgbClr val="64B900"/>
                </a:solidFill>
                <a:latin typeface="Futura Bk"/>
              </a:rPr>
              <a:t> (</a:t>
            </a:r>
            <a:r>
              <a:rPr lang="en-US" sz="1800" b="0" strike="noStrike" spc="-1">
                <a:solidFill>
                  <a:srgbClr val="64B900"/>
                </a:solidFill>
                <a:latin typeface="Futura Bk"/>
              </a:rPr>
              <a:t>p+q</a:t>
            </a:r>
            <a:r>
              <a:rPr lang="ru-RU" sz="1800" b="0" strike="noStrike" spc="-1">
                <a:solidFill>
                  <a:srgbClr val="64B900"/>
                </a:solidFill>
                <a:latin typeface="Futura Bk"/>
              </a:rPr>
              <a:t>) </a:t>
            </a:r>
            <a:r>
              <a:rPr lang="en-US" sz="1800" b="0" strike="noStrike" spc="-1">
                <a:solidFill>
                  <a:srgbClr val="64B900"/>
                </a:solidFill>
                <a:latin typeface="Futura Bk"/>
              </a:rPr>
              <a:t>for a two-dimension continuous function</a:t>
            </a:r>
            <a:r>
              <a:rPr lang="ru-RU" sz="1800" b="0" strike="noStrike" spc="-1">
                <a:solidFill>
                  <a:srgbClr val="64B900"/>
                </a:solidFill>
                <a:latin typeface="Futura Bk"/>
              </a:rPr>
              <a:t>:</a:t>
            </a:r>
            <a:endParaRPr lang="en-US" sz="1800" b="0" strike="noStrike" spc="-1">
              <a:solidFill>
                <a:srgbClr val="000000"/>
              </a:solidFill>
              <a:latin typeface="Arial"/>
            </a:endParaRPr>
          </a:p>
        </p:txBody>
      </p:sp>
      <p:sp>
        <p:nvSpPr>
          <p:cNvPr id="815" name=""/>
          <p:cNvSpPr/>
          <p:nvPr/>
        </p:nvSpPr>
        <p:spPr bwMode="auto">
          <a:xfrm>
            <a:off x="20520" y="2774160"/>
            <a:ext cx="5263200" cy="3682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64B900"/>
                </a:solidFill>
                <a:latin typeface="Futura Bk"/>
              </a:rPr>
              <a:t>Central moments for</a:t>
            </a:r>
            <a:r>
              <a:rPr lang="ru-RU" sz="1800" b="0" strike="noStrike" spc="-1">
                <a:solidFill>
                  <a:srgbClr val="64B900"/>
                </a:solidFill>
                <a:latin typeface="Futura Bk"/>
              </a:rPr>
              <a:t> </a:t>
            </a:r>
            <a:r>
              <a:rPr lang="en-US" sz="1800" b="0" strike="noStrike" spc="-1">
                <a:solidFill>
                  <a:srgbClr val="64B900"/>
                </a:solidFill>
                <a:latin typeface="Futura Bk"/>
              </a:rPr>
              <a:t>f(x,y) – discrete image</a:t>
            </a:r>
            <a:r>
              <a:rPr lang="ru-RU" sz="1800" b="0" strike="noStrike" spc="-1">
                <a:solidFill>
                  <a:srgbClr val="64B900"/>
                </a:solidFill>
                <a:latin typeface="Futura Bk"/>
              </a:rPr>
              <a:t>:</a:t>
            </a:r>
            <a:endParaRPr lang="en-US" sz="1800" b="0" strike="noStrike" spc="-1">
              <a:solidFill>
                <a:srgbClr val="000000"/>
              </a:solidFill>
              <a:latin typeface="Arial"/>
            </a:endParaRPr>
          </a:p>
        </p:txBody>
      </p:sp>
      <p:sp>
        <p:nvSpPr>
          <p:cNvPr id="816" name=""/>
          <p:cNvSpPr txBox="1"/>
          <p:nvPr/>
        </p:nvSpPr>
        <p:spPr bwMode="auto">
          <a:xfrm>
            <a:off x="771480" y="3228840"/>
            <a:ext cx="6299280" cy="83196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sSub>
                        <m:sSubPr>
                          <m:ctrlPr>
                            <a:rPr/>
                          </m:ctrlPr>
                        </m:sSubPr>
                        <m:e>
                          <m:r>
                            <m:rPr/>
                            <a:rPr/>
                            <m:t>μ</m:t>
                          </m:r>
                        </m:e>
                        <m:sub>
                          <m:r>
                            <m:rPr>
                              <m:lit m:val="on"/>
                              <m:nor m:val="on"/>
                            </m:rPr>
                            <a:rPr/>
                            <m:t>pq</m:t>
                          </m:r>
                        </m:sub>
                      </m:sSub>
                      <m:r>
                        <m:rPr/>
                        <a:rPr/>
                        <m:t>=</m:t>
                      </m:r>
                      <m:nary>
                        <m:naryPr>
                          <m:chr m:val="∑"/>
                          <m:grow m:val="off"/>
                          <m:supHide m:val="on"/>
                          <m:ctrlPr>
                            <a:rPr/>
                          </m:ctrlPr>
                        </m:naryPr>
                        <m:sub>
                          <m:r>
                            <m:rPr/>
                            <a:rPr/>
                            <m:t>x</m:t>
                          </m:r>
                        </m:sub>
                        <m:sup/>
                        <m:e>
                          <m:nary>
                            <m:naryPr>
                              <m:chr m:val="∑"/>
                              <m:grow m:val="off"/>
                              <m:supHide m:val="on"/>
                              <m:ctrlPr>
                                <a:rPr/>
                              </m:ctrlPr>
                            </m:naryPr>
                            <m:sub>
                              <m:r>
                                <m:rPr/>
                                <a:rPr/>
                                <m:t>y</m:t>
                              </m:r>
                            </m:sub>
                            <m:sup/>
                            <m:e>
                              <m:r>
                                <m:rPr/>
                                <a:rPr/>
                                <m:t>(</m:t>
                              </m:r>
                              <m:r>
                                <m:rPr/>
                                <a:rPr/>
                                <m:t>x</m:t>
                              </m:r>
                              <m:r>
                                <m:rPr/>
                                <a:rPr/>
                                <m:t>−</m:t>
                              </m:r>
                              <m:acc>
                                <m:accPr>
                                  <m:chr m:val="¯"/>
                                  <m:ctrlPr>
                                    <a:rPr/>
                                  </m:ctrlPr>
                                </m:accPr>
                                <m:e>
                                  <m:r>
                                    <m:rPr/>
                                    <a:rPr/>
                                    <m:t>x</m:t>
                                  </m:r>
                                </m:e>
                              </m:acc>
                              <m:sSup>
                                <m:sSupPr>
                                  <m:ctrlPr>
                                    <a:rPr/>
                                  </m:ctrlPr>
                                </m:sSupPr>
                                <m:e>
                                  <m:r>
                                    <m:rPr/>
                                    <a:rPr/>
                                    <m:t>)</m:t>
                                  </m:r>
                                </m:e>
                                <m:sup>
                                  <m:r>
                                    <m:rPr/>
                                    <a:rPr/>
                                    <m:t>p</m:t>
                                  </m:r>
                                </m:sup>
                              </m:sSup>
                              <m:r>
                                <m:rPr/>
                                <a:rPr/>
                                <m:t>(</m:t>
                              </m:r>
                              <m:r>
                                <m:rPr/>
                                <a:rPr/>
                                <m:t>y</m:t>
                              </m:r>
                              <m:r>
                                <m:rPr/>
                                <a:rPr/>
                                <m:t>−</m:t>
                              </m:r>
                              <m:acc>
                                <m:accPr>
                                  <m:chr m:val="¯"/>
                                  <m:ctrlPr>
                                    <a:rPr/>
                                  </m:ctrlPr>
                                </m:accPr>
                                <m:e>
                                  <m:r>
                                    <m:rPr/>
                                    <a:rPr/>
                                    <m:t>y</m:t>
                                  </m:r>
                                </m:e>
                              </m:acc>
                              <m:sSup>
                                <m:sSupPr>
                                  <m:ctrlPr>
                                    <a:rPr/>
                                  </m:ctrlPr>
                                </m:sSupPr>
                                <m:e>
                                  <m:r>
                                    <m:rPr/>
                                    <a:rPr/>
                                    <m:t>)</m:t>
                                  </m:r>
                                </m:e>
                                <m:sup>
                                  <m:r>
                                    <m:rPr/>
                                    <a:rPr/>
                                    <m:t>q</m:t>
                                  </m:r>
                                </m:sup>
                              </m:sSup>
                              <m:r>
                                <m:rPr/>
                                <a:rPr/>
                                <m:t>f</m:t>
                              </m:r>
                              <m:r>
                                <m:rPr/>
                                <a:rPr/>
                                <m:t>(</m:t>
                              </m:r>
                              <m:r>
                                <m:rPr/>
                                <a:rPr/>
                                <m:t>x</m:t>
                              </m:r>
                              <m:r>
                                <m:rPr/>
                                <a:rPr/>
                                <m:t>,</m:t>
                              </m:r>
                              <m:r>
                                <m:rPr/>
                                <a:rPr/>
                                <m:t>y</m:t>
                              </m:r>
                              <m:r>
                                <m:rPr/>
                                <a:rPr/>
                                <m:t>)</m:t>
                              </m:r>
                              <m:r>
                                <m:rPr/>
                                <a:rPr/>
                                <m:t>,</m:t>
                              </m:r>
                              <m:r>
                                <m:rPr/>
                                <a:rPr/>
                                <m:t> </m:t>
                              </m:r>
                              <m:acc>
                                <m:accPr>
                                  <m:chr m:val="¯"/>
                                  <m:ctrlPr>
                                    <a:rPr/>
                                  </m:ctrlPr>
                                </m:accPr>
                                <m:e>
                                  <m:r>
                                    <m:rPr/>
                                    <a:rPr/>
                                    <m:t>x</m:t>
                                  </m:r>
                                </m:e>
                              </m:acc>
                              <m:r>
                                <m:rPr/>
                                <a:rPr/>
                                <m:t>=</m:t>
                              </m:r>
                              <m:f>
                                <m:fPr>
                                  <m:ctrlPr>
                                    <a:rPr/>
                                  </m:ctrlPr>
                                </m:fPr>
                                <m:num>
                                  <m:sSub>
                                    <m:sSubPr>
                                      <m:ctrlPr>
                                        <a:rPr/>
                                      </m:ctrlPr>
                                    </m:sSubPr>
                                    <m:e>
                                      <m:r>
                                        <m:rPr/>
                                        <a:rPr/>
                                        <m:t>m</m:t>
                                      </m:r>
                                    </m:e>
                                    <m:sub>
                                      <m:r>
                                        <m:rPr>
                                          <m:lit m:val="on"/>
                                          <m:nor m:val="on"/>
                                        </m:rPr>
                                        <a:rPr/>
                                        <m:t>10</m:t>
                                      </m:r>
                                    </m:sub>
                                  </m:sSub>
                                </m:num>
                                <m:den>
                                  <m:sSub>
                                    <m:sSubPr>
                                      <m:ctrlPr>
                                        <a:rPr/>
                                      </m:ctrlPr>
                                    </m:sSubPr>
                                    <m:e>
                                      <m:r>
                                        <m:rPr/>
                                        <a:rPr/>
                                        <m:t>m</m:t>
                                      </m:r>
                                    </m:e>
                                    <m:sub>
                                      <m:r>
                                        <m:rPr>
                                          <m:lit m:val="on"/>
                                          <m:nor m:val="on"/>
                                        </m:rPr>
                                        <a:rPr/>
                                        <m:t>00</m:t>
                                      </m:r>
                                    </m:sub>
                                  </m:sSub>
                                </m:den>
                              </m:f>
                            </m:e>
                          </m:nary>
                        </m:e>
                      </m:nary>
                      <m:r>
                        <m:rPr/>
                        <a:rPr/>
                        <m:t>,</m:t>
                      </m:r>
                      <m:r>
                        <m:rPr/>
                        <a:rPr/>
                        <m:t> </m:t>
                      </m:r>
                      <m:acc>
                        <m:accPr>
                          <m:chr m:val="¯"/>
                          <m:ctrlPr>
                            <a:rPr/>
                          </m:ctrlPr>
                        </m:accPr>
                        <m:e>
                          <m:r>
                            <m:rPr/>
                            <a:rPr/>
                            <m:t>y</m:t>
                          </m:r>
                        </m:e>
                      </m:acc>
                      <m:r>
                        <m:rPr/>
                        <a:rPr/>
                        <m:t>=</m:t>
                      </m:r>
                      <m:f>
                        <m:fPr>
                          <m:ctrlPr>
                            <a:rPr/>
                          </m:ctrlPr>
                        </m:fPr>
                        <m:num>
                          <m:sSub>
                            <m:sSubPr>
                              <m:ctrlPr>
                                <a:rPr/>
                              </m:ctrlPr>
                            </m:sSubPr>
                            <m:e>
                              <m:r>
                                <m:rPr/>
                                <a:rPr/>
                                <m:t>m</m:t>
                              </m:r>
                            </m:e>
                            <m:sub>
                              <m:r>
                                <m:rPr>
                                  <m:lit m:val="on"/>
                                  <m:nor m:val="on"/>
                                </m:rPr>
                                <a:rPr/>
                                <m:t>01</m:t>
                              </m:r>
                            </m:sub>
                          </m:sSub>
                        </m:num>
                        <m:den>
                          <m:sSub>
                            <m:sSubPr>
                              <m:ctrlPr>
                                <a:rPr/>
                              </m:ctrlPr>
                            </m:sSubPr>
                            <m:e>
                              <m:r>
                                <m:rPr/>
                                <a:rPr/>
                                <m:t>m</m:t>
                              </m:r>
                            </m:e>
                            <m:sub>
                              <m:r>
                                <m:rPr>
                                  <m:lit m:val="on"/>
                                  <m:nor m:val="on"/>
                                </m:rPr>
                                <a:rPr/>
                                <m:t>00</m:t>
                              </m:r>
                            </m:sub>
                          </m:sSub>
                        </m:den>
                      </m:f>
                    </m:oMath>
                  </m:oMathPara>
                </a14:m>
              </mc:Choice>
              <mc:Fallback/>
            </mc:AlternateContent>
            <a:endParaRPr/>
          </a:p>
        </p:txBody>
      </p:sp>
      <p:sp>
        <p:nvSpPr>
          <p:cNvPr id="817" name=""/>
          <p:cNvSpPr/>
          <p:nvPr/>
        </p:nvSpPr>
        <p:spPr bwMode="auto">
          <a:xfrm>
            <a:off x="395280" y="4997880"/>
            <a:ext cx="7993080" cy="64260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Futura Bk"/>
              </a:rPr>
              <a:t>Seven scale, translation and rotation invariant moments were derived b</a:t>
            </a:r>
            <a:r>
              <a:rPr lang="en-US" sz="1600" b="0" strike="noStrike" spc="-1">
                <a:solidFill>
                  <a:srgbClr val="000000"/>
                </a:solidFill>
                <a:latin typeface="Futura Bk"/>
              </a:rPr>
              <a:t>ased on central normalized moments of order p + q = 2; 3.</a:t>
            </a:r>
            <a:endParaRPr lang="en-US" sz="1600" b="0" strike="noStrike" spc="-1">
              <a:solidFill>
                <a:srgbClr val="000000"/>
              </a:solidFill>
              <a:latin typeface="Arial"/>
            </a:endParaRPr>
          </a:p>
        </p:txBody>
      </p:sp>
      <p:sp>
        <p:nvSpPr>
          <p:cNvPr id="818" name=""/>
          <p:cNvSpPr/>
          <p:nvPr/>
        </p:nvSpPr>
        <p:spPr bwMode="auto">
          <a:xfrm>
            <a:off x="251640" y="4501440"/>
            <a:ext cx="1935000" cy="368280"/>
          </a:xfrm>
          <a:prstGeom prst="rect">
            <a:avLst/>
          </a:prstGeom>
          <a:noFill/>
          <a:ln w="0">
            <a:noFill/>
          </a:ln>
        </p:spPr>
        <p:style>
          <a:lnRef idx="0"/>
          <a:fillRef idx="0"/>
          <a:effectRef idx="0"/>
          <a:fontRef idx="minor"/>
        </p:style>
        <p:txBody>
          <a:bodyPr wrap="none"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64B900"/>
                </a:solidFill>
                <a:latin typeface="Futura Bk"/>
              </a:rPr>
              <a:t>Feature vector</a:t>
            </a:r>
            <a:r>
              <a:rPr lang="ru-RU" sz="1800" b="0" strike="noStrike" spc="-1">
                <a:solidFill>
                  <a:srgbClr val="64B900"/>
                </a:solidFill>
                <a:latin typeface="Futura Bk"/>
              </a:rPr>
              <a:t>:</a:t>
            </a:r>
            <a:endParaRPr lang="en-US" sz="18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819" name="PlaceHolder 1"/>
          <p:cNvSpPr>
            <a:spLocks noGrp="1"/>
          </p:cNvSpPr>
          <p:nvPr>
            <p:ph/>
          </p:nvPr>
        </p:nvSpPr>
        <p:spPr bwMode="auto">
          <a:xfrm>
            <a:off x="399600" y="1557360"/>
            <a:ext cx="8272440" cy="4680000"/>
          </a:xfrm>
          <a:prstGeom prst="rect">
            <a:avLst/>
          </a:prstGeom>
          <a:noFill/>
          <a:ln w="0">
            <a:noFill/>
          </a:ln>
        </p:spPr>
        <p:txBody>
          <a:bodyPr lIns="90000" tIns="46800" rIns="90000" bIns="46800" anchor="t">
            <a:normAutofit/>
          </a:bodyPr>
          <a:p>
            <a:pPr marL="228600" indent="-228600">
              <a:lnSpc>
                <a:spcPct val="90000"/>
              </a:lnSpc>
              <a:spcBef>
                <a:spcPts val="1400"/>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B2B2B2"/>
                </a:solidFill>
                <a:latin typeface="Futura Bk"/>
              </a:rPr>
              <a:t>Texture features</a:t>
            </a:r>
            <a:endParaRPr lang="en-US" sz="28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rPr>
              <a:t>Statistical</a:t>
            </a:r>
            <a:endParaRPr lang="en-US" sz="24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rPr>
              <a:t>Spectral</a:t>
            </a:r>
            <a:endParaRPr lang="en-US" sz="24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rPr>
              <a:t>Comparison</a:t>
            </a:r>
            <a:endParaRPr lang="en-US" sz="2400" b="0" strike="noStrike" spc="-1">
              <a:solidFill>
                <a:srgbClr val="000000"/>
              </a:solidFill>
              <a:latin typeface="Futura Bk"/>
            </a:endParaRPr>
          </a:p>
          <a:p>
            <a:pPr marL="228600" indent="-228600">
              <a:lnSpc>
                <a:spcPct val="90000"/>
              </a:lnSpc>
              <a:spcBef>
                <a:spcPts val="1400"/>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71B4"/>
                </a:solidFill>
                <a:latin typeface="Futura Bk"/>
              </a:rPr>
              <a:t>Shape features</a:t>
            </a:r>
            <a:endParaRPr lang="en-US" sz="28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rPr>
              <a:t>Boundary based</a:t>
            </a:r>
            <a:endParaRPr lang="en-US" sz="24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rPr>
              <a:t>Region based</a:t>
            </a:r>
            <a:endParaRPr lang="en-US" sz="24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71B4"/>
                </a:solidFill>
                <a:latin typeface="Futura Bk"/>
              </a:rPr>
              <a:t>Comparison</a:t>
            </a:r>
            <a:endParaRPr lang="en-US" sz="2400" b="0" strike="noStrike" spc="-1">
              <a:solidFill>
                <a:srgbClr val="000000"/>
              </a:solidFill>
              <a:latin typeface="Futura Bk"/>
            </a:endParaRPr>
          </a:p>
          <a:p>
            <a:pPr marL="228600" indent="-228600">
              <a:lnSpc>
                <a:spcPct val="90000"/>
              </a:lnSpc>
              <a:spcBef>
                <a:spcPts val="1400"/>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B2B2B2"/>
                </a:solidFill>
                <a:latin typeface="Futura Bk"/>
              </a:rPr>
              <a:t>Fusion methods</a:t>
            </a:r>
            <a:endParaRPr lang="en-US" sz="2800" b="0" strike="noStrike" spc="-1">
              <a:solidFill>
                <a:srgbClr val="000000"/>
              </a:solidFill>
              <a:latin typeface="Futura Bk"/>
            </a:endParaRPr>
          </a:p>
        </p:txBody>
      </p:sp>
      <p:sp>
        <p:nvSpPr>
          <p:cNvPr id="820" name="PlaceHolder 2"/>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Lecture 3: Outline</a:t>
            </a:r>
            <a:endParaRPr lang="en-US" sz="3600" b="0" strike="noStrike" spc="-1">
              <a:solidFill>
                <a:srgbClr val="000000"/>
              </a:solidFill>
              <a:latin typeface="Futura Bk"/>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821"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Shape features comparison</a:t>
            </a:r>
            <a:endParaRPr lang="en-US" sz="3600" b="0" strike="noStrike" spc="-1">
              <a:solidFill>
                <a:srgbClr val="000000"/>
              </a:solidFill>
              <a:latin typeface="Futura Bk"/>
            </a:endParaRPr>
          </a:p>
        </p:txBody>
      </p:sp>
      <p:sp>
        <p:nvSpPr>
          <p:cNvPr id="822" name=""/>
          <p:cNvSpPr/>
          <p:nvPr/>
        </p:nvSpPr>
        <p:spPr bwMode="auto">
          <a:xfrm>
            <a:off x="0" y="322416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823" name=""/>
          <p:cNvSpPr/>
          <p:nvPr/>
        </p:nvSpPr>
        <p:spPr bwMode="auto">
          <a:xfrm>
            <a:off x="0" y="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824" name=""/>
          <p:cNvSpPr/>
          <p:nvPr/>
        </p:nvSpPr>
        <p:spPr bwMode="auto">
          <a:xfrm>
            <a:off x="0" y="32338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825" name=""/>
          <p:cNvSpPr/>
          <p:nvPr/>
        </p:nvSpPr>
        <p:spPr bwMode="auto">
          <a:xfrm>
            <a:off x="0" y="321948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826" name=""/>
          <p:cNvSpPr/>
          <p:nvPr/>
        </p:nvSpPr>
        <p:spPr bwMode="auto">
          <a:xfrm>
            <a:off x="0" y="322416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pic>
        <p:nvPicPr>
          <p:cNvPr id="827" name="" descr=""/>
          <p:cNvPicPr/>
          <p:nvPr/>
        </p:nvPicPr>
        <p:blipFill>
          <a:blip r:embed="rId2"/>
          <a:stretch/>
        </p:blipFill>
        <p:spPr bwMode="auto">
          <a:xfrm>
            <a:off x="971640" y="1413000"/>
            <a:ext cx="7129440" cy="4125960"/>
          </a:xfrm>
          <a:prstGeom prst="rect">
            <a:avLst/>
          </a:prstGeom>
          <a:ln w="0">
            <a:noFill/>
          </a:ln>
        </p:spPr>
      </p:pic>
      <p:sp>
        <p:nvSpPr>
          <p:cNvPr id="828" name=""/>
          <p:cNvSpPr/>
          <p:nvPr/>
        </p:nvSpPr>
        <p:spPr bwMode="auto">
          <a:xfrm>
            <a:off x="682560" y="5625720"/>
            <a:ext cx="7993080" cy="734400"/>
          </a:xfrm>
          <a:prstGeom prst="rect">
            <a:avLst/>
          </a:prstGeom>
          <a:noFill/>
          <a:ln w="0">
            <a:noFill/>
          </a:ln>
        </p:spPr>
        <p:style>
          <a:lnRef idx="0"/>
          <a:fillRef idx="0"/>
          <a:effectRef idx="0"/>
          <a:fontRef idx="minor"/>
        </p:style>
        <p:txBody>
          <a:bodyPr lIns="90000" tIns="46800" rIns="90000" bIns="46800" anchor="ctr">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400" b="0" strike="noStrike" spc="-1">
                <a:solidFill>
                  <a:srgbClr val="000000"/>
                </a:solidFill>
                <a:latin typeface="Tahoma"/>
              </a:rPr>
              <a:t>Mehtre B. M</a:t>
            </a:r>
            <a:r>
              <a:rPr lang="ru-RU" sz="1400" b="0" strike="noStrike" spc="-1">
                <a:solidFill>
                  <a:srgbClr val="000000"/>
                </a:solidFill>
                <a:latin typeface="Tahoma"/>
              </a:rPr>
              <a:t>.</a:t>
            </a:r>
            <a:r>
              <a:rPr lang="en-US" sz="1400" b="0" strike="noStrike" spc="-1">
                <a:solidFill>
                  <a:srgbClr val="000000"/>
                </a:solidFill>
                <a:latin typeface="Tahoma"/>
              </a:rPr>
              <a:t>, Kankanhalli M. S., Lee W. F. Shape measures for content based image retrieval: a comparison. Inf. Processing and Management, vol. 33, No. 3, pages 319-337, 1997.</a:t>
            </a:r>
            <a:endParaRPr lang="en-US" sz="14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829" name="PlaceHolder 1"/>
          <p:cNvSpPr>
            <a:spLocks noGrp="1"/>
          </p:cNvSpPr>
          <p:nvPr>
            <p:ph/>
          </p:nvPr>
        </p:nvSpPr>
        <p:spPr bwMode="auto">
          <a:xfrm>
            <a:off x="399600" y="1557360"/>
            <a:ext cx="8272440" cy="4680000"/>
          </a:xfrm>
          <a:prstGeom prst="rect">
            <a:avLst/>
          </a:prstGeom>
          <a:noFill/>
          <a:ln w="0">
            <a:noFill/>
          </a:ln>
        </p:spPr>
        <p:txBody>
          <a:bodyPr lIns="90000" tIns="46800" rIns="90000" bIns="46800" anchor="t">
            <a:normAutofit/>
          </a:bodyPr>
          <a:p>
            <a:pPr marL="228600" indent="-228600">
              <a:lnSpc>
                <a:spcPct val="90000"/>
              </a:lnSpc>
              <a:spcBef>
                <a:spcPts val="1400"/>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B2B2B2"/>
                </a:solidFill>
                <a:latin typeface="Futura Bk"/>
              </a:rPr>
              <a:t>Texture features</a:t>
            </a:r>
            <a:endParaRPr lang="en-US" sz="28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rPr>
              <a:t>Statistical</a:t>
            </a:r>
            <a:endParaRPr lang="en-US" sz="24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rPr>
              <a:t>Spectral</a:t>
            </a:r>
            <a:endParaRPr lang="en-US" sz="24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rPr>
              <a:t>Comparison</a:t>
            </a:r>
            <a:endParaRPr lang="en-US" sz="2400" b="0" strike="noStrike" spc="-1">
              <a:solidFill>
                <a:srgbClr val="000000"/>
              </a:solidFill>
              <a:latin typeface="Futura Bk"/>
            </a:endParaRPr>
          </a:p>
          <a:p>
            <a:pPr marL="228600" indent="-228600">
              <a:lnSpc>
                <a:spcPct val="90000"/>
              </a:lnSpc>
              <a:spcBef>
                <a:spcPts val="1400"/>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B2B2B2"/>
                </a:solidFill>
                <a:latin typeface="Futura Bk"/>
              </a:rPr>
              <a:t>Shape features</a:t>
            </a:r>
            <a:endParaRPr lang="en-US" sz="28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rPr>
              <a:t>Boundary based</a:t>
            </a:r>
            <a:endParaRPr lang="en-US" sz="24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rPr>
              <a:t>Region based</a:t>
            </a:r>
            <a:endParaRPr lang="en-US" sz="2400" b="0" strike="noStrike" spc="-1">
              <a:solidFill>
                <a:srgbClr val="000000"/>
              </a:solidFill>
              <a:latin typeface="Futura Bk"/>
            </a:endParaRPr>
          </a:p>
          <a:p>
            <a:pPr marL="571680" lvl="1" indent="-228600">
              <a:lnSpc>
                <a:spcPct val="90000"/>
              </a:lnSpc>
              <a:spcBef>
                <a:spcPts val="601"/>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B2B2B2"/>
                </a:solidFill>
                <a:latin typeface="Futura Bk"/>
              </a:rPr>
              <a:t>Comparison</a:t>
            </a:r>
            <a:endParaRPr lang="en-US" sz="2400" b="0" strike="noStrike" spc="-1">
              <a:solidFill>
                <a:srgbClr val="000000"/>
              </a:solidFill>
              <a:latin typeface="Futura Bk"/>
            </a:endParaRPr>
          </a:p>
          <a:p>
            <a:pPr marL="228600" indent="-228600">
              <a:lnSpc>
                <a:spcPct val="90000"/>
              </a:lnSpc>
              <a:spcBef>
                <a:spcPts val="1400"/>
              </a:spcBef>
              <a:spcAft>
                <a:spcPts val="3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71B4"/>
                </a:solidFill>
                <a:latin typeface="Futura Bk"/>
              </a:rPr>
              <a:t>Fusion methods</a:t>
            </a:r>
            <a:endParaRPr lang="en-US" sz="2800" b="0" strike="noStrike" spc="-1">
              <a:solidFill>
                <a:srgbClr val="000000"/>
              </a:solidFill>
              <a:latin typeface="Futura Bk"/>
            </a:endParaRPr>
          </a:p>
        </p:txBody>
      </p:sp>
      <p:sp>
        <p:nvSpPr>
          <p:cNvPr id="830" name="PlaceHolder 2"/>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Lecture 3: Outline</a:t>
            </a:r>
            <a:endParaRPr lang="en-US" sz="3600" b="0" strike="noStrike" spc="-1">
              <a:solidFill>
                <a:srgbClr val="000000"/>
              </a:solidFill>
              <a:latin typeface="Futura Bk"/>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831" name=""/>
          <p:cNvSpPr/>
          <p:nvPr/>
        </p:nvSpPr>
        <p:spPr bwMode="auto">
          <a:xfrm>
            <a:off x="590400" y="260280"/>
            <a:ext cx="8229600" cy="930240"/>
          </a:xfrm>
          <a:prstGeom prst="rect">
            <a:avLst/>
          </a:prstGeom>
          <a:noFill/>
          <a:ln w="0">
            <a:noFill/>
          </a:ln>
        </p:spPr>
        <p:style>
          <a:lnRef idx="0"/>
          <a:fillRef idx="0"/>
          <a:effectRef idx="0"/>
          <a:fontRef idx="minor"/>
        </p:style>
        <p:txBody>
          <a:bodyPr lIns="0" tIns="0" rIns="0" bIns="0" anchor="ctr">
            <a:noAutofit/>
          </a:bodyPr>
          <a:p>
            <a:pPr>
              <a:lnSpc>
                <a:spcPct val="101000"/>
              </a:lnSpc>
              <a:spcBef>
                <a:spcPts val="1001"/>
              </a:spcBef>
              <a:tabLst>
                <a:tab pos="0" algn="l"/>
                <a:tab pos="723960" algn="l"/>
                <a:tab pos="1447920" algn="l"/>
                <a:tab pos="2171880" algn="l"/>
                <a:tab pos="2895480" algn="l"/>
                <a:tab pos="3619440" algn="l"/>
                <a:tab pos="4343400" algn="l"/>
                <a:tab pos="5067360" algn="l"/>
                <a:tab pos="5791320" algn="l"/>
                <a:tab pos="6515280" algn="l"/>
                <a:tab pos="7238880" algn="l"/>
                <a:tab pos="7962840" algn="l"/>
                <a:tab pos="8686800" algn="l"/>
                <a:tab pos="8985240" algn="l"/>
                <a:tab pos="9434520" algn="l"/>
                <a:tab pos="9883800" algn="l"/>
                <a:tab pos="10333079" algn="l"/>
                <a:tab pos="10782360" algn="l"/>
              </a:tabLst>
              <a:defRPr/>
            </a:pPr>
            <a:r>
              <a:rPr lang="en-US" sz="3200" b="0" strike="noStrike" spc="-1">
                <a:solidFill>
                  <a:srgbClr val="000000"/>
                </a:solidFill>
                <a:latin typeface="Futura Bk"/>
                <a:ea typeface="Arial"/>
              </a:rPr>
              <a:t>Data fusion in</a:t>
            </a:r>
            <a:r>
              <a:rPr lang="ru-RU" sz="3200" b="0" strike="noStrike" spc="-1">
                <a:solidFill>
                  <a:srgbClr val="000000"/>
                </a:solidFill>
                <a:latin typeface="Futura Bk"/>
                <a:ea typeface="Arial"/>
              </a:rPr>
              <a:t> </a:t>
            </a:r>
            <a:r>
              <a:rPr lang="en-US" sz="3200" b="0" strike="noStrike" spc="-1">
                <a:solidFill>
                  <a:srgbClr val="000000"/>
                </a:solidFill>
                <a:latin typeface="Futura Bk"/>
                <a:ea typeface="Arial"/>
              </a:rPr>
              <a:t>CBIR</a:t>
            </a:r>
            <a:endParaRPr lang="en-US" sz="3200" b="0" strike="noStrike" spc="-1">
              <a:solidFill>
                <a:srgbClr val="000000"/>
              </a:solidFill>
              <a:latin typeface="Arial"/>
            </a:endParaRPr>
          </a:p>
        </p:txBody>
      </p:sp>
      <p:sp>
        <p:nvSpPr>
          <p:cNvPr id="832" name=""/>
          <p:cNvSpPr/>
          <p:nvPr/>
        </p:nvSpPr>
        <p:spPr bwMode="auto">
          <a:xfrm>
            <a:off x="4788000" y="1916280"/>
            <a:ext cx="1150920" cy="431640"/>
          </a:xfrm>
          <a:prstGeom prst="roundRect">
            <a:avLst>
              <a:gd name="adj" fmla="val 16667"/>
            </a:avLst>
          </a:prstGeom>
          <a:solidFill>
            <a:srgbClr val="FFFFFF"/>
          </a:solidFill>
          <a:ln w="19080">
            <a:solidFill>
              <a:srgbClr val="0071B4"/>
            </a:solidFill>
            <a:miter/>
          </a:ln>
        </p:spPr>
        <p:style>
          <a:lnRef idx="0"/>
          <a:fillRef idx="0"/>
          <a:effectRef idx="0"/>
          <a:fontRef idx="minor"/>
        </p:style>
        <p:txBody>
          <a:bodyPr wrap="none" lIns="90000" tIns="46800" rIns="90000" bIns="46800" anchor="ctr">
            <a:noAutofit/>
          </a:bodyPr>
          <a:p>
            <a:pPr marL="343080" indent="-343080" algn="ctr">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Tahoma"/>
              </a:rPr>
              <a:t>color</a:t>
            </a:r>
            <a:r>
              <a:rPr lang="ru-RU" sz="1800" b="0" strike="noStrike" spc="-1">
                <a:solidFill>
                  <a:srgbClr val="000000"/>
                </a:solidFill>
                <a:latin typeface="Tahoma"/>
              </a:rPr>
              <a:t> (2)</a:t>
            </a:r>
            <a:endParaRPr lang="en-US" sz="1800" b="0" strike="noStrike" spc="-1">
              <a:solidFill>
                <a:srgbClr val="000000"/>
              </a:solidFill>
              <a:latin typeface="Arial"/>
            </a:endParaRPr>
          </a:p>
        </p:txBody>
      </p:sp>
      <p:sp>
        <p:nvSpPr>
          <p:cNvPr id="833" name=""/>
          <p:cNvSpPr/>
          <p:nvPr/>
        </p:nvSpPr>
        <p:spPr bwMode="auto">
          <a:xfrm>
            <a:off x="6012000" y="2565360"/>
            <a:ext cx="1150920" cy="432000"/>
          </a:xfrm>
          <a:prstGeom prst="roundRect">
            <a:avLst>
              <a:gd name="adj" fmla="val 16667"/>
            </a:avLst>
          </a:prstGeom>
          <a:noFill/>
          <a:ln w="19080">
            <a:solidFill>
              <a:srgbClr val="0071B4"/>
            </a:solidFill>
            <a:miter/>
          </a:ln>
        </p:spPr>
        <p:style>
          <a:lnRef idx="0"/>
          <a:fillRef idx="0"/>
          <a:effectRef idx="0"/>
          <a:fontRef idx="minor"/>
        </p:style>
        <p:txBody>
          <a:bodyPr wrap="none" lIns="90000" tIns="46800" rIns="90000" bIns="46800" anchor="ctr">
            <a:noAutofit/>
          </a:bodyPr>
          <a:p>
            <a:pPr marL="343080" indent="-343080" algn="ctr">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Tahoma"/>
              </a:rPr>
              <a:t>texture</a:t>
            </a:r>
            <a:endParaRPr lang="en-US" sz="1800" b="0" strike="noStrike" spc="-1">
              <a:solidFill>
                <a:srgbClr val="000000"/>
              </a:solidFill>
              <a:latin typeface="Arial"/>
            </a:endParaRPr>
          </a:p>
        </p:txBody>
      </p:sp>
      <p:sp>
        <p:nvSpPr>
          <p:cNvPr id="834" name=""/>
          <p:cNvSpPr/>
          <p:nvPr/>
        </p:nvSpPr>
        <p:spPr bwMode="auto">
          <a:xfrm>
            <a:off x="7523280" y="2565360"/>
            <a:ext cx="1152360" cy="432000"/>
          </a:xfrm>
          <a:prstGeom prst="roundRect">
            <a:avLst>
              <a:gd name="adj" fmla="val 16667"/>
            </a:avLst>
          </a:prstGeom>
          <a:noFill/>
          <a:ln w="19080">
            <a:solidFill>
              <a:srgbClr val="0071B4"/>
            </a:solidFill>
            <a:miter/>
          </a:ln>
        </p:spPr>
        <p:style>
          <a:lnRef idx="0"/>
          <a:fillRef idx="0"/>
          <a:effectRef idx="0"/>
          <a:fontRef idx="minor"/>
        </p:style>
        <p:txBody>
          <a:bodyPr wrap="none" lIns="90000" tIns="46800" rIns="90000" bIns="46800" anchor="ctr">
            <a:noAutofit/>
          </a:bodyPr>
          <a:p>
            <a:pPr marL="343080" indent="-343080" algn="ctr">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Tahoma"/>
              </a:rPr>
              <a:t>shape</a:t>
            </a:r>
            <a:endParaRPr lang="en-US" sz="1800" b="0" strike="noStrike" spc="-1">
              <a:solidFill>
                <a:srgbClr val="000000"/>
              </a:solidFill>
              <a:latin typeface="Arial"/>
            </a:endParaRPr>
          </a:p>
        </p:txBody>
      </p:sp>
      <p:sp>
        <p:nvSpPr>
          <p:cNvPr id="835" name=""/>
          <p:cNvSpPr/>
          <p:nvPr/>
        </p:nvSpPr>
        <p:spPr bwMode="auto">
          <a:xfrm>
            <a:off x="5435640" y="3933720"/>
            <a:ext cx="2303280" cy="719280"/>
          </a:xfrm>
          <a:prstGeom prst="ellipse">
            <a:avLst/>
          </a:prstGeom>
          <a:noFill/>
          <a:ln w="19080">
            <a:solidFill>
              <a:srgbClr val="64B900"/>
            </a:solidFill>
            <a:miter/>
          </a:ln>
        </p:spPr>
        <p:style>
          <a:lnRef idx="0"/>
          <a:fillRef idx="0"/>
          <a:effectRef idx="0"/>
          <a:fontRef idx="minor"/>
        </p:style>
        <p:txBody>
          <a:bodyPr wrap="none" lIns="90000" tIns="46800" rIns="90000" bIns="46800" anchor="ctr">
            <a:noAutofit/>
          </a:bodyPr>
          <a:p>
            <a:pPr marL="343080" indent="-343080" algn="ctr">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Tahoma"/>
              </a:rPr>
              <a:t>fusion</a:t>
            </a:r>
            <a:endParaRPr lang="en-US" sz="1800" b="0" strike="noStrike" spc="-1">
              <a:solidFill>
                <a:srgbClr val="000000"/>
              </a:solidFill>
              <a:latin typeface="Arial"/>
            </a:endParaRPr>
          </a:p>
        </p:txBody>
      </p:sp>
      <p:sp>
        <p:nvSpPr>
          <p:cNvPr id="836" name=""/>
          <p:cNvSpPr/>
          <p:nvPr/>
        </p:nvSpPr>
        <p:spPr bwMode="auto">
          <a:xfrm>
            <a:off x="5794200" y="5157720"/>
            <a:ext cx="1584360" cy="432000"/>
          </a:xfrm>
          <a:prstGeom prst="roundRect">
            <a:avLst>
              <a:gd name="adj" fmla="val 16667"/>
            </a:avLst>
          </a:prstGeom>
          <a:solidFill>
            <a:srgbClr val="FFFFFF"/>
          </a:solidFill>
          <a:ln w="19080">
            <a:solidFill>
              <a:srgbClr val="0071B4"/>
            </a:solidFill>
            <a:miter/>
          </a:ln>
        </p:spPr>
        <p:style>
          <a:lnRef idx="0"/>
          <a:fillRef idx="0"/>
          <a:effectRef idx="0"/>
          <a:fontRef idx="minor"/>
        </p:style>
        <p:txBody>
          <a:bodyPr wrap="none" lIns="90000" tIns="46800" rIns="90000" bIns="46800" anchor="ctr">
            <a:noAutofit/>
          </a:bodyPr>
          <a:p>
            <a:pPr marL="343080" indent="-343080" algn="ctr">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Tahoma"/>
              </a:rPr>
              <a:t>result</a:t>
            </a:r>
            <a:endParaRPr lang="en-US" sz="1800" b="0" strike="noStrike" spc="-1">
              <a:solidFill>
                <a:srgbClr val="000000"/>
              </a:solidFill>
              <a:latin typeface="Arial"/>
            </a:endParaRPr>
          </a:p>
        </p:txBody>
      </p:sp>
      <p:sp>
        <p:nvSpPr>
          <p:cNvPr id="837" name=""/>
          <p:cNvSpPr/>
          <p:nvPr/>
        </p:nvSpPr>
        <p:spPr bwMode="auto">
          <a:xfrm rot="5400000">
            <a:off x="6407640" y="4725000"/>
            <a:ext cx="360360" cy="358920"/>
          </a:xfrm>
          <a:custGeom>
            <a:avLst/>
            <a:gdLst>
              <a:gd name="textAreaLeft" fmla="*/ 56160 w 360360"/>
              <a:gd name="textAreaRight" fmla="*/ 315360 w 360360"/>
              <a:gd name="textAreaTop" fmla="*/ 89640 h 358920"/>
              <a:gd name="textAreaBottom" fmla="*/ 269280 h 358920"/>
            </a:gdLst>
            <a:ahLst/>
            <a:cxnLst/>
            <a:rect l="textAreaLeft" t="textAreaTop" r="textAreaRight" b="textAreaBottom"/>
            <a:pathLst>
              <a:path w="21600" h="21600" fill="norm" stroke="1" extrusionOk="0">
                <a:moveTo>
                  <a:pt x="3375" y="5400"/>
                </a:moveTo>
                <a:lnTo>
                  <a:pt x="16200" y="5400"/>
                </a:lnTo>
                <a:lnTo>
                  <a:pt x="16200" y="0"/>
                </a:lnTo>
                <a:lnTo>
                  <a:pt x="21600" y="10800"/>
                </a:lnTo>
                <a:lnTo>
                  <a:pt x="16200" y="21600"/>
                </a:lnTo>
                <a:lnTo>
                  <a:pt x="16200" y="16200"/>
                </a:lnTo>
                <a:lnTo>
                  <a:pt x="3375" y="16200"/>
                </a:lnTo>
                <a:close/>
              </a:path>
              <a:path w="21600" h="21600" fill="norm" stroke="1" extrusionOk="0">
                <a:moveTo>
                  <a:pt x="0" y="5400"/>
                </a:moveTo>
                <a:lnTo>
                  <a:pt x="675" y="5400"/>
                </a:lnTo>
                <a:lnTo>
                  <a:pt x="675" y="16200"/>
                </a:lnTo>
                <a:lnTo>
                  <a:pt x="0" y="16200"/>
                </a:lnTo>
                <a:close/>
              </a:path>
              <a:path w="21600" h="21600" fill="norm" stroke="1" extrusionOk="0">
                <a:moveTo>
                  <a:pt x="1350" y="5400"/>
                </a:moveTo>
                <a:lnTo>
                  <a:pt x="2700" y="5400"/>
                </a:lnTo>
                <a:lnTo>
                  <a:pt x="2700" y="16200"/>
                </a:lnTo>
                <a:lnTo>
                  <a:pt x="1350" y="16200"/>
                </a:lnTo>
                <a:close/>
              </a:path>
            </a:pathLst>
          </a:custGeom>
          <a:solidFill>
            <a:srgbClr val="64B900"/>
          </a:solidFill>
          <a:ln w="12600">
            <a:solidFill>
              <a:srgbClr val="64B9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838" name=""/>
          <p:cNvSpPr/>
          <p:nvPr/>
        </p:nvSpPr>
        <p:spPr bwMode="auto">
          <a:xfrm>
            <a:off x="6515280" y="3070080"/>
            <a:ext cx="107640" cy="790560"/>
          </a:xfrm>
          <a:prstGeom prst="downArrow">
            <a:avLst>
              <a:gd name="adj1" fmla="val 50000"/>
              <a:gd name="adj2" fmla="val 183612"/>
            </a:avLst>
          </a:prstGeom>
          <a:solidFill>
            <a:srgbClr val="0071B4"/>
          </a:solidFill>
          <a:ln w="12600">
            <a:solidFill>
              <a:srgbClr val="0071B4"/>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839" name=""/>
          <p:cNvSpPr/>
          <p:nvPr/>
        </p:nvSpPr>
        <p:spPr bwMode="auto">
          <a:xfrm rot="18600000">
            <a:off x="5244120" y="2849760"/>
            <a:ext cx="114120" cy="1332000"/>
          </a:xfrm>
          <a:prstGeom prst="downArrow">
            <a:avLst>
              <a:gd name="adj1" fmla="val 50000"/>
              <a:gd name="adj2" fmla="val 291798"/>
            </a:avLst>
          </a:prstGeom>
          <a:solidFill>
            <a:srgbClr val="0071B4"/>
          </a:solidFill>
          <a:ln w="12600">
            <a:solidFill>
              <a:srgbClr val="0071B4"/>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840" name=""/>
          <p:cNvSpPr/>
          <p:nvPr/>
        </p:nvSpPr>
        <p:spPr bwMode="auto">
          <a:xfrm rot="2820000">
            <a:off x="7682039" y="2910600"/>
            <a:ext cx="114480" cy="1150920"/>
          </a:xfrm>
          <a:prstGeom prst="downArrow">
            <a:avLst>
              <a:gd name="adj1" fmla="val 50000"/>
              <a:gd name="adj2" fmla="val 251336"/>
            </a:avLst>
          </a:prstGeom>
          <a:solidFill>
            <a:srgbClr val="0071B4"/>
          </a:solidFill>
          <a:ln w="12600">
            <a:solidFill>
              <a:srgbClr val="0071B4"/>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841" name=""/>
          <p:cNvSpPr/>
          <p:nvPr/>
        </p:nvSpPr>
        <p:spPr bwMode="auto">
          <a:xfrm rot="19653000">
            <a:off x="5734080" y="2255760"/>
            <a:ext cx="115920" cy="1727280"/>
          </a:xfrm>
          <a:prstGeom prst="downArrow">
            <a:avLst>
              <a:gd name="adj1" fmla="val 50000"/>
              <a:gd name="adj2" fmla="val 372516"/>
            </a:avLst>
          </a:prstGeom>
          <a:solidFill>
            <a:srgbClr val="0071B4"/>
          </a:solidFill>
          <a:ln w="12600">
            <a:solidFill>
              <a:srgbClr val="0071B4"/>
            </a:solidFill>
            <a:miter/>
          </a:ln>
        </p:spPr>
        <p:style>
          <a:lnRef idx="0"/>
          <a:fillRef idx="0"/>
          <a:effectRef idx="0"/>
          <a:fontRef idx="minor"/>
        </p:style>
        <p:txBody>
          <a:bodyPr wrap="none" lIns="90000" tIns="46800" rIns="90000" bIns="46800" anchor="ctr">
            <a:noAutofit/>
          </a:bodyPr>
          <a:p>
            <a:pPr marL="343080" indent="-343080" algn="ctr">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842" name=""/>
          <p:cNvSpPr/>
          <p:nvPr/>
        </p:nvSpPr>
        <p:spPr bwMode="auto">
          <a:xfrm>
            <a:off x="4140360" y="2565360"/>
            <a:ext cx="1150920" cy="432000"/>
          </a:xfrm>
          <a:prstGeom prst="roundRect">
            <a:avLst>
              <a:gd name="adj" fmla="val 16667"/>
            </a:avLst>
          </a:prstGeom>
          <a:solidFill>
            <a:srgbClr val="FFFFFF"/>
          </a:solidFill>
          <a:ln w="19080">
            <a:solidFill>
              <a:srgbClr val="0071B4"/>
            </a:solidFill>
            <a:miter/>
          </a:ln>
        </p:spPr>
        <p:style>
          <a:lnRef idx="0"/>
          <a:fillRef idx="0"/>
          <a:effectRef idx="0"/>
          <a:fontRef idx="minor"/>
        </p:style>
        <p:txBody>
          <a:bodyPr wrap="none" lIns="90000" tIns="46800" rIns="90000" bIns="46800" anchor="ctr">
            <a:noAutofit/>
          </a:bodyPr>
          <a:p>
            <a:pPr marL="343080" indent="-343080" algn="ctr">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Tahoma"/>
              </a:rPr>
              <a:t>color</a:t>
            </a:r>
            <a:endParaRPr lang="en-US" sz="1800" b="0" strike="noStrike" spc="-1">
              <a:solidFill>
                <a:srgbClr val="000000"/>
              </a:solidFill>
              <a:latin typeface="Arial"/>
            </a:endParaRPr>
          </a:p>
        </p:txBody>
      </p:sp>
      <p:sp>
        <p:nvSpPr>
          <p:cNvPr id="843" name="PlaceHolder 1"/>
          <p:cNvSpPr>
            <a:spLocks noGrp="1"/>
          </p:cNvSpPr>
          <p:nvPr>
            <p:ph/>
          </p:nvPr>
        </p:nvSpPr>
        <p:spPr bwMode="auto">
          <a:xfrm>
            <a:off x="395280" y="3357360"/>
            <a:ext cx="4392720" cy="2950920"/>
          </a:xfrm>
          <a:prstGeom prst="rect">
            <a:avLst/>
          </a:prstGeom>
          <a:noFill/>
          <a:ln w="0">
            <a:noFill/>
          </a:ln>
        </p:spPr>
        <p:txBody>
          <a:bodyPr lIns="0" tIns="0" rIns="0" bIns="0" anchor="t">
            <a:normAutofit/>
          </a:bodyPr>
          <a:p>
            <a:pPr marL="431640" indent="-323640">
              <a:lnSpc>
                <a:spcPct val="100000"/>
              </a:lnSpc>
              <a:spcBef>
                <a:spcPts val="1250"/>
              </a:spcBef>
              <a:spcAft>
                <a:spcPts val="249"/>
              </a:spcAft>
              <a:buClr>
                <a:srgbClr val="000000"/>
              </a:buClr>
              <a:buSzPct val="85000"/>
              <a:buFont typeface="Wingdings"/>
              <a:buChar char=""/>
              <a:tabLst>
                <a:tab pos="723960" algn="l"/>
                <a:tab pos="1447920" algn="l"/>
                <a:tab pos="2171880" algn="l"/>
                <a:tab pos="2895480" algn="l"/>
                <a:tab pos="3619440" algn="l"/>
                <a:tab pos="4343400" algn="l"/>
                <a:tab pos="5067360" algn="l"/>
                <a:tab pos="5791320" algn="l"/>
                <a:tab pos="6515280" algn="l"/>
                <a:tab pos="7238880" algn="l"/>
                <a:tab pos="7962840" algn="l"/>
                <a:tab pos="8686800" algn="l"/>
                <a:tab pos="8985240" algn="l"/>
                <a:tab pos="9434520" algn="l"/>
                <a:tab pos="9883800" algn="l"/>
                <a:tab pos="10333079" algn="l"/>
                <a:tab pos="10782360" algn="l"/>
              </a:tabLst>
              <a:defRPr/>
            </a:pPr>
            <a:r>
              <a:rPr lang="en-US" sz="2000" b="0" strike="noStrike" spc="-1">
                <a:solidFill>
                  <a:srgbClr val="000000"/>
                </a:solidFill>
                <a:latin typeface="Futura Bk"/>
              </a:rPr>
              <a:t>Combined search</a:t>
            </a:r>
            <a:r>
              <a:rPr lang="ru-RU" sz="2000" b="0" strike="noStrike" spc="-1">
                <a:solidFill>
                  <a:srgbClr val="000000"/>
                </a:solidFill>
                <a:latin typeface="Futura Bk"/>
              </a:rPr>
              <a:t> </a:t>
            </a:r>
            <a:br>
              <a:rPr sz="2000"/>
            </a:br>
            <a:r>
              <a:rPr lang="ru-RU" sz="2000" b="0" strike="noStrike" spc="-1">
                <a:solidFill>
                  <a:srgbClr val="000000"/>
                </a:solidFill>
                <a:latin typeface="Futura Bk"/>
              </a:rPr>
              <a:t>(</a:t>
            </a:r>
            <a:r>
              <a:rPr lang="en-US" sz="2000" b="0" strike="noStrike" spc="-1">
                <a:solidFill>
                  <a:srgbClr val="000000"/>
                </a:solidFill>
                <a:latin typeface="Futura Bk"/>
              </a:rPr>
              <a:t>different features</a:t>
            </a:r>
            <a:r>
              <a:rPr lang="ru-RU" sz="2000" b="0" strike="noStrike" spc="-1">
                <a:solidFill>
                  <a:srgbClr val="000000"/>
                </a:solidFill>
                <a:latin typeface="Futura Bk"/>
              </a:rPr>
              <a:t>)</a:t>
            </a:r>
            <a:endParaRPr lang="en-US" sz="2000" b="0" strike="noStrike" spc="-1">
              <a:solidFill>
                <a:srgbClr val="000000"/>
              </a:solidFill>
              <a:latin typeface="Futura Bk"/>
            </a:endParaRPr>
          </a:p>
          <a:p>
            <a:pPr marL="431640" indent="-323640">
              <a:lnSpc>
                <a:spcPct val="100000"/>
              </a:lnSpc>
              <a:spcBef>
                <a:spcPts val="1250"/>
              </a:spcBef>
              <a:spcAft>
                <a:spcPts val="249"/>
              </a:spcAft>
              <a:buClr>
                <a:srgbClr val="000000"/>
              </a:buClr>
              <a:buSzPct val="85000"/>
              <a:buFont typeface="Wingdings"/>
              <a:buChar char=""/>
              <a:tabLst>
                <a:tab pos="723960" algn="l"/>
                <a:tab pos="1447920" algn="l"/>
                <a:tab pos="2171880" algn="l"/>
                <a:tab pos="2895480" algn="l"/>
                <a:tab pos="3619440" algn="l"/>
                <a:tab pos="4343400" algn="l"/>
                <a:tab pos="5067360" algn="l"/>
                <a:tab pos="5791320" algn="l"/>
                <a:tab pos="6515280" algn="l"/>
                <a:tab pos="7238880" algn="l"/>
                <a:tab pos="7962840" algn="l"/>
                <a:tab pos="8686800" algn="l"/>
                <a:tab pos="8985240" algn="l"/>
                <a:tab pos="9434520" algn="l"/>
                <a:tab pos="9883800" algn="l"/>
                <a:tab pos="10333079" algn="l"/>
                <a:tab pos="10782360" algn="l"/>
              </a:tabLst>
              <a:defRPr/>
            </a:pPr>
            <a:r>
              <a:rPr lang="en-US" sz="2000" b="0" strike="noStrike" spc="-1">
                <a:solidFill>
                  <a:srgbClr val="000000"/>
                </a:solidFill>
                <a:latin typeface="Futura Bk"/>
              </a:rPr>
              <a:t>Refine search results</a:t>
            </a:r>
            <a:r>
              <a:rPr lang="ru-RU" sz="2000" b="0" strike="noStrike" spc="-1">
                <a:solidFill>
                  <a:srgbClr val="000000"/>
                </a:solidFill>
                <a:latin typeface="Futura Bk"/>
              </a:rPr>
              <a:t> </a:t>
            </a:r>
            <a:br>
              <a:rPr sz="2000"/>
            </a:br>
            <a:r>
              <a:rPr lang="ru-RU" sz="2000" b="0" strike="noStrike" spc="-1">
                <a:solidFill>
                  <a:srgbClr val="000000"/>
                </a:solidFill>
                <a:latin typeface="Futura Bk"/>
              </a:rPr>
              <a:t>(</a:t>
            </a:r>
            <a:r>
              <a:rPr lang="en-US" sz="2000" b="0" strike="noStrike" spc="-1">
                <a:solidFill>
                  <a:srgbClr val="000000"/>
                </a:solidFill>
                <a:latin typeface="Futura Bk"/>
              </a:rPr>
              <a:t>different algorithms for the same feature</a:t>
            </a:r>
            <a:r>
              <a:rPr lang="ru-RU" sz="2000" b="0" strike="noStrike" spc="-1">
                <a:solidFill>
                  <a:srgbClr val="000000"/>
                </a:solidFill>
                <a:latin typeface="Futura Bk"/>
              </a:rPr>
              <a:t>)</a:t>
            </a:r>
            <a:endParaRPr lang="en-US" sz="2000" b="0" strike="noStrike" spc="-1">
              <a:solidFill>
                <a:srgbClr val="000000"/>
              </a:solidFill>
              <a:latin typeface="Futura Bk"/>
            </a:endParaRPr>
          </a:p>
          <a:p>
            <a:pPr marL="431640" indent="-323640">
              <a:lnSpc>
                <a:spcPct val="100000"/>
              </a:lnSpc>
              <a:spcBef>
                <a:spcPts val="1250"/>
              </a:spcBef>
              <a:spcAft>
                <a:spcPts val="249"/>
              </a:spcAft>
              <a:buClr>
                <a:srgbClr val="000000"/>
              </a:buClr>
              <a:buSzPct val="85000"/>
              <a:buFont typeface="Wingdings"/>
              <a:buChar char=""/>
              <a:tabLst>
                <a:tab pos="723960" algn="l"/>
                <a:tab pos="1447920" algn="l"/>
                <a:tab pos="2171880" algn="l"/>
                <a:tab pos="2895480" algn="l"/>
                <a:tab pos="3619440" algn="l"/>
                <a:tab pos="4343400" algn="l"/>
                <a:tab pos="5067360" algn="l"/>
                <a:tab pos="5791320" algn="l"/>
                <a:tab pos="6515280" algn="l"/>
                <a:tab pos="7238880" algn="l"/>
                <a:tab pos="7962840" algn="l"/>
                <a:tab pos="8686800" algn="l"/>
                <a:tab pos="8985240" algn="l"/>
                <a:tab pos="9434520" algn="l"/>
                <a:tab pos="9883800" algn="l"/>
                <a:tab pos="10333079" algn="l"/>
                <a:tab pos="10782360" algn="l"/>
              </a:tabLst>
              <a:defRPr/>
            </a:pPr>
            <a:r>
              <a:rPr lang="en-US" sz="2000" b="0" strike="noStrike" spc="-1">
                <a:solidFill>
                  <a:srgbClr val="000000"/>
                </a:solidFill>
                <a:latin typeface="Futura Bk"/>
              </a:rPr>
              <a:t>Supplement search results</a:t>
            </a:r>
            <a:r>
              <a:rPr lang="ru-RU" sz="2000" b="0" strike="noStrike" spc="-1">
                <a:solidFill>
                  <a:srgbClr val="000000"/>
                </a:solidFill>
                <a:latin typeface="Futura Bk"/>
              </a:rPr>
              <a:t> (</a:t>
            </a:r>
            <a:r>
              <a:rPr lang="en-US" sz="2000" b="0" strike="noStrike" spc="-1">
                <a:solidFill>
                  <a:srgbClr val="000000"/>
                </a:solidFill>
                <a:latin typeface="Futura Bk"/>
              </a:rPr>
              <a:t>different datasets</a:t>
            </a:r>
            <a:r>
              <a:rPr lang="ru-RU" sz="2000" b="0" strike="noStrike" spc="-1">
                <a:solidFill>
                  <a:srgbClr val="000000"/>
                </a:solidFill>
                <a:latin typeface="Futura Bk"/>
              </a:rPr>
              <a:t>)</a:t>
            </a:r>
            <a:endParaRPr lang="en-US" sz="2000" b="0" strike="noStrike" spc="-1">
              <a:solidFill>
                <a:srgbClr val="000000"/>
              </a:solidFill>
              <a:latin typeface="Futura Bk"/>
            </a:endParaRPr>
          </a:p>
        </p:txBody>
      </p:sp>
      <p:sp>
        <p:nvSpPr>
          <p:cNvPr id="844" name=""/>
          <p:cNvSpPr/>
          <p:nvPr/>
        </p:nvSpPr>
        <p:spPr bwMode="auto">
          <a:xfrm>
            <a:off x="6802560" y="1701720"/>
            <a:ext cx="1368360" cy="432000"/>
          </a:xfrm>
          <a:prstGeom prst="roundRect">
            <a:avLst>
              <a:gd name="adj" fmla="val 16667"/>
            </a:avLst>
          </a:prstGeom>
          <a:noFill/>
          <a:ln w="19080">
            <a:solidFill>
              <a:srgbClr val="0071B4"/>
            </a:solidFill>
            <a:miter/>
          </a:ln>
        </p:spPr>
        <p:style>
          <a:lnRef idx="0"/>
          <a:fillRef idx="0"/>
          <a:effectRef idx="0"/>
          <a:fontRef idx="minor"/>
        </p:style>
        <p:txBody>
          <a:bodyPr wrap="none" lIns="90000" tIns="46800" rIns="90000" bIns="46800" anchor="ctr">
            <a:noAutofit/>
          </a:bodyPr>
          <a:p>
            <a:pPr marL="343080" indent="-343080" algn="ctr">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Tahoma"/>
              </a:rPr>
              <a:t>annotations</a:t>
            </a:r>
            <a:endParaRPr lang="en-US" sz="1800" b="0" strike="noStrike" spc="-1">
              <a:solidFill>
                <a:srgbClr val="000000"/>
              </a:solidFill>
              <a:latin typeface="Arial"/>
            </a:endParaRPr>
          </a:p>
        </p:txBody>
      </p:sp>
      <p:sp>
        <p:nvSpPr>
          <p:cNvPr id="845" name=""/>
          <p:cNvSpPr/>
          <p:nvPr/>
        </p:nvSpPr>
        <p:spPr bwMode="auto">
          <a:xfrm rot="1080000">
            <a:off x="7191000" y="2133360"/>
            <a:ext cx="115920" cy="1736640"/>
          </a:xfrm>
          <a:prstGeom prst="downArrow">
            <a:avLst>
              <a:gd name="adj1" fmla="val 50000"/>
              <a:gd name="adj2" fmla="val 374534"/>
            </a:avLst>
          </a:prstGeom>
          <a:solidFill>
            <a:srgbClr val="0071B4"/>
          </a:solidFill>
          <a:ln w="12600">
            <a:solidFill>
              <a:srgbClr val="0071B4"/>
            </a:solidFill>
            <a:miter/>
          </a:ln>
        </p:spPr>
        <p:style>
          <a:lnRef idx="0"/>
          <a:fillRef idx="0"/>
          <a:effectRef idx="0"/>
          <a:fontRef idx="minor"/>
        </p:style>
        <p:txBody>
          <a:bodyPr wrap="none" lIns="90000" tIns="46800" rIns="90000" bIns="46800" anchor="ctr">
            <a:noAutofit/>
          </a:bodyPr>
          <a:p>
            <a:pPr marL="343080" indent="-343080" algn="ctr">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846" name=""/>
          <p:cNvSpPr/>
          <p:nvPr/>
        </p:nvSpPr>
        <p:spPr bwMode="auto">
          <a:xfrm rot="5400000">
            <a:off x="5290560" y="1125360"/>
            <a:ext cx="720720" cy="3311640"/>
          </a:xfrm>
          <a:prstGeom prst="ellipse">
            <a:avLst/>
          </a:prstGeom>
          <a:noFill/>
          <a:ln w="25560">
            <a:solidFill>
              <a:srgbClr val="64B9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847" name=""/>
          <p:cNvSpPr/>
          <p:nvPr/>
        </p:nvSpPr>
        <p:spPr bwMode="auto">
          <a:xfrm rot="7045199">
            <a:off x="5360400" y="693000"/>
            <a:ext cx="1079280" cy="3240000"/>
          </a:xfrm>
          <a:prstGeom prst="ellipse">
            <a:avLst/>
          </a:prstGeom>
          <a:noFill/>
          <a:ln w="25560">
            <a:solidFill>
              <a:srgbClr val="64B9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848" name=""/>
          <p:cNvSpPr/>
          <p:nvPr/>
        </p:nvSpPr>
        <p:spPr bwMode="auto">
          <a:xfrm rot="5400000">
            <a:off x="5290560" y="1125360"/>
            <a:ext cx="720720" cy="3311640"/>
          </a:xfrm>
          <a:prstGeom prst="ellipse">
            <a:avLst/>
          </a:prstGeom>
          <a:noFill/>
          <a:ln w="25560">
            <a:solidFill>
              <a:srgbClr val="333399">
                <a:alpha val="50000"/>
              </a:srgbClr>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849" name=""/>
          <p:cNvSpPr/>
          <p:nvPr/>
        </p:nvSpPr>
        <p:spPr bwMode="auto">
          <a:xfrm rot="3015599">
            <a:off x="4353840" y="1270440"/>
            <a:ext cx="1374840" cy="2090880"/>
          </a:xfrm>
          <a:prstGeom prst="ellipse">
            <a:avLst/>
          </a:prstGeom>
          <a:noFill/>
          <a:ln w="25560">
            <a:solidFill>
              <a:srgbClr val="64B9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850" name=""/>
          <p:cNvSpPr/>
          <p:nvPr/>
        </p:nvSpPr>
        <p:spPr bwMode="auto">
          <a:xfrm rot="7045199">
            <a:off x="5365080" y="693000"/>
            <a:ext cx="1079280" cy="3240000"/>
          </a:xfrm>
          <a:prstGeom prst="ellipse">
            <a:avLst/>
          </a:prstGeom>
          <a:noFill/>
          <a:ln w="25560">
            <a:solidFill>
              <a:srgbClr val="333399">
                <a:alpha val="50000"/>
              </a:srgbClr>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60" dur="indefinite" restart="never" nodeType="tmRoot">
          <p:childTnLst>
            <p:seq>
              <p:cTn id="61" dur="indefinite" nodeType="mainSeq">
                <p:childTnLst>
                  <p:par>
                    <p:cTn id="62" fill="hold">
                      <p:stCondLst>
                        <p:cond delay="indefinite"/>
                      </p:stCondLst>
                      <p:childTnLst>
                        <p:par>
                          <p:cTn id="63" fill="hold">
                            <p:stCondLst>
                              <p:cond delay="0"/>
                            </p:stCondLst>
                            <p:childTnLst>
                              <p:par>
                                <p:cTn id="64" presetID="1" presetClass="entr" fill="hold" nodeType="clickEffect">
                                  <p:stCondLst>
                                    <p:cond delay="0"/>
                                  </p:stCondLst>
                                  <p:childTnLst>
                                    <p:set>
                                      <p:cBhvr>
                                        <p:cTn id="65" dur="1" fill="hold">
                                          <p:stCondLst>
                                            <p:cond delay="0"/>
                                          </p:stCondLst>
                                        </p:cTn>
                                        <p:tgtEl>
                                          <p:spTgt spid="846"/>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xit" fill="hold" nodeType="clickEffect">
                                  <p:stCondLst>
                                    <p:cond delay="0"/>
                                  </p:stCondLst>
                                  <p:childTnLst>
                                    <p:set>
                                      <p:cBhvr>
                                        <p:cTn id="69" dur="1" fill="hold">
                                          <p:stCondLst>
                                            <p:cond delay="0"/>
                                          </p:stCondLst>
                                        </p:cTn>
                                        <p:tgtEl>
                                          <p:spTgt spid="846"/>
                                        </p:tgtEl>
                                        <p:attrNameLst>
                                          <p:attrName>style.visibility</p:attrName>
                                        </p:attrNameLst>
                                      </p:cBhvr>
                                      <p:to>
                                        <p:strVal val="hidden"/>
                                      </p:to>
                                    </p:set>
                                  </p:childTnLst>
                                </p:cTn>
                              </p:par>
                              <p:par>
                                <p:cTn id="70" presetID="1" presetClass="entr" fill="hold" nodeType="withEffect">
                                  <p:stCondLst>
                                    <p:cond delay="0"/>
                                  </p:stCondLst>
                                  <p:childTnLst>
                                    <p:set>
                                      <p:cBhvr>
                                        <p:cTn id="71" dur="1" fill="hold">
                                          <p:stCondLst>
                                            <p:cond delay="0"/>
                                          </p:stCondLst>
                                        </p:cTn>
                                        <p:tgtEl>
                                          <p:spTgt spid="848"/>
                                        </p:tgtEl>
                                        <p:attrNameLst>
                                          <p:attrName>style.visibility</p:attrName>
                                        </p:attrNameLst>
                                      </p:cBhvr>
                                      <p:to>
                                        <p:strVal val="visible"/>
                                      </p:to>
                                    </p:set>
                                  </p:childTnLst>
                                </p:cTn>
                              </p:par>
                              <p:par>
                                <p:cTn id="72" presetID="1" presetClass="entr" fill="hold" nodeType="withEffect">
                                  <p:stCondLst>
                                    <p:cond delay="0"/>
                                  </p:stCondLst>
                                  <p:childTnLst>
                                    <p:set>
                                      <p:cBhvr>
                                        <p:cTn id="73" dur="1" fill="hold">
                                          <p:stCondLst>
                                            <p:cond delay="0"/>
                                          </p:stCondLst>
                                        </p:cTn>
                                        <p:tgtEl>
                                          <p:spTgt spid="847"/>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xit" fill="hold" nodeType="clickEffect">
                                  <p:stCondLst>
                                    <p:cond delay="0"/>
                                  </p:stCondLst>
                                  <p:childTnLst>
                                    <p:set>
                                      <p:cBhvr>
                                        <p:cTn id="77" dur="1" fill="hold">
                                          <p:stCondLst>
                                            <p:cond delay="0"/>
                                          </p:stCondLst>
                                        </p:cTn>
                                        <p:tgtEl>
                                          <p:spTgt spid="847"/>
                                        </p:tgtEl>
                                        <p:attrNameLst>
                                          <p:attrName>style.visibility</p:attrName>
                                        </p:attrNameLst>
                                      </p:cBhvr>
                                      <p:to>
                                        <p:strVal val="hidden"/>
                                      </p:to>
                                    </p:set>
                                  </p:childTnLst>
                                </p:cTn>
                              </p:par>
                              <p:par>
                                <p:cTn id="78" presetID="1" presetClass="entr" fill="hold" nodeType="withEffect">
                                  <p:stCondLst>
                                    <p:cond delay="0"/>
                                  </p:stCondLst>
                                  <p:childTnLst>
                                    <p:set>
                                      <p:cBhvr>
                                        <p:cTn id="79" dur="1" fill="hold">
                                          <p:stCondLst>
                                            <p:cond delay="0"/>
                                          </p:stCondLst>
                                        </p:cTn>
                                        <p:tgtEl>
                                          <p:spTgt spid="850"/>
                                        </p:tgtEl>
                                        <p:attrNameLst>
                                          <p:attrName>style.visibility</p:attrName>
                                        </p:attrNameLst>
                                      </p:cBhvr>
                                      <p:to>
                                        <p:strVal val="visible"/>
                                      </p:to>
                                    </p:set>
                                  </p:childTnLst>
                                </p:cTn>
                              </p:par>
                              <p:par>
                                <p:cTn id="80" presetID="1" presetClass="entr" fill="hold" nodeType="withEffect">
                                  <p:stCondLst>
                                    <p:cond delay="0"/>
                                  </p:stCondLst>
                                  <p:childTnLst>
                                    <p:set>
                                      <p:cBhvr>
                                        <p:cTn id="81" dur="1" fill="hold">
                                          <p:stCondLst>
                                            <p:cond delay="0"/>
                                          </p:stCondLst>
                                        </p:cTn>
                                        <p:tgtEl>
                                          <p:spTgt spid="8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851" name="PlaceHolder 1"/>
          <p:cNvSpPr>
            <a:spLocks noGrp="1"/>
          </p:cNvSpPr>
          <p:nvPr>
            <p:ph type="title"/>
          </p:nvPr>
        </p:nvSpPr>
        <p:spPr bwMode="auto">
          <a:xfrm>
            <a:off x="576360" y="0"/>
            <a:ext cx="8229600" cy="1146240"/>
          </a:xfrm>
          <a:prstGeom prst="rect">
            <a:avLst/>
          </a:prstGeom>
          <a:noFill/>
          <a:ln w="0">
            <a:noFill/>
          </a:ln>
        </p:spPr>
        <p:txBody>
          <a:bodyPr lIns="0" tIns="0" rIns="0" bIns="0" anchor="ctr">
            <a:noAutofit/>
          </a:bodyPr>
          <a:p>
            <a:pPr indent="0">
              <a:lnSpc>
                <a:spcPct val="101000"/>
              </a:lnSpc>
              <a:spcBef>
                <a:spcPts val="1125"/>
              </a:spcBef>
              <a:buNone/>
              <a:tabLst>
                <a:tab pos="0" algn="l"/>
                <a:tab pos="723960" algn="l"/>
                <a:tab pos="1447920" algn="l"/>
                <a:tab pos="2171880" algn="l"/>
                <a:tab pos="2895480" algn="l"/>
                <a:tab pos="3619440" algn="l"/>
                <a:tab pos="4343400" algn="l"/>
                <a:tab pos="5067360" algn="l"/>
                <a:tab pos="5791320" algn="l"/>
                <a:tab pos="6515280" algn="l"/>
                <a:tab pos="7238880" algn="l"/>
                <a:tab pos="7962840" algn="l"/>
                <a:tab pos="8686800" algn="l"/>
                <a:tab pos="8985240" algn="l"/>
                <a:tab pos="9434520" algn="l"/>
                <a:tab pos="9883800" algn="l"/>
                <a:tab pos="10333079" algn="l"/>
                <a:tab pos="10782360" algn="l"/>
              </a:tabLst>
              <a:defRPr/>
            </a:pPr>
            <a:r>
              <a:rPr lang="en-US" sz="3600" b="0" strike="noStrike" spc="-1">
                <a:solidFill>
                  <a:srgbClr val="000000"/>
                </a:solidFill>
                <a:latin typeface="Futura Bk"/>
              </a:rPr>
              <a:t>Fusion of retrieval result sets</a:t>
            </a:r>
            <a:endParaRPr lang="en-US" sz="3600" b="0" strike="noStrike" spc="-1">
              <a:solidFill>
                <a:srgbClr val="000000"/>
              </a:solidFill>
              <a:latin typeface="Futura Bk"/>
            </a:endParaRPr>
          </a:p>
        </p:txBody>
      </p:sp>
      <p:sp>
        <p:nvSpPr>
          <p:cNvPr id="852" name=""/>
          <p:cNvSpPr/>
          <p:nvPr/>
        </p:nvSpPr>
        <p:spPr bwMode="auto">
          <a:xfrm>
            <a:off x="579600" y="1268280"/>
            <a:ext cx="8240400" cy="576360"/>
          </a:xfrm>
          <a:prstGeom prst="rect">
            <a:avLst/>
          </a:prstGeom>
          <a:noFill/>
          <a:ln w="0">
            <a:noFill/>
          </a:ln>
        </p:spPr>
        <p:style>
          <a:lnRef idx="0"/>
          <a:fillRef idx="0"/>
          <a:effectRef idx="0"/>
          <a:fontRef idx="minor"/>
        </p:style>
        <p:txBody>
          <a:bodyPr lIns="90000" tIns="46800" rIns="90000" bIns="46800" anchor="t">
            <a:normAutofit fontScale="96666"/>
          </a:bodyPr>
          <a:p>
            <a:pPr marL="228600" indent="-228600">
              <a:lnSpc>
                <a:spcPct val="90000"/>
              </a:lnSpc>
              <a:spcBef>
                <a:spcPts val="876"/>
              </a:spcBef>
              <a:spcAft>
                <a:spcPts val="1049"/>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71B4"/>
                </a:solidFill>
                <a:latin typeface="Futura Bk"/>
                <a:ea typeface="Arial"/>
              </a:rPr>
              <a:t>Fusion of weighted lists with ranked elements:</a:t>
            </a:r>
            <a:endParaRPr lang="en-US" sz="2800" b="0" strike="noStrike" spc="-1">
              <a:solidFill>
                <a:srgbClr val="000000"/>
              </a:solidFill>
              <a:latin typeface="Arial"/>
            </a:endParaRPr>
          </a:p>
        </p:txBody>
      </p:sp>
      <p:sp>
        <p:nvSpPr>
          <p:cNvPr id="853" name=""/>
          <p:cNvSpPr/>
          <p:nvPr/>
        </p:nvSpPr>
        <p:spPr bwMode="auto">
          <a:xfrm>
            <a:off x="1189080" y="2060640"/>
            <a:ext cx="3527280" cy="360360"/>
          </a:xfrm>
          <a:prstGeom prst="rect">
            <a:avLst/>
          </a:prstGeom>
          <a:noFill/>
          <a:ln w="9360">
            <a:solidFill>
              <a:srgbClr val="0000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854" name=""/>
          <p:cNvSpPr/>
          <p:nvPr/>
        </p:nvSpPr>
        <p:spPr bwMode="auto">
          <a:xfrm>
            <a:off x="1177920" y="2054160"/>
            <a:ext cx="3681360" cy="405720"/>
          </a:xfrm>
          <a:prstGeom prst="rect">
            <a:avLst/>
          </a:prstGeom>
          <a:noFill/>
          <a:ln w="0">
            <a:noFill/>
          </a:ln>
        </p:spPr>
        <p:style>
          <a:lnRef idx="0"/>
          <a:fillRef idx="0"/>
          <a:effectRef idx="0"/>
          <a:fontRef idx="minor"/>
        </p:style>
        <p:txBody>
          <a:bodyPr lIns="90000" tIns="46800" rIns="90000" bIns="46800" anchor="t">
            <a:spAutoFit/>
          </a:bodyPr>
          <a:p>
            <a:pPr marL="343080" indent="-343080">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Tahoma"/>
              </a:rPr>
              <a:t>(x</a:t>
            </a:r>
            <a:r>
              <a:rPr lang="en-US" sz="1800" b="0" strike="noStrike" spc="-1" baseline="30000">
                <a:solidFill>
                  <a:srgbClr val="000000"/>
                </a:solidFill>
                <a:latin typeface="Tahoma"/>
              </a:rPr>
              <a:t>1</a:t>
            </a:r>
            <a:r>
              <a:rPr lang="en-US" sz="1800" b="0" strike="noStrike" spc="-1" baseline="-25000">
                <a:solidFill>
                  <a:srgbClr val="000000"/>
                </a:solidFill>
                <a:latin typeface="Tahoma"/>
              </a:rPr>
              <a:t>1</a:t>
            </a:r>
            <a:r>
              <a:rPr lang="en-US" sz="1800" b="0" strike="noStrike" spc="-1">
                <a:solidFill>
                  <a:srgbClr val="000000"/>
                </a:solidFill>
                <a:latin typeface="Tahoma"/>
              </a:rPr>
              <a:t>, r</a:t>
            </a:r>
            <a:r>
              <a:rPr lang="en-US" sz="1800" b="0" strike="noStrike" spc="-1" baseline="30000">
                <a:solidFill>
                  <a:srgbClr val="000000"/>
                </a:solidFill>
                <a:latin typeface="Tahoma"/>
              </a:rPr>
              <a:t>1</a:t>
            </a:r>
            <a:r>
              <a:rPr lang="en-US" sz="1800" b="0" strike="noStrike" spc="-1" baseline="-25000">
                <a:solidFill>
                  <a:srgbClr val="000000"/>
                </a:solidFill>
                <a:latin typeface="Tahoma"/>
              </a:rPr>
              <a:t>1</a:t>
            </a:r>
            <a:r>
              <a:rPr lang="en-US" sz="1800" b="0" strike="noStrike" spc="-1">
                <a:solidFill>
                  <a:srgbClr val="000000"/>
                </a:solidFill>
                <a:latin typeface="Tahoma"/>
              </a:rPr>
              <a:t>), (x</a:t>
            </a:r>
            <a:r>
              <a:rPr lang="en-US" sz="1800" b="0" strike="noStrike" spc="-1" baseline="30000">
                <a:solidFill>
                  <a:srgbClr val="000000"/>
                </a:solidFill>
                <a:latin typeface="Tahoma"/>
              </a:rPr>
              <a:t>1</a:t>
            </a:r>
            <a:r>
              <a:rPr lang="en-US" sz="1800" b="0" strike="noStrike" spc="-1" baseline="-25000">
                <a:solidFill>
                  <a:srgbClr val="000000"/>
                </a:solidFill>
                <a:latin typeface="Tahoma"/>
              </a:rPr>
              <a:t>2</a:t>
            </a:r>
            <a:r>
              <a:rPr lang="en-US" sz="1800" b="0" strike="noStrike" spc="-1">
                <a:solidFill>
                  <a:srgbClr val="000000"/>
                </a:solidFill>
                <a:latin typeface="Tahoma"/>
              </a:rPr>
              <a:t>, r</a:t>
            </a:r>
            <a:r>
              <a:rPr lang="en-US" sz="1800" b="0" strike="noStrike" spc="-1" baseline="30000">
                <a:solidFill>
                  <a:srgbClr val="000000"/>
                </a:solidFill>
                <a:latin typeface="Tahoma"/>
              </a:rPr>
              <a:t>1</a:t>
            </a:r>
            <a:r>
              <a:rPr lang="en-US" sz="1800" b="0" strike="noStrike" spc="-1" baseline="-25000">
                <a:solidFill>
                  <a:srgbClr val="000000"/>
                </a:solidFill>
                <a:latin typeface="Tahoma"/>
              </a:rPr>
              <a:t>2</a:t>
            </a:r>
            <a:r>
              <a:rPr lang="en-US" sz="1800" b="0" strike="noStrike" spc="-1">
                <a:solidFill>
                  <a:srgbClr val="000000"/>
                </a:solidFill>
                <a:latin typeface="Tahoma"/>
              </a:rPr>
              <a:t>), … , (x</a:t>
            </a:r>
            <a:r>
              <a:rPr lang="en-US" sz="1800" b="0" strike="noStrike" spc="-1" baseline="30000">
                <a:solidFill>
                  <a:srgbClr val="000000"/>
                </a:solidFill>
                <a:latin typeface="Tahoma"/>
              </a:rPr>
              <a:t>1</a:t>
            </a:r>
            <a:r>
              <a:rPr lang="en-US" sz="1800" b="0" strike="noStrike" spc="-1" baseline="-25000">
                <a:solidFill>
                  <a:srgbClr val="000000"/>
                </a:solidFill>
                <a:latin typeface="Tahoma"/>
              </a:rPr>
              <a:t>n</a:t>
            </a:r>
            <a:r>
              <a:rPr lang="en-US" sz="1800" b="0" strike="noStrike" spc="-1">
                <a:solidFill>
                  <a:srgbClr val="000000"/>
                </a:solidFill>
                <a:latin typeface="Tahoma"/>
              </a:rPr>
              <a:t>, r</a:t>
            </a:r>
            <a:r>
              <a:rPr lang="en-US" sz="1800" b="0" strike="noStrike" spc="-1" baseline="30000">
                <a:solidFill>
                  <a:srgbClr val="000000"/>
                </a:solidFill>
                <a:latin typeface="Tahoma"/>
              </a:rPr>
              <a:t>1</a:t>
            </a:r>
            <a:r>
              <a:rPr lang="en-US" sz="1800" b="0" strike="noStrike" spc="-1" baseline="-25000">
                <a:solidFill>
                  <a:srgbClr val="000000"/>
                </a:solidFill>
                <a:latin typeface="Tahoma"/>
              </a:rPr>
              <a:t>n</a:t>
            </a:r>
            <a:r>
              <a:rPr lang="en-US" sz="1800" b="0" strike="noStrike" spc="-1">
                <a:solidFill>
                  <a:srgbClr val="000000"/>
                </a:solidFill>
                <a:latin typeface="Tahoma"/>
              </a:rPr>
              <a:t>)</a:t>
            </a:r>
            <a:endParaRPr lang="en-US" sz="1800" b="0" strike="noStrike" spc="-1">
              <a:solidFill>
                <a:srgbClr val="000000"/>
              </a:solidFill>
              <a:latin typeface="Arial"/>
            </a:endParaRPr>
          </a:p>
        </p:txBody>
      </p:sp>
      <p:sp>
        <p:nvSpPr>
          <p:cNvPr id="855" name=""/>
          <p:cNvSpPr/>
          <p:nvPr/>
        </p:nvSpPr>
        <p:spPr bwMode="auto">
          <a:xfrm>
            <a:off x="234000" y="1963800"/>
            <a:ext cx="1232640" cy="510120"/>
          </a:xfrm>
          <a:prstGeom prst="rect">
            <a:avLst/>
          </a:prstGeom>
          <a:noFill/>
          <a:ln w="0">
            <a:noFill/>
          </a:ln>
        </p:spPr>
        <p:style>
          <a:lnRef idx="0"/>
          <a:fillRef idx="0"/>
          <a:effectRef idx="0"/>
          <a:fontRef idx="minor"/>
        </p:style>
        <p:txBody>
          <a:bodyPr wrap="none" lIns="90000" tIns="46800" rIns="90000" bIns="46800" anchor="t">
            <a:spAutoFit/>
          </a:bodyPr>
          <a:p>
            <a:pPr marL="343080" indent="-343080">
              <a:lnSpc>
                <a:spcPct val="100000"/>
              </a:lnSpc>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l-GR" sz="2400" b="0" strike="noStrike" spc="-1">
                <a:solidFill>
                  <a:srgbClr val="000000"/>
                </a:solidFill>
                <a:latin typeface="Tahoma"/>
                <a:ea typeface="Tahoma"/>
              </a:rPr>
              <a:t>ω</a:t>
            </a:r>
            <a:r>
              <a:rPr lang="en-US" sz="2400" b="0" strike="noStrike" spc="-1" baseline="-25000">
                <a:solidFill>
                  <a:srgbClr val="000000"/>
                </a:solidFill>
                <a:latin typeface="Tahoma"/>
                <a:ea typeface="Tahoma"/>
              </a:rPr>
              <a:t>1</a:t>
            </a:r>
            <a:endParaRPr lang="en-US" sz="2400" b="0" strike="noStrike" spc="-1">
              <a:solidFill>
                <a:srgbClr val="000000"/>
              </a:solidFill>
              <a:latin typeface="Arial"/>
            </a:endParaRPr>
          </a:p>
        </p:txBody>
      </p:sp>
      <p:sp>
        <p:nvSpPr>
          <p:cNvPr id="856" name=""/>
          <p:cNvSpPr/>
          <p:nvPr/>
        </p:nvSpPr>
        <p:spPr bwMode="auto">
          <a:xfrm>
            <a:off x="1189080" y="2630519"/>
            <a:ext cx="3527280" cy="360360"/>
          </a:xfrm>
          <a:prstGeom prst="rect">
            <a:avLst/>
          </a:prstGeom>
          <a:noFill/>
          <a:ln w="9360">
            <a:solidFill>
              <a:srgbClr val="0000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857" name=""/>
          <p:cNvSpPr/>
          <p:nvPr/>
        </p:nvSpPr>
        <p:spPr bwMode="auto">
          <a:xfrm>
            <a:off x="1177920" y="2630519"/>
            <a:ext cx="3610080" cy="405720"/>
          </a:xfrm>
          <a:prstGeom prst="rect">
            <a:avLst/>
          </a:prstGeom>
          <a:noFill/>
          <a:ln w="0">
            <a:noFill/>
          </a:ln>
        </p:spPr>
        <p:style>
          <a:lnRef idx="0"/>
          <a:fillRef idx="0"/>
          <a:effectRef idx="0"/>
          <a:fontRef idx="minor"/>
        </p:style>
        <p:txBody>
          <a:bodyPr lIns="90000" tIns="46800" rIns="90000" bIns="46800" anchor="t">
            <a:spAutoFit/>
          </a:bodyPr>
          <a:p>
            <a:pPr marL="343080" indent="-343080">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Tahoma"/>
              </a:rPr>
              <a:t>(x</a:t>
            </a:r>
            <a:r>
              <a:rPr lang="en-US" sz="1800" b="0" strike="noStrike" spc="-1" baseline="30000">
                <a:solidFill>
                  <a:srgbClr val="000000"/>
                </a:solidFill>
                <a:latin typeface="Tahoma"/>
              </a:rPr>
              <a:t>2</a:t>
            </a:r>
            <a:r>
              <a:rPr lang="en-US" sz="1800" b="0" strike="noStrike" spc="-1" baseline="-25000">
                <a:solidFill>
                  <a:srgbClr val="000000"/>
                </a:solidFill>
                <a:latin typeface="Tahoma"/>
              </a:rPr>
              <a:t>1</a:t>
            </a:r>
            <a:r>
              <a:rPr lang="en-US" sz="1800" b="0" strike="noStrike" spc="-1">
                <a:solidFill>
                  <a:srgbClr val="000000"/>
                </a:solidFill>
                <a:latin typeface="Tahoma"/>
              </a:rPr>
              <a:t>, r</a:t>
            </a:r>
            <a:r>
              <a:rPr lang="en-US" sz="1800" b="0" strike="noStrike" spc="-1" baseline="30000">
                <a:solidFill>
                  <a:srgbClr val="000000"/>
                </a:solidFill>
                <a:latin typeface="Tahoma"/>
              </a:rPr>
              <a:t>2</a:t>
            </a:r>
            <a:r>
              <a:rPr lang="en-US" sz="1800" b="0" strike="noStrike" spc="-1" baseline="-25000">
                <a:solidFill>
                  <a:srgbClr val="000000"/>
                </a:solidFill>
                <a:latin typeface="Tahoma"/>
              </a:rPr>
              <a:t>1</a:t>
            </a:r>
            <a:r>
              <a:rPr lang="en-US" sz="1800" b="0" strike="noStrike" spc="-1">
                <a:solidFill>
                  <a:srgbClr val="000000"/>
                </a:solidFill>
                <a:latin typeface="Tahoma"/>
              </a:rPr>
              <a:t>), (x</a:t>
            </a:r>
            <a:r>
              <a:rPr lang="en-US" sz="1800" b="0" strike="noStrike" spc="-1" baseline="30000">
                <a:solidFill>
                  <a:srgbClr val="000000"/>
                </a:solidFill>
                <a:latin typeface="Tahoma"/>
              </a:rPr>
              <a:t>2</a:t>
            </a:r>
            <a:r>
              <a:rPr lang="en-US" sz="1800" b="0" strike="noStrike" spc="-1" baseline="-25000">
                <a:solidFill>
                  <a:srgbClr val="000000"/>
                </a:solidFill>
                <a:latin typeface="Tahoma"/>
              </a:rPr>
              <a:t>2</a:t>
            </a:r>
            <a:r>
              <a:rPr lang="en-US" sz="1800" b="0" strike="noStrike" spc="-1">
                <a:solidFill>
                  <a:srgbClr val="000000"/>
                </a:solidFill>
                <a:latin typeface="Tahoma"/>
              </a:rPr>
              <a:t>, r</a:t>
            </a:r>
            <a:r>
              <a:rPr lang="en-US" sz="1800" b="0" strike="noStrike" spc="-1" baseline="30000">
                <a:solidFill>
                  <a:srgbClr val="000000"/>
                </a:solidFill>
                <a:latin typeface="Tahoma"/>
              </a:rPr>
              <a:t>2</a:t>
            </a:r>
            <a:r>
              <a:rPr lang="en-US" sz="1800" b="0" strike="noStrike" spc="-1" baseline="-25000">
                <a:solidFill>
                  <a:srgbClr val="000000"/>
                </a:solidFill>
                <a:latin typeface="Tahoma"/>
              </a:rPr>
              <a:t>2</a:t>
            </a:r>
            <a:r>
              <a:rPr lang="en-US" sz="1800" b="0" strike="noStrike" spc="-1">
                <a:solidFill>
                  <a:srgbClr val="000000"/>
                </a:solidFill>
                <a:latin typeface="Tahoma"/>
              </a:rPr>
              <a:t>), … , (x</a:t>
            </a:r>
            <a:r>
              <a:rPr lang="en-US" sz="1800" b="0" strike="noStrike" spc="-1" baseline="30000">
                <a:solidFill>
                  <a:srgbClr val="000000"/>
                </a:solidFill>
                <a:latin typeface="Tahoma"/>
              </a:rPr>
              <a:t>2</a:t>
            </a:r>
            <a:r>
              <a:rPr lang="en-US" sz="1800" b="0" strike="noStrike" spc="-1" baseline="-25000">
                <a:solidFill>
                  <a:srgbClr val="000000"/>
                </a:solidFill>
                <a:latin typeface="Tahoma"/>
              </a:rPr>
              <a:t>k</a:t>
            </a:r>
            <a:r>
              <a:rPr lang="en-US" sz="1800" b="0" strike="noStrike" spc="-1">
                <a:solidFill>
                  <a:srgbClr val="000000"/>
                </a:solidFill>
                <a:latin typeface="Tahoma"/>
              </a:rPr>
              <a:t>, r</a:t>
            </a:r>
            <a:r>
              <a:rPr lang="en-US" sz="1800" b="0" strike="noStrike" spc="-1" baseline="30000">
                <a:solidFill>
                  <a:srgbClr val="000000"/>
                </a:solidFill>
                <a:latin typeface="Tahoma"/>
              </a:rPr>
              <a:t>2</a:t>
            </a:r>
            <a:r>
              <a:rPr lang="en-US" sz="1800" b="0" strike="noStrike" spc="-1" baseline="-25000">
                <a:solidFill>
                  <a:srgbClr val="000000"/>
                </a:solidFill>
                <a:latin typeface="Tahoma"/>
              </a:rPr>
              <a:t>n</a:t>
            </a:r>
            <a:r>
              <a:rPr lang="en-US" sz="1800" b="0" strike="noStrike" spc="-1">
                <a:solidFill>
                  <a:srgbClr val="000000"/>
                </a:solidFill>
                <a:latin typeface="Tahoma"/>
              </a:rPr>
              <a:t>)</a:t>
            </a:r>
            <a:endParaRPr lang="en-US" sz="1800" b="0" strike="noStrike" spc="-1">
              <a:solidFill>
                <a:srgbClr val="000000"/>
              </a:solidFill>
              <a:latin typeface="Arial"/>
            </a:endParaRPr>
          </a:p>
        </p:txBody>
      </p:sp>
      <p:sp>
        <p:nvSpPr>
          <p:cNvPr id="858" name=""/>
          <p:cNvSpPr/>
          <p:nvPr/>
        </p:nvSpPr>
        <p:spPr bwMode="auto">
          <a:xfrm>
            <a:off x="234000" y="2533680"/>
            <a:ext cx="1232640" cy="510120"/>
          </a:xfrm>
          <a:prstGeom prst="rect">
            <a:avLst/>
          </a:prstGeom>
          <a:noFill/>
          <a:ln w="0">
            <a:noFill/>
          </a:ln>
        </p:spPr>
        <p:style>
          <a:lnRef idx="0"/>
          <a:fillRef idx="0"/>
          <a:effectRef idx="0"/>
          <a:fontRef idx="minor"/>
        </p:style>
        <p:txBody>
          <a:bodyPr wrap="none" lIns="90000" tIns="46800" rIns="90000" bIns="46800" anchor="t">
            <a:spAutoFit/>
          </a:bodyPr>
          <a:p>
            <a:pPr marL="343080" indent="-343080">
              <a:lnSpc>
                <a:spcPct val="100000"/>
              </a:lnSpc>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l-GR" sz="2400" b="0" strike="noStrike" spc="-1">
                <a:solidFill>
                  <a:srgbClr val="000000"/>
                </a:solidFill>
                <a:latin typeface="Tahoma"/>
                <a:ea typeface="Tahoma"/>
              </a:rPr>
              <a:t>ω</a:t>
            </a:r>
            <a:r>
              <a:rPr lang="en-US" sz="2400" b="0" strike="noStrike" spc="-1" baseline="-25000">
                <a:solidFill>
                  <a:srgbClr val="000000"/>
                </a:solidFill>
                <a:latin typeface="Tahoma"/>
                <a:ea typeface="Tahoma"/>
              </a:rPr>
              <a:t>2</a:t>
            </a:r>
            <a:endParaRPr lang="en-US" sz="2400" b="0" strike="noStrike" spc="-1">
              <a:solidFill>
                <a:srgbClr val="000000"/>
              </a:solidFill>
              <a:latin typeface="Arial"/>
            </a:endParaRPr>
          </a:p>
        </p:txBody>
      </p:sp>
      <p:sp>
        <p:nvSpPr>
          <p:cNvPr id="859" name=""/>
          <p:cNvSpPr/>
          <p:nvPr/>
        </p:nvSpPr>
        <p:spPr bwMode="auto">
          <a:xfrm>
            <a:off x="1189080" y="3567240"/>
            <a:ext cx="3527280" cy="360360"/>
          </a:xfrm>
          <a:prstGeom prst="rect">
            <a:avLst/>
          </a:prstGeom>
          <a:noFill/>
          <a:ln w="9360">
            <a:solidFill>
              <a:srgbClr val="0000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860" name=""/>
          <p:cNvSpPr/>
          <p:nvPr/>
        </p:nvSpPr>
        <p:spPr bwMode="auto">
          <a:xfrm>
            <a:off x="1177920" y="3567240"/>
            <a:ext cx="3754440" cy="405720"/>
          </a:xfrm>
          <a:prstGeom prst="rect">
            <a:avLst/>
          </a:prstGeom>
          <a:noFill/>
          <a:ln w="0">
            <a:noFill/>
          </a:ln>
        </p:spPr>
        <p:style>
          <a:lnRef idx="0"/>
          <a:fillRef idx="0"/>
          <a:effectRef idx="0"/>
          <a:fontRef idx="minor"/>
        </p:style>
        <p:txBody>
          <a:bodyPr lIns="90000" tIns="46800" rIns="90000" bIns="46800" anchor="t">
            <a:spAutoFit/>
          </a:bodyPr>
          <a:p>
            <a:pPr marL="343080" indent="-343080">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Tahoma"/>
              </a:rPr>
              <a:t>(x</a:t>
            </a:r>
            <a:r>
              <a:rPr lang="en-US" sz="1800" b="0" strike="noStrike" spc="-1" baseline="30000">
                <a:solidFill>
                  <a:srgbClr val="000000"/>
                </a:solidFill>
                <a:latin typeface="Tahoma"/>
              </a:rPr>
              <a:t>m</a:t>
            </a:r>
            <a:r>
              <a:rPr lang="en-US" sz="1800" b="0" strike="noStrike" spc="-1" baseline="-25000">
                <a:solidFill>
                  <a:srgbClr val="000000"/>
                </a:solidFill>
                <a:latin typeface="Tahoma"/>
              </a:rPr>
              <a:t>1</a:t>
            </a:r>
            <a:r>
              <a:rPr lang="en-US" sz="1800" b="0" strike="noStrike" spc="-1">
                <a:solidFill>
                  <a:srgbClr val="000000"/>
                </a:solidFill>
                <a:latin typeface="Tahoma"/>
              </a:rPr>
              <a:t>, r</a:t>
            </a:r>
            <a:r>
              <a:rPr lang="en-US" sz="1800" b="0" strike="noStrike" spc="-1" baseline="30000">
                <a:solidFill>
                  <a:srgbClr val="000000"/>
                </a:solidFill>
                <a:latin typeface="Tahoma"/>
              </a:rPr>
              <a:t>m</a:t>
            </a:r>
            <a:r>
              <a:rPr lang="en-US" sz="1800" b="0" strike="noStrike" spc="-1" baseline="-25000">
                <a:solidFill>
                  <a:srgbClr val="000000"/>
                </a:solidFill>
                <a:latin typeface="Tahoma"/>
              </a:rPr>
              <a:t>1</a:t>
            </a:r>
            <a:r>
              <a:rPr lang="en-US" sz="1800" b="0" strike="noStrike" spc="-1">
                <a:solidFill>
                  <a:srgbClr val="000000"/>
                </a:solidFill>
                <a:latin typeface="Tahoma"/>
              </a:rPr>
              <a:t>), (x</a:t>
            </a:r>
            <a:r>
              <a:rPr lang="en-US" sz="1800" b="0" strike="noStrike" spc="-1" baseline="30000">
                <a:solidFill>
                  <a:srgbClr val="000000"/>
                </a:solidFill>
                <a:latin typeface="Tahoma"/>
              </a:rPr>
              <a:t>m</a:t>
            </a:r>
            <a:r>
              <a:rPr lang="en-US" sz="1800" b="0" strike="noStrike" spc="-1" baseline="-25000">
                <a:solidFill>
                  <a:srgbClr val="000000"/>
                </a:solidFill>
                <a:latin typeface="Tahoma"/>
              </a:rPr>
              <a:t>2</a:t>
            </a:r>
            <a:r>
              <a:rPr lang="en-US" sz="1800" b="0" strike="noStrike" spc="-1">
                <a:solidFill>
                  <a:srgbClr val="000000"/>
                </a:solidFill>
                <a:latin typeface="Tahoma"/>
              </a:rPr>
              <a:t>, r</a:t>
            </a:r>
            <a:r>
              <a:rPr lang="en-US" sz="1800" b="0" strike="noStrike" spc="-1" baseline="30000">
                <a:solidFill>
                  <a:srgbClr val="000000"/>
                </a:solidFill>
                <a:latin typeface="Tahoma"/>
              </a:rPr>
              <a:t>m</a:t>
            </a:r>
            <a:r>
              <a:rPr lang="en-US" sz="1800" b="0" strike="noStrike" spc="-1" baseline="-25000">
                <a:solidFill>
                  <a:srgbClr val="000000"/>
                </a:solidFill>
                <a:latin typeface="Tahoma"/>
              </a:rPr>
              <a:t>2</a:t>
            </a:r>
            <a:r>
              <a:rPr lang="en-US" sz="1800" b="0" strike="noStrike" spc="-1">
                <a:solidFill>
                  <a:srgbClr val="000000"/>
                </a:solidFill>
                <a:latin typeface="Tahoma"/>
              </a:rPr>
              <a:t>), … , (x</a:t>
            </a:r>
            <a:r>
              <a:rPr lang="en-US" sz="1800" b="0" strike="noStrike" spc="-1" baseline="30000">
                <a:solidFill>
                  <a:srgbClr val="000000"/>
                </a:solidFill>
                <a:latin typeface="Tahoma"/>
              </a:rPr>
              <a:t>m</a:t>
            </a:r>
            <a:r>
              <a:rPr lang="en-US" sz="1800" b="0" strike="noStrike" spc="-1" baseline="-25000">
                <a:solidFill>
                  <a:srgbClr val="000000"/>
                </a:solidFill>
                <a:latin typeface="Tahoma"/>
              </a:rPr>
              <a:t>l</a:t>
            </a:r>
            <a:r>
              <a:rPr lang="en-US" sz="1800" b="0" strike="noStrike" spc="-1">
                <a:solidFill>
                  <a:srgbClr val="000000"/>
                </a:solidFill>
                <a:latin typeface="Tahoma"/>
              </a:rPr>
              <a:t>, r</a:t>
            </a:r>
            <a:r>
              <a:rPr lang="en-US" sz="1800" b="0" strike="noStrike" spc="-1" baseline="30000">
                <a:solidFill>
                  <a:srgbClr val="000000"/>
                </a:solidFill>
                <a:latin typeface="Tahoma"/>
              </a:rPr>
              <a:t>m</a:t>
            </a:r>
            <a:r>
              <a:rPr lang="en-US" sz="1800" b="0" strike="noStrike" spc="-1" baseline="-25000">
                <a:solidFill>
                  <a:srgbClr val="000000"/>
                </a:solidFill>
                <a:latin typeface="Tahoma"/>
              </a:rPr>
              <a:t>l</a:t>
            </a:r>
            <a:r>
              <a:rPr lang="en-US" sz="1800" b="0" strike="noStrike" spc="-1">
                <a:solidFill>
                  <a:srgbClr val="000000"/>
                </a:solidFill>
                <a:latin typeface="Tahoma"/>
              </a:rPr>
              <a:t>)</a:t>
            </a:r>
            <a:endParaRPr lang="en-US" sz="1800" b="0" strike="noStrike" spc="-1">
              <a:solidFill>
                <a:srgbClr val="000000"/>
              </a:solidFill>
              <a:latin typeface="Arial"/>
            </a:endParaRPr>
          </a:p>
        </p:txBody>
      </p:sp>
      <p:sp>
        <p:nvSpPr>
          <p:cNvPr id="861" name=""/>
          <p:cNvSpPr/>
          <p:nvPr/>
        </p:nvSpPr>
        <p:spPr bwMode="auto">
          <a:xfrm>
            <a:off x="234360" y="3470400"/>
            <a:ext cx="1292040" cy="510120"/>
          </a:xfrm>
          <a:prstGeom prst="rect">
            <a:avLst/>
          </a:prstGeom>
          <a:noFill/>
          <a:ln w="0">
            <a:noFill/>
          </a:ln>
        </p:spPr>
        <p:style>
          <a:lnRef idx="0"/>
          <a:fillRef idx="0"/>
          <a:effectRef idx="0"/>
          <a:fontRef idx="minor"/>
        </p:style>
        <p:txBody>
          <a:bodyPr wrap="none" lIns="90000" tIns="46800" rIns="90000" bIns="46800" anchor="t">
            <a:spAutoFit/>
          </a:bodyPr>
          <a:p>
            <a:pPr marL="343080" indent="-343080">
              <a:lnSpc>
                <a:spcPct val="100000"/>
              </a:lnSpc>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l-GR" sz="2400" b="0" strike="noStrike" spc="-1">
                <a:solidFill>
                  <a:srgbClr val="000000"/>
                </a:solidFill>
                <a:latin typeface="Tahoma"/>
                <a:ea typeface="Tahoma"/>
              </a:rPr>
              <a:t>ω</a:t>
            </a:r>
            <a:r>
              <a:rPr lang="en-US" sz="2400" b="0" strike="noStrike" spc="-1" baseline="-25000">
                <a:solidFill>
                  <a:srgbClr val="000000"/>
                </a:solidFill>
                <a:latin typeface="Tahoma"/>
                <a:ea typeface="Tahoma"/>
              </a:rPr>
              <a:t>m</a:t>
            </a:r>
            <a:endParaRPr lang="en-US" sz="2400" b="0" strike="noStrike" spc="-1">
              <a:solidFill>
                <a:srgbClr val="000000"/>
              </a:solidFill>
              <a:latin typeface="Arial"/>
            </a:endParaRPr>
          </a:p>
        </p:txBody>
      </p:sp>
      <p:sp>
        <p:nvSpPr>
          <p:cNvPr id="862" name=""/>
          <p:cNvSpPr/>
          <p:nvPr/>
        </p:nvSpPr>
        <p:spPr bwMode="auto">
          <a:xfrm>
            <a:off x="2042280" y="2997360"/>
            <a:ext cx="1171800" cy="459720"/>
          </a:xfrm>
          <a:prstGeom prst="rect">
            <a:avLst/>
          </a:prstGeom>
          <a:noFill/>
          <a:ln w="0">
            <a:noFill/>
          </a:ln>
        </p:spPr>
        <p:style>
          <a:lnRef idx="0"/>
          <a:fillRef idx="0"/>
          <a:effectRef idx="0"/>
          <a:fontRef idx="minor"/>
        </p:style>
        <p:txBody>
          <a:bodyPr wrap="none" lIns="90000" tIns="46800" rIns="90000" bIns="46800" anchor="t">
            <a:spAutoFit/>
          </a:bodyPr>
          <a:p>
            <a:pPr marL="343080" indent="-343080">
              <a:lnSpc>
                <a:spcPct val="100000"/>
              </a:lnSpc>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Tahoma"/>
              </a:rPr>
              <a:t>…</a:t>
            </a:r>
            <a:endParaRPr lang="en-US" sz="2400" b="0" strike="noStrike" spc="-1">
              <a:solidFill>
                <a:srgbClr val="000000"/>
              </a:solidFill>
              <a:latin typeface="Arial"/>
            </a:endParaRPr>
          </a:p>
        </p:txBody>
      </p:sp>
      <p:sp>
        <p:nvSpPr>
          <p:cNvPr id="863" name=""/>
          <p:cNvSpPr/>
          <p:nvPr/>
        </p:nvSpPr>
        <p:spPr bwMode="auto">
          <a:xfrm>
            <a:off x="5148360" y="1989000"/>
            <a:ext cx="503280" cy="2016360"/>
          </a:xfrm>
          <a:custGeom>
            <a:avLst/>
            <a:gdLst>
              <a:gd name="textAreaLeft" fmla="*/ 0 w 503280"/>
              <a:gd name="textAreaRight" fmla="*/ 181800 w 503280"/>
              <a:gd name="textAreaTop" fmla="*/ 52560 h 2016360"/>
              <a:gd name="textAreaBottom" fmla="*/ 1963800 h 2016360"/>
            </a:gdLst>
            <a:ahLst/>
            <a:cxnLst/>
            <a:rect l="textAreaLeft" t="textAreaTop" r="textAreaRight" b="textAreaBottom"/>
            <a:pathLst>
              <a:path w="21600" h="21600" fill="norm" stroke="1" extrusionOk="0">
                <a:moveTo>
                  <a:pt x="0" y="0"/>
                </a:moveTo>
                <a:cubicBezTo>
                  <a:pt x="5400" y="0"/>
                  <a:pt x="10800" y="900"/>
                  <a:pt x="10800" y="1800"/>
                </a:cubicBezTo>
                <a:lnTo>
                  <a:pt x="10800" y="9000"/>
                </a:lnTo>
                <a:cubicBezTo>
                  <a:pt x="10800" y="9900"/>
                  <a:pt x="16200" y="10800"/>
                  <a:pt x="21600" y="10800"/>
                </a:cubicBezTo>
                <a:cubicBezTo>
                  <a:pt x="16200" y="10800"/>
                  <a:pt x="10800" y="11700"/>
                  <a:pt x="10800" y="12600"/>
                </a:cubicBezTo>
                <a:lnTo>
                  <a:pt x="10800" y="19800"/>
                </a:lnTo>
                <a:cubicBezTo>
                  <a:pt x="10800" y="20700"/>
                  <a:pt x="5400" y="21600"/>
                  <a:pt x="0" y="21600"/>
                </a:cubicBezTo>
              </a:path>
            </a:pathLst>
          </a:custGeom>
          <a:noFill/>
          <a:ln w="19080">
            <a:solidFill>
              <a:srgbClr val="0071B4"/>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864" name=""/>
          <p:cNvSpPr/>
          <p:nvPr/>
        </p:nvSpPr>
        <p:spPr bwMode="auto">
          <a:xfrm>
            <a:off x="5996880" y="2637000"/>
            <a:ext cx="1135080" cy="703440"/>
          </a:xfrm>
          <a:prstGeom prst="rect">
            <a:avLst/>
          </a:prstGeom>
          <a:noFill/>
          <a:ln w="0">
            <a:noFill/>
          </a:ln>
        </p:spPr>
        <p:style>
          <a:lnRef idx="0"/>
          <a:fillRef idx="0"/>
          <a:effectRef idx="0"/>
          <a:fontRef idx="minor"/>
        </p:style>
        <p:txBody>
          <a:bodyPr wrap="none" lIns="90000" tIns="46800" rIns="90000" bIns="46800" anchor="t">
            <a:spAutoFit/>
          </a:bodyPr>
          <a:p>
            <a:pPr marL="343080" indent="-343080">
              <a:lnSpc>
                <a:spcPct val="100000"/>
              </a:lnSpc>
              <a:spcBef>
                <a:spcPts val="10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4000" b="0" strike="noStrike" spc="-1">
                <a:solidFill>
                  <a:srgbClr val="0071B4"/>
                </a:solidFill>
                <a:latin typeface="Tahoma"/>
              </a:rPr>
              <a:t>?</a:t>
            </a:r>
            <a:endParaRPr lang="en-US" sz="4000" b="0" strike="noStrike" spc="-1">
              <a:solidFill>
                <a:srgbClr val="000000"/>
              </a:solidFill>
              <a:latin typeface="Arial"/>
            </a:endParaRPr>
          </a:p>
        </p:txBody>
      </p:sp>
      <p:sp>
        <p:nvSpPr>
          <p:cNvPr id="865" name=""/>
          <p:cNvSpPr/>
          <p:nvPr/>
        </p:nvSpPr>
        <p:spPr bwMode="auto">
          <a:xfrm>
            <a:off x="611280" y="4292640"/>
            <a:ext cx="7632720" cy="2160720"/>
          </a:xfrm>
          <a:prstGeom prst="rect">
            <a:avLst/>
          </a:prstGeom>
          <a:noFill/>
          <a:ln w="0">
            <a:noFill/>
          </a:ln>
        </p:spPr>
        <p:style>
          <a:lnRef idx="0"/>
          <a:fillRef idx="0"/>
          <a:effectRef idx="0"/>
          <a:fontRef idx="minor"/>
        </p:style>
        <p:txBody>
          <a:bodyPr lIns="0" tIns="0" rIns="0" bIns="0" anchor="t">
            <a:normAutofit/>
          </a:bodyPr>
          <a:p>
            <a:pPr marL="431640" indent="-323640">
              <a:lnSpc>
                <a:spcPct val="80000"/>
              </a:lnSpc>
              <a:spcBef>
                <a:spcPts val="750"/>
              </a:spcBef>
              <a:spcAft>
                <a:spcPts val="901"/>
              </a:spcAft>
              <a:tabLst>
                <a:tab pos="0" algn="l"/>
                <a:tab pos="723960" algn="l"/>
                <a:tab pos="1447920" algn="l"/>
                <a:tab pos="2171880" algn="l"/>
                <a:tab pos="2895480" algn="l"/>
                <a:tab pos="3619440" algn="l"/>
                <a:tab pos="4343400" algn="l"/>
                <a:tab pos="5067360" algn="l"/>
                <a:tab pos="5791320" algn="l"/>
                <a:tab pos="6515280" algn="l"/>
                <a:tab pos="7238880" algn="l"/>
                <a:tab pos="7962840" algn="l"/>
                <a:tab pos="8686800" algn="l"/>
                <a:tab pos="8985240" algn="l"/>
                <a:tab pos="9434520" algn="l"/>
                <a:tab pos="9883800" algn="l"/>
                <a:tab pos="10333079" algn="l"/>
                <a:tab pos="10782360" algn="l"/>
              </a:tabLst>
              <a:defRPr/>
            </a:pPr>
            <a:r>
              <a:rPr lang="en-US" sz="2400" b="0" strike="noStrike" spc="-1">
                <a:solidFill>
                  <a:srgbClr val="64B900"/>
                </a:solidFill>
                <a:latin typeface="Futura Bk"/>
                <a:ea typeface="Arial"/>
              </a:rPr>
              <a:t>Existing approaches in text retrieval</a:t>
            </a:r>
            <a:r>
              <a:rPr lang="ru-RU" sz="2400" b="0" strike="noStrike" spc="-1">
                <a:solidFill>
                  <a:srgbClr val="64B900"/>
                </a:solidFill>
                <a:latin typeface="Futura Bk"/>
                <a:ea typeface="Arial"/>
              </a:rPr>
              <a:t>:</a:t>
            </a:r>
            <a:endParaRPr lang="en-US" sz="2400" b="0" strike="noStrike" spc="-1">
              <a:solidFill>
                <a:srgbClr val="000000"/>
              </a:solidFill>
              <a:latin typeface="Arial"/>
            </a:endParaRPr>
          </a:p>
          <a:p>
            <a:pPr marL="431640" indent="-323640">
              <a:lnSpc>
                <a:spcPct val="80000"/>
              </a:lnSpc>
              <a:spcBef>
                <a:spcPts val="624"/>
              </a:spcBef>
              <a:spcAft>
                <a:spcPts val="249"/>
              </a:spcAft>
              <a:buClr>
                <a:srgbClr val="000000"/>
              </a:buClr>
              <a:buSzPct val="85000"/>
              <a:buFont typeface="Wingdings"/>
              <a:buChar char=""/>
              <a:tabLst>
                <a:tab pos="723960" algn="l"/>
                <a:tab pos="1447920" algn="l"/>
                <a:tab pos="2171880" algn="l"/>
                <a:tab pos="2895480" algn="l"/>
                <a:tab pos="3619440" algn="l"/>
                <a:tab pos="4343400" algn="l"/>
                <a:tab pos="5067360" algn="l"/>
                <a:tab pos="5791320" algn="l"/>
                <a:tab pos="6515280" algn="l"/>
                <a:tab pos="7238880" algn="l"/>
                <a:tab pos="7962840" algn="l"/>
                <a:tab pos="8686800" algn="l"/>
                <a:tab pos="8985240" algn="l"/>
                <a:tab pos="9434520" algn="l"/>
                <a:tab pos="9883800" algn="l"/>
                <a:tab pos="10333079" algn="l"/>
                <a:tab pos="10782360" algn="l"/>
              </a:tabLst>
              <a:defRPr/>
            </a:pPr>
            <a:r>
              <a:rPr lang="en-US" sz="2000" b="0" strike="noStrike" spc="-1">
                <a:solidFill>
                  <a:srgbClr val="000000"/>
                </a:solidFill>
                <a:latin typeface="Futura Bk"/>
                <a:ea typeface="Arial"/>
              </a:rPr>
              <a:t>CombMax, CombMin, CombSum</a:t>
            </a:r>
            <a:endParaRPr lang="en-US" sz="2000" b="0" strike="noStrike" spc="-1">
              <a:solidFill>
                <a:srgbClr val="000000"/>
              </a:solidFill>
              <a:latin typeface="Arial"/>
            </a:endParaRPr>
          </a:p>
          <a:p>
            <a:pPr marL="431640" indent="-323640">
              <a:lnSpc>
                <a:spcPct val="80000"/>
              </a:lnSpc>
              <a:spcBef>
                <a:spcPts val="624"/>
              </a:spcBef>
              <a:spcAft>
                <a:spcPts val="249"/>
              </a:spcAft>
              <a:buClr>
                <a:srgbClr val="000000"/>
              </a:buClr>
              <a:buSzPct val="85000"/>
              <a:buFont typeface="Wingdings"/>
              <a:buChar char=""/>
              <a:tabLst>
                <a:tab pos="723960" algn="l"/>
                <a:tab pos="1447920" algn="l"/>
                <a:tab pos="2171880" algn="l"/>
                <a:tab pos="2895480" algn="l"/>
                <a:tab pos="3619440" algn="l"/>
                <a:tab pos="4343400" algn="l"/>
                <a:tab pos="5067360" algn="l"/>
                <a:tab pos="5791320" algn="l"/>
                <a:tab pos="6515280" algn="l"/>
                <a:tab pos="7238880" algn="l"/>
                <a:tab pos="7962840" algn="l"/>
                <a:tab pos="8686800" algn="l"/>
                <a:tab pos="8985240" algn="l"/>
                <a:tab pos="9434520" algn="l"/>
                <a:tab pos="9883800" algn="l"/>
                <a:tab pos="10333079" algn="l"/>
                <a:tab pos="10782360" algn="l"/>
              </a:tabLst>
              <a:defRPr/>
            </a:pPr>
            <a:r>
              <a:rPr lang="en-GB" sz="2000" b="0" strike="noStrike" spc="-1">
                <a:solidFill>
                  <a:srgbClr val="000000"/>
                </a:solidFill>
                <a:latin typeface="Futura Bk"/>
                <a:ea typeface="Arial"/>
              </a:rPr>
              <a:t>CombAVG</a:t>
            </a:r>
            <a:endParaRPr lang="en-US" sz="2000" b="0" strike="noStrike" spc="-1">
              <a:solidFill>
                <a:srgbClr val="000000"/>
              </a:solidFill>
              <a:latin typeface="Arial"/>
            </a:endParaRPr>
          </a:p>
          <a:p>
            <a:pPr marL="431640" indent="-323640">
              <a:lnSpc>
                <a:spcPct val="80000"/>
              </a:lnSpc>
              <a:spcBef>
                <a:spcPts val="624"/>
              </a:spcBef>
              <a:spcAft>
                <a:spcPts val="249"/>
              </a:spcAft>
              <a:buClr>
                <a:srgbClr val="000000"/>
              </a:buClr>
              <a:buSzPct val="85000"/>
              <a:buFont typeface="Wingdings"/>
              <a:buChar char=""/>
              <a:tabLst>
                <a:tab pos="723960" algn="l"/>
                <a:tab pos="1447920" algn="l"/>
                <a:tab pos="2171880" algn="l"/>
                <a:tab pos="2895480" algn="l"/>
                <a:tab pos="3619440" algn="l"/>
                <a:tab pos="4343400" algn="l"/>
                <a:tab pos="5067360" algn="l"/>
                <a:tab pos="5791320" algn="l"/>
                <a:tab pos="6515280" algn="l"/>
                <a:tab pos="7238880" algn="l"/>
                <a:tab pos="7962840" algn="l"/>
                <a:tab pos="8686800" algn="l"/>
                <a:tab pos="8985240" algn="l"/>
                <a:tab pos="9434520" algn="l"/>
                <a:tab pos="9883800" algn="l"/>
                <a:tab pos="10333079" algn="l"/>
                <a:tab pos="10782360" algn="l"/>
              </a:tabLst>
              <a:defRPr/>
            </a:pPr>
            <a:r>
              <a:rPr lang="en-US" sz="2000" b="0" strike="noStrike" spc="-1">
                <a:solidFill>
                  <a:srgbClr val="64B900"/>
                </a:solidFill>
                <a:latin typeface="Futura Bk"/>
                <a:ea typeface="Arial"/>
              </a:rPr>
              <a:t>CombMNZ = CombSUM * number of nonzero similarities</a:t>
            </a:r>
            <a:endParaRPr lang="en-US" sz="2000" b="0" strike="noStrike" spc="-1">
              <a:solidFill>
                <a:srgbClr val="000000"/>
              </a:solidFill>
              <a:latin typeface="Arial"/>
            </a:endParaRPr>
          </a:p>
          <a:p>
            <a:pPr marL="431640" indent="-323640">
              <a:lnSpc>
                <a:spcPct val="80000"/>
              </a:lnSpc>
              <a:spcBef>
                <a:spcPts val="624"/>
              </a:spcBef>
              <a:spcAft>
                <a:spcPts val="249"/>
              </a:spcAft>
              <a:buClr>
                <a:srgbClr val="000000"/>
              </a:buClr>
              <a:buSzPct val="85000"/>
              <a:buFont typeface="Wingdings"/>
              <a:buChar char=""/>
              <a:tabLst>
                <a:tab pos="723960" algn="l"/>
                <a:tab pos="1447920" algn="l"/>
                <a:tab pos="2171880" algn="l"/>
                <a:tab pos="2895480" algn="l"/>
                <a:tab pos="3619440" algn="l"/>
                <a:tab pos="4343400" algn="l"/>
                <a:tab pos="5067360" algn="l"/>
                <a:tab pos="5791320" algn="l"/>
                <a:tab pos="6515280" algn="l"/>
                <a:tab pos="7238880" algn="l"/>
                <a:tab pos="7962840" algn="l"/>
                <a:tab pos="8686800" algn="l"/>
                <a:tab pos="8985240" algn="l"/>
                <a:tab pos="9434520" algn="l"/>
                <a:tab pos="9883800" algn="l"/>
                <a:tab pos="10333079" algn="l"/>
                <a:tab pos="10782360" algn="l"/>
              </a:tabLst>
              <a:defRPr/>
            </a:pPr>
            <a:r>
              <a:rPr lang="en-US" sz="2000" b="0" strike="noStrike" spc="-1">
                <a:solidFill>
                  <a:srgbClr val="000000"/>
                </a:solidFill>
                <a:latin typeface="Futura Bk"/>
                <a:ea typeface="Arial"/>
              </a:rPr>
              <a:t>ProbFuse</a:t>
            </a:r>
            <a:endParaRPr lang="en-US" sz="2000" b="0" strike="noStrike" spc="-1">
              <a:solidFill>
                <a:srgbClr val="000000"/>
              </a:solidFill>
              <a:latin typeface="Arial"/>
            </a:endParaRPr>
          </a:p>
          <a:p>
            <a:pPr marL="431640" indent="-323640">
              <a:lnSpc>
                <a:spcPct val="80000"/>
              </a:lnSpc>
              <a:spcBef>
                <a:spcPts val="624"/>
              </a:spcBef>
              <a:spcAft>
                <a:spcPts val="249"/>
              </a:spcAft>
              <a:buClr>
                <a:srgbClr val="000000"/>
              </a:buClr>
              <a:buSzPct val="85000"/>
              <a:buFont typeface="Wingdings"/>
              <a:buChar char=""/>
              <a:tabLst>
                <a:tab pos="723960" algn="l"/>
                <a:tab pos="1447920" algn="l"/>
                <a:tab pos="2171880" algn="l"/>
                <a:tab pos="2895480" algn="l"/>
                <a:tab pos="3619440" algn="l"/>
                <a:tab pos="4343400" algn="l"/>
                <a:tab pos="5067360" algn="l"/>
                <a:tab pos="5791320" algn="l"/>
                <a:tab pos="6515280" algn="l"/>
                <a:tab pos="7238880" algn="l"/>
                <a:tab pos="7962840" algn="l"/>
                <a:tab pos="8686800" algn="l"/>
                <a:tab pos="8985240" algn="l"/>
                <a:tab pos="9434520" algn="l"/>
                <a:tab pos="9883800" algn="l"/>
                <a:tab pos="10333079" algn="l"/>
                <a:tab pos="10782360" algn="l"/>
              </a:tabLst>
              <a:defRPr/>
            </a:pPr>
            <a:r>
              <a:rPr lang="en-US" sz="2000" b="0" strike="noStrike" spc="-1">
                <a:solidFill>
                  <a:srgbClr val="000000"/>
                </a:solidFill>
                <a:latin typeface="Futura Bk"/>
                <a:ea typeface="Arial"/>
              </a:rPr>
              <a:t>HSC3D</a:t>
            </a:r>
            <a:endParaRPr lang="en-US" sz="20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866" name="PlaceHolder 1"/>
          <p:cNvSpPr>
            <a:spLocks noGrp="1"/>
          </p:cNvSpPr>
          <p:nvPr>
            <p:ph type="title"/>
          </p:nvPr>
        </p:nvSpPr>
        <p:spPr bwMode="auto">
          <a:xfrm>
            <a:off x="576360" y="333360"/>
            <a:ext cx="8229600" cy="812879"/>
          </a:xfrm>
          <a:prstGeom prst="rect">
            <a:avLst/>
          </a:prstGeom>
          <a:noFill/>
          <a:ln w="0">
            <a:noFill/>
          </a:ln>
        </p:spPr>
        <p:txBody>
          <a:bodyPr lIns="0" tIns="0" rIns="0" bIns="0" anchor="ctr">
            <a:noAutofit/>
          </a:bodyPr>
          <a:p>
            <a:pPr indent="0">
              <a:lnSpc>
                <a:spcPct val="101000"/>
              </a:lnSpc>
              <a:spcBef>
                <a:spcPts val="1001"/>
              </a:spcBef>
              <a:buNone/>
              <a:tabLst>
                <a:tab pos="0" algn="l"/>
                <a:tab pos="723960" algn="l"/>
                <a:tab pos="1447920" algn="l"/>
                <a:tab pos="2171880" algn="l"/>
                <a:tab pos="2895480" algn="l"/>
                <a:tab pos="3619440" algn="l"/>
                <a:tab pos="4343400" algn="l"/>
                <a:tab pos="5067360" algn="l"/>
                <a:tab pos="5791320" algn="l"/>
                <a:tab pos="6515280" algn="l"/>
                <a:tab pos="7238880" algn="l"/>
                <a:tab pos="7962840" algn="l"/>
                <a:tab pos="8686800" algn="l"/>
                <a:tab pos="8985240" algn="l"/>
                <a:tab pos="9434520" algn="l"/>
                <a:tab pos="9883800" algn="l"/>
                <a:tab pos="10333079" algn="l"/>
                <a:tab pos="10782360" algn="l"/>
              </a:tabLst>
              <a:defRPr/>
            </a:pPr>
            <a:r>
              <a:rPr lang="en-US" sz="3200" b="0" strike="noStrike" spc="-1">
                <a:solidFill>
                  <a:srgbClr val="000000"/>
                </a:solidFill>
                <a:latin typeface="Futura Bk"/>
              </a:rPr>
              <a:t>Fusion function: properties</a:t>
            </a:r>
            <a:endParaRPr lang="en-US" sz="3200" b="0" strike="noStrike" spc="-1">
              <a:solidFill>
                <a:srgbClr val="000000"/>
              </a:solidFill>
              <a:latin typeface="Futura Bk"/>
            </a:endParaRPr>
          </a:p>
        </p:txBody>
      </p:sp>
      <p:sp>
        <p:nvSpPr>
          <p:cNvPr id="867" name=""/>
          <p:cNvSpPr/>
          <p:nvPr/>
        </p:nvSpPr>
        <p:spPr bwMode="auto">
          <a:xfrm>
            <a:off x="0" y="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868" name=""/>
          <p:cNvSpPr txBox="1"/>
          <p:nvPr/>
        </p:nvSpPr>
        <p:spPr bwMode="auto">
          <a:xfrm>
            <a:off x="900000" y="3284640"/>
            <a:ext cx="6336000" cy="45072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r>
                        <m:rPr>
                          <m:lit m:val="on"/>
                          <m:nor m:val="on"/>
                        </m:rPr>
                        <a:rPr/>
                        <m:t>min</m:t>
                      </m:r>
                    </m:oMath>
                  </m:oMathPara>
                </a14:m>
              </mc:Choice>
              <mc:Fallback/>
            </mc:AlternateContent>
            <a:endParaRPr/>
          </a:p>
        </p:txBody>
      </p:sp>
      <p:sp>
        <p:nvSpPr>
          <p:cNvPr id="869" name=""/>
          <p:cNvSpPr/>
          <p:nvPr/>
        </p:nvSpPr>
        <p:spPr bwMode="auto">
          <a:xfrm>
            <a:off x="468360" y="1413000"/>
            <a:ext cx="8280360" cy="4415760"/>
          </a:xfrm>
          <a:prstGeom prst="rect">
            <a:avLst/>
          </a:prstGeom>
          <a:noFill/>
          <a:ln w="0">
            <a:noFill/>
          </a:ln>
        </p:spPr>
        <p:style>
          <a:lnRef idx="0"/>
          <a:fillRef idx="0"/>
          <a:effectRef idx="0"/>
          <a:fontRef idx="minor"/>
        </p:style>
        <p:txBody>
          <a:bodyPr lIns="90000" tIns="46800" rIns="90000" bIns="46800" anchor="t">
            <a:spAutoFit/>
          </a:bodyPr>
          <a:p>
            <a:pPr marL="343080" indent="-343080">
              <a:lnSpc>
                <a:spcPct val="110000"/>
              </a:lnSpc>
              <a:spcBef>
                <a:spcPts val="1250"/>
              </a:spcBef>
              <a:buClr>
                <a:srgbClr val="000000"/>
              </a:buClr>
              <a:buFont typeface="Tahoma"/>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Tahoma"/>
              </a:rPr>
              <a:t>Depend on both weight and rank</a:t>
            </a:r>
            <a:endParaRPr lang="en-US" sz="2000" b="0" strike="noStrike" spc="-1">
              <a:solidFill>
                <a:srgbClr val="000000"/>
              </a:solidFill>
              <a:latin typeface="Arial"/>
            </a:endParaRPr>
          </a:p>
          <a:p>
            <a:pPr marL="343080" indent="-343080">
              <a:lnSpc>
                <a:spcPct val="110000"/>
              </a:lnSpc>
              <a:spcBef>
                <a:spcPts val="1250"/>
              </a:spcBef>
              <a:buClr>
                <a:srgbClr val="000000"/>
              </a:buClr>
              <a:buFont typeface="Tahoma"/>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Tahoma"/>
              </a:rPr>
              <a:t>Symmetric</a:t>
            </a:r>
            <a:endParaRPr lang="en-US" sz="2000" b="0" strike="noStrike" spc="-1">
              <a:solidFill>
                <a:srgbClr val="000000"/>
              </a:solidFill>
              <a:latin typeface="Arial"/>
            </a:endParaRPr>
          </a:p>
          <a:p>
            <a:pPr marL="343080" indent="-343080">
              <a:lnSpc>
                <a:spcPct val="110000"/>
              </a:lnSpc>
              <a:spcBef>
                <a:spcPts val="1250"/>
              </a:spcBef>
              <a:buClr>
                <a:srgbClr val="000000"/>
              </a:buClr>
              <a:buFont typeface="Tahoma"/>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Tahoma"/>
              </a:rPr>
              <a:t>Monotony by weight and rank</a:t>
            </a:r>
            <a:endParaRPr lang="en-US" sz="2000" b="0" strike="noStrike" spc="-1">
              <a:solidFill>
                <a:srgbClr val="000000"/>
              </a:solidFill>
              <a:latin typeface="Arial"/>
            </a:endParaRPr>
          </a:p>
          <a:p>
            <a:pPr marL="343080" indent="-343080">
              <a:lnSpc>
                <a:spcPct val="110000"/>
              </a:lnSpc>
              <a:spcBef>
                <a:spcPts val="1250"/>
              </a:spcBef>
              <a:buClr>
                <a:srgbClr val="000000"/>
              </a:buClr>
              <a:buFont typeface="Tahoma"/>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2000" b="0" strike="noStrike" spc="-1">
                <a:solidFill>
                  <a:srgbClr val="000000"/>
                </a:solidFill>
                <a:latin typeface="Tahoma"/>
              </a:rPr>
              <a:t>MinMax </a:t>
            </a:r>
            <a:r>
              <a:rPr lang="en-US" sz="2000" b="0" strike="noStrike" spc="-1">
                <a:solidFill>
                  <a:srgbClr val="000000"/>
                </a:solidFill>
                <a:latin typeface="Tahoma"/>
              </a:rPr>
              <a:t>condition</a:t>
            </a:r>
            <a:r>
              <a:rPr lang="ru-RU" sz="2000" b="0" strike="noStrike" spc="-1">
                <a:solidFill>
                  <a:srgbClr val="000000"/>
                </a:solidFill>
                <a:latin typeface="Tahoma"/>
              </a:rPr>
              <a:t> /Comb</a:t>
            </a:r>
            <a:r>
              <a:rPr lang="en-US" sz="2000" b="0" strike="noStrike" spc="-1">
                <a:solidFill>
                  <a:srgbClr val="000000"/>
                </a:solidFill>
                <a:latin typeface="Tahoma"/>
              </a:rPr>
              <a:t>Min</a:t>
            </a:r>
            <a:r>
              <a:rPr lang="ru-RU" sz="2000" b="0" strike="noStrike" spc="-1">
                <a:solidFill>
                  <a:srgbClr val="000000"/>
                </a:solidFill>
                <a:latin typeface="Tahoma"/>
              </a:rPr>
              <a:t>, CombMax</a:t>
            </a:r>
            <a:r>
              <a:rPr lang="en-US" sz="2000" b="0" strike="noStrike" spc="-1">
                <a:solidFill>
                  <a:srgbClr val="000000"/>
                </a:solidFill>
                <a:latin typeface="Tahoma"/>
              </a:rPr>
              <a:t>, CombAVG</a:t>
            </a:r>
            <a:r>
              <a:rPr lang="ru-RU" sz="2000" b="0" strike="noStrike" spc="-1">
                <a:solidFill>
                  <a:srgbClr val="000000"/>
                </a:solidFill>
                <a:latin typeface="Tahoma"/>
              </a:rPr>
              <a:t>/:</a:t>
            </a:r>
            <a:br>
              <a:rPr sz="2000"/>
            </a:br>
            <a:br>
              <a:rPr sz="2000"/>
            </a:br>
            <a:r>
              <a:rPr lang="en-US" sz="2000" b="0" strike="noStrike" spc="-1">
                <a:solidFill>
                  <a:srgbClr val="000000"/>
                </a:solidFill>
                <a:latin typeface="Tahoma"/>
              </a:rPr>
              <a:t> </a:t>
            </a:r>
            <a:endParaRPr lang="en-US" sz="2000" b="0" strike="noStrike" spc="-1">
              <a:solidFill>
                <a:srgbClr val="000000"/>
              </a:solidFill>
              <a:latin typeface="Arial"/>
            </a:endParaRPr>
          </a:p>
          <a:p>
            <a:pPr marL="343080" indent="-343080">
              <a:lnSpc>
                <a:spcPct val="110000"/>
              </a:lnSpc>
              <a:spcBef>
                <a:spcPts val="1250"/>
              </a:spcBef>
              <a:buClr>
                <a:srgbClr val="000000"/>
              </a:buClr>
              <a:buFont typeface="Tahoma"/>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Tahoma"/>
              </a:rPr>
              <a:t>Additional property –  “conic” property: non-linear dependency from weight and rank; high weight, high rank – influence bigger to the result than several inputs with low weight, low rank.</a:t>
            </a:r>
            <a:br>
              <a:rPr sz="2000"/>
            </a:br>
            <a:r>
              <a:rPr lang="en-US" sz="2000" b="0" strike="noStrike" spc="-1">
                <a:solidFill>
                  <a:srgbClr val="000000"/>
                </a:solidFill>
                <a:latin typeface="Tahoma"/>
              </a:rPr>
              <a:t> </a:t>
            </a:r>
            <a:endParaRPr lang="en-US" sz="2000" b="0" strike="noStrike" spc="-1">
              <a:solidFill>
                <a:srgbClr val="000000"/>
              </a:solidFill>
              <a:latin typeface="Arial"/>
            </a:endParaRPr>
          </a:p>
        </p:txBody>
      </p:sp>
      <p:pic>
        <p:nvPicPr>
          <p:cNvPr id="870" name="" descr=""/>
          <p:cNvPicPr/>
          <p:nvPr/>
        </p:nvPicPr>
        <p:blipFill>
          <a:blip r:embed="rId2"/>
          <a:srcRect l="1902" t="0" r="4930" b="0"/>
          <a:stretch/>
        </p:blipFill>
        <p:spPr bwMode="auto">
          <a:xfrm>
            <a:off x="876240" y="5157720"/>
            <a:ext cx="7367760" cy="820800"/>
          </a:xfrm>
          <a:prstGeom prst="rect">
            <a:avLst/>
          </a:prstGeom>
          <a:ln w="0">
            <a:noFill/>
          </a:ln>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871" name="PlaceHolder 1"/>
          <p:cNvSpPr>
            <a:spLocks noGrp="1"/>
          </p:cNvSpPr>
          <p:nvPr>
            <p:ph/>
          </p:nvPr>
        </p:nvSpPr>
        <p:spPr bwMode="auto">
          <a:xfrm>
            <a:off x="399960" y="1447560"/>
            <a:ext cx="8274240" cy="4491000"/>
          </a:xfrm>
          <a:prstGeom prst="rect">
            <a:avLst/>
          </a:prstGeom>
          <a:noFill/>
          <a:ln w="0">
            <a:noFill/>
          </a:ln>
        </p:spPr>
        <p:txBody>
          <a:bodyPr lIns="0" tIns="0" rIns="0" bIns="0" anchor="t">
            <a:normAutofit/>
          </a:bodyPr>
          <a:p>
            <a:pPr marL="228600" indent="-228600">
              <a:lnSpc>
                <a:spcPct val="90000"/>
              </a:lnSpc>
              <a:spcBef>
                <a:spcPts val="624"/>
              </a:spcBef>
              <a:spcAft>
                <a:spcPts val="249"/>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Futura Bk"/>
              </a:rPr>
              <a:t>   </a:t>
            </a:r>
            <a:r>
              <a:rPr lang="ru-RU" sz="2000" b="0" strike="noStrike" spc="-1">
                <a:solidFill>
                  <a:srgbClr val="000000"/>
                </a:solidFill>
                <a:latin typeface="Futura Bk"/>
              </a:rPr>
              <a:t>CombAVG</a:t>
            </a:r>
            <a:r>
              <a:rPr lang="en-US" sz="2000" b="0" strike="noStrike" spc="-1">
                <a:solidFill>
                  <a:srgbClr val="000000"/>
                </a:solidFill>
                <a:latin typeface="Futura Bk"/>
              </a:rPr>
              <a:t> as a base, but use gravitation function instead of weight</a:t>
            </a:r>
            <a:r>
              <a:rPr lang="ru-RU" sz="2000" b="0" strike="noStrike" spc="-1">
                <a:solidFill>
                  <a:srgbClr val="000000"/>
                </a:solidFill>
                <a:latin typeface="Futura Bk"/>
              </a:rPr>
              <a:t>:</a:t>
            </a:r>
            <a:endParaRPr lang="en-US" sz="2000" b="0" strike="noStrike" spc="-1">
              <a:solidFill>
                <a:srgbClr val="000000"/>
              </a:solidFill>
              <a:latin typeface="Futura Bk"/>
            </a:endParaRPr>
          </a:p>
          <a:p>
            <a:pPr marL="228600" indent="-228600">
              <a:lnSpc>
                <a:spcPct val="90000"/>
              </a:lnSpc>
              <a:spcBef>
                <a:spcPts val="876"/>
              </a:spcBef>
              <a:spcAft>
                <a:spcPts val="349"/>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2800" b="0" strike="noStrike" spc="-1">
              <a:solidFill>
                <a:srgbClr val="000000"/>
              </a:solidFill>
              <a:latin typeface="Futura Bk"/>
            </a:endParaRPr>
          </a:p>
          <a:p>
            <a:pPr marL="228600" indent="0">
              <a:lnSpc>
                <a:spcPct val="90000"/>
              </a:lnSpc>
              <a:spcBef>
                <a:spcPts val="876"/>
              </a:spcBef>
              <a:spcAft>
                <a:spcPts val="349"/>
              </a:spcAft>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2800" b="0" strike="noStrike" spc="-1">
              <a:solidFill>
                <a:srgbClr val="000000"/>
              </a:solidFill>
              <a:latin typeface="Futura Bk"/>
            </a:endParaRPr>
          </a:p>
          <a:p>
            <a:pPr marL="228600" indent="0">
              <a:lnSpc>
                <a:spcPct val="90000"/>
              </a:lnSpc>
              <a:spcBef>
                <a:spcPts val="876"/>
              </a:spcBef>
              <a:spcAft>
                <a:spcPts val="349"/>
              </a:spcAft>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2800" b="0" strike="noStrike" spc="-1">
              <a:solidFill>
                <a:srgbClr val="000000"/>
              </a:solidFill>
              <a:latin typeface="Futura Bk"/>
            </a:endParaRPr>
          </a:p>
          <a:p>
            <a:pPr marL="228600" indent="-228600">
              <a:lnSpc>
                <a:spcPct val="90000"/>
              </a:lnSpc>
              <a:spcBef>
                <a:spcPts val="624"/>
              </a:spcBef>
              <a:spcAft>
                <a:spcPts val="249"/>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br>
              <a:rPr sz="2800"/>
            </a:br>
            <a:r>
              <a:rPr lang="en-US" sz="2000" b="0" strike="noStrike" spc="-1">
                <a:solidFill>
                  <a:srgbClr val="000000"/>
                </a:solidFill>
                <a:latin typeface="Futura Bk"/>
              </a:rPr>
              <a:t>where</a:t>
            </a:r>
            <a:endParaRPr lang="en-US" sz="2000" b="0" strike="noStrike" spc="-1">
              <a:solidFill>
                <a:srgbClr val="000000"/>
              </a:solidFill>
              <a:latin typeface="Futura Bk"/>
            </a:endParaRPr>
          </a:p>
        </p:txBody>
      </p:sp>
      <p:sp>
        <p:nvSpPr>
          <p:cNvPr id="872" name="PlaceHolder 2"/>
          <p:cNvSpPr>
            <a:spLocks noGrp="1"/>
          </p:cNvSpPr>
          <p:nvPr>
            <p:ph type="title"/>
          </p:nvPr>
        </p:nvSpPr>
        <p:spPr bwMode="auto">
          <a:xfrm>
            <a:off x="576360" y="0"/>
            <a:ext cx="8229600" cy="1146240"/>
          </a:xfrm>
          <a:prstGeom prst="rect">
            <a:avLst/>
          </a:prstGeom>
          <a:noFill/>
          <a:ln w="0">
            <a:noFill/>
          </a:ln>
        </p:spPr>
        <p:txBody>
          <a:bodyPr lIns="0" tIns="0" rIns="0" bIns="0" anchor="ctr">
            <a:noAutofit/>
          </a:bodyPr>
          <a:p>
            <a:pPr indent="0">
              <a:lnSpc>
                <a:spcPct val="101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200" b="0" strike="noStrike" spc="-1">
                <a:solidFill>
                  <a:srgbClr val="CC0066"/>
                </a:solidFill>
                <a:latin typeface="Futura Bk"/>
              </a:rPr>
              <a:t>W</a:t>
            </a:r>
            <a:r>
              <a:rPr lang="en-US" sz="3200" b="0" strike="noStrike" spc="-1">
                <a:solidFill>
                  <a:srgbClr val="000000"/>
                </a:solidFill>
                <a:latin typeface="Futura Bk"/>
              </a:rPr>
              <a:t>eighted </a:t>
            </a:r>
            <a:r>
              <a:rPr lang="en-US" sz="3200" b="0" strike="noStrike" spc="-1">
                <a:solidFill>
                  <a:srgbClr val="CC0066"/>
                </a:solidFill>
                <a:latin typeface="Futura Bk"/>
              </a:rPr>
              <a:t>T</a:t>
            </a:r>
            <a:r>
              <a:rPr lang="en-US" sz="3200" b="0" strike="noStrike" spc="-1">
                <a:solidFill>
                  <a:srgbClr val="000000"/>
                </a:solidFill>
                <a:latin typeface="Futura Bk"/>
              </a:rPr>
              <a:t>otal with </a:t>
            </a:r>
            <a:r>
              <a:rPr lang="en-US" sz="3200" b="0" strike="noStrike" spc="-1">
                <a:solidFill>
                  <a:srgbClr val="CC0066"/>
                </a:solidFill>
                <a:latin typeface="Futura Bk"/>
              </a:rPr>
              <a:t>G</a:t>
            </a:r>
            <a:r>
              <a:rPr lang="en-US" sz="3200" b="0" strike="noStrike" spc="-1">
                <a:solidFill>
                  <a:srgbClr val="000000"/>
                </a:solidFill>
                <a:latin typeface="Futura Bk"/>
              </a:rPr>
              <a:t>ravitation </a:t>
            </a:r>
            <a:r>
              <a:rPr lang="en-US" sz="3200" b="0" strike="noStrike" spc="-1">
                <a:solidFill>
                  <a:srgbClr val="CC0066"/>
                </a:solidFill>
                <a:latin typeface="Futura Bk"/>
              </a:rPr>
              <a:t>F</a:t>
            </a:r>
            <a:r>
              <a:rPr lang="en-US" sz="3200" b="0" strike="noStrike" spc="-1">
                <a:solidFill>
                  <a:srgbClr val="000000"/>
                </a:solidFill>
                <a:latin typeface="Futura Bk"/>
              </a:rPr>
              <a:t>unction</a:t>
            </a:r>
            <a:endParaRPr lang="en-US" sz="3200" b="0" strike="noStrike" spc="-1">
              <a:solidFill>
                <a:srgbClr val="000000"/>
              </a:solidFill>
              <a:latin typeface="Futura Bk"/>
            </a:endParaRPr>
          </a:p>
        </p:txBody>
      </p:sp>
      <p:pic>
        <p:nvPicPr>
          <p:cNvPr id="873" name="" descr=""/>
          <p:cNvPicPr/>
          <p:nvPr/>
        </p:nvPicPr>
        <p:blipFill>
          <a:blip r:embed="rId2"/>
          <a:stretch/>
        </p:blipFill>
        <p:spPr bwMode="auto">
          <a:xfrm>
            <a:off x="1795320" y="1989000"/>
            <a:ext cx="5313600" cy="1590840"/>
          </a:xfrm>
          <a:prstGeom prst="rect">
            <a:avLst/>
          </a:prstGeom>
          <a:ln w="0">
            <a:noFill/>
          </a:ln>
        </p:spPr>
      </p:pic>
      <p:pic>
        <p:nvPicPr>
          <p:cNvPr id="874" name="" descr=""/>
          <p:cNvPicPr/>
          <p:nvPr/>
        </p:nvPicPr>
        <p:blipFill>
          <a:blip r:embed="rId3"/>
          <a:stretch/>
        </p:blipFill>
        <p:spPr bwMode="auto">
          <a:xfrm>
            <a:off x="1498680" y="4178160"/>
            <a:ext cx="6256080" cy="1195560"/>
          </a:xfrm>
          <a:prstGeom prst="rect">
            <a:avLst/>
          </a:prstGeom>
          <a:ln w="0">
            <a:noFill/>
          </a:ln>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875"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WTGF: some results</a:t>
            </a:r>
            <a:endParaRPr lang="en-US" sz="3600" b="0" strike="noStrike" spc="-1">
              <a:solidFill>
                <a:srgbClr val="000000"/>
              </a:solidFill>
              <a:latin typeface="Futura Bk"/>
            </a:endParaRPr>
          </a:p>
        </p:txBody>
      </p:sp>
      <p:sp>
        <p:nvSpPr>
          <p:cNvPr id="876" name="PlaceHolder 2"/>
          <p:cNvSpPr>
            <a:spLocks noGrp="1"/>
          </p:cNvSpPr>
          <p:nvPr>
            <p:ph/>
          </p:nvPr>
        </p:nvSpPr>
        <p:spPr bwMode="auto">
          <a:xfrm>
            <a:off x="399600" y="1447920"/>
            <a:ext cx="8272440" cy="4587840"/>
          </a:xfrm>
          <a:prstGeom prst="rect">
            <a:avLst/>
          </a:prstGeom>
          <a:noFill/>
          <a:ln w="0">
            <a:noFill/>
          </a:ln>
        </p:spPr>
        <p:txBody>
          <a:bodyPr lIns="90000" tIns="46800" rIns="90000" bIns="46800" anchor="t">
            <a:normAutofit/>
          </a:bodyPr>
          <a:p>
            <a:pPr marL="228600" indent="-228600">
              <a:lnSpc>
                <a:spcPct val="90000"/>
              </a:lnSpc>
              <a:spcBef>
                <a:spcPts val="750"/>
              </a:spcBef>
              <a:spcAft>
                <a:spcPts val="901"/>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rPr>
              <a:t>Experiments on search in semi annotated collections and of color and texture fusion (compare with CombMNZ)</a:t>
            </a:r>
            <a:endParaRPr lang="en-US" sz="2400" b="0" strike="noStrike" spc="-1">
              <a:solidFill>
                <a:srgbClr val="000000"/>
              </a:solidFill>
              <a:latin typeface="Futura Bk"/>
            </a:endParaRPr>
          </a:p>
          <a:p>
            <a:pPr marL="228600" indent="-228600">
              <a:lnSpc>
                <a:spcPct val="90000"/>
              </a:lnSpc>
              <a:spcBef>
                <a:spcPts val="750"/>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rPr>
              <a:t>WTGF is good when:</a:t>
            </a:r>
            <a:endParaRPr lang="en-US" sz="2400" b="0" strike="noStrike" spc="-1">
              <a:solidFill>
                <a:srgbClr val="000000"/>
              </a:solidFill>
              <a:latin typeface="Futura Bk"/>
            </a:endParaRPr>
          </a:p>
          <a:p>
            <a:pPr marL="571680" lvl="1" indent="-228600">
              <a:lnSpc>
                <a:spcPct val="90000"/>
              </a:lnSpc>
              <a:spcBef>
                <a:spcPts val="624"/>
              </a:spcBef>
              <a:spcAft>
                <a:spcPts val="2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Futura Bk"/>
              </a:rPr>
              <a:t>There are a lot of viewpoints.</a:t>
            </a:r>
            <a:endParaRPr lang="en-US" sz="2000" b="0" strike="noStrike" spc="-1">
              <a:solidFill>
                <a:srgbClr val="000000"/>
              </a:solidFill>
              <a:latin typeface="Futura Bk"/>
            </a:endParaRPr>
          </a:p>
          <a:p>
            <a:pPr marL="571680" lvl="1" indent="-228600">
              <a:lnSpc>
                <a:spcPct val="90000"/>
              </a:lnSpc>
              <a:spcBef>
                <a:spcPts val="624"/>
              </a:spcBef>
              <a:spcAft>
                <a:spcPts val="2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Futura Bk"/>
              </a:rPr>
              <a:t>Viewpoints are very different (different opinions regarding the rank of the same element).</a:t>
            </a:r>
            <a:endParaRPr lang="en-US" sz="2000" b="0" strike="noStrike" spc="-1">
              <a:solidFill>
                <a:srgbClr val="000000"/>
              </a:solidFill>
              <a:latin typeface="Futura Bk"/>
            </a:endParaRPr>
          </a:p>
          <a:p>
            <a:pPr marL="571680" lvl="1" indent="-228600">
              <a:lnSpc>
                <a:spcPct val="90000"/>
              </a:lnSpc>
              <a:spcBef>
                <a:spcPts val="624"/>
              </a:spcBef>
              <a:spcAft>
                <a:spcPts val="2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Futura Bk"/>
              </a:rPr>
              <a:t>Viewpoints have different reliability.</a:t>
            </a:r>
            <a:endParaRPr lang="en-US" sz="2000" b="0" strike="noStrike" spc="-1">
              <a:solidFill>
                <a:srgbClr val="000000"/>
              </a:solidFill>
              <a:latin typeface="Futura Bk"/>
            </a:endParaRPr>
          </a:p>
          <a:p>
            <a:pPr marL="228600" indent="-228600">
              <a:lnSpc>
                <a:spcPct val="90000"/>
              </a:lnSpc>
              <a:spcBef>
                <a:spcPts val="1500"/>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rPr>
              <a:t>CombMNZ is good when:</a:t>
            </a:r>
            <a:endParaRPr lang="en-US" sz="2400" b="0" strike="noStrike" spc="-1">
              <a:solidFill>
                <a:srgbClr val="000000"/>
              </a:solidFill>
              <a:latin typeface="Futura Bk"/>
            </a:endParaRPr>
          </a:p>
          <a:p>
            <a:pPr marL="571680" lvl="1" indent="-228600">
              <a:lnSpc>
                <a:spcPct val="90000"/>
              </a:lnSpc>
              <a:spcBef>
                <a:spcPts val="624"/>
              </a:spcBef>
              <a:spcAft>
                <a:spcPts val="2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Futura Bk"/>
              </a:rPr>
              <a:t>Viewpoints have the same reliability.</a:t>
            </a:r>
            <a:endParaRPr lang="en-US" sz="2000" b="0" strike="noStrike" spc="-1">
              <a:solidFill>
                <a:srgbClr val="000000"/>
              </a:solidFill>
              <a:latin typeface="Futura Bk"/>
            </a:endParaRPr>
          </a:p>
          <a:p>
            <a:pPr marL="571680" lvl="1" indent="-228600">
              <a:lnSpc>
                <a:spcPct val="90000"/>
              </a:lnSpc>
              <a:spcBef>
                <a:spcPts val="624"/>
              </a:spcBef>
              <a:spcAft>
                <a:spcPts val="2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Futura Bk"/>
              </a:rPr>
              <a:t>Viewpoints have similar opinions.</a:t>
            </a:r>
            <a:endParaRPr lang="en-US" sz="2000" b="0" strike="noStrike" spc="-1">
              <a:solidFill>
                <a:srgbClr val="000000"/>
              </a:solidFill>
              <a:latin typeface="Futura Bk"/>
            </a:endParaRPr>
          </a:p>
        </p:txBody>
      </p:sp>
      <p:sp>
        <p:nvSpPr>
          <p:cNvPr id="877" name=""/>
          <p:cNvSpPr/>
          <p:nvPr/>
        </p:nvSpPr>
        <p:spPr bwMode="auto">
          <a:xfrm>
            <a:off x="179280" y="5776920"/>
            <a:ext cx="8229600" cy="965160"/>
          </a:xfrm>
          <a:prstGeom prst="rect">
            <a:avLst/>
          </a:prstGeom>
          <a:noFill/>
          <a:ln w="0">
            <a:noFill/>
          </a:ln>
        </p:spPr>
        <p:style>
          <a:lnRef idx="0"/>
          <a:fillRef idx="0"/>
          <a:effectRef idx="0"/>
          <a:fontRef idx="minor"/>
        </p:style>
        <p:txBody>
          <a:bodyPr lIns="90000" tIns="46800" rIns="90000" bIns="46800" anchor="t">
            <a:normAutofit/>
          </a:bodyPr>
          <a:p>
            <a:pPr marL="228600" indent="-228600">
              <a:lnSpc>
                <a:spcPct val="90000"/>
              </a:lnSpc>
              <a:spcBef>
                <a:spcPts val="876"/>
              </a:spcBef>
              <a:spcAft>
                <a:spcPts val="876"/>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ea typeface="Arial"/>
              </a:rPr>
              <a:t>	</a:t>
            </a:r>
            <a:r>
              <a:rPr lang="en-US" sz="1400" b="0" strike="noStrike" spc="-1">
                <a:solidFill>
                  <a:srgbClr val="000000"/>
                </a:solidFill>
                <a:latin typeface="Futura Bk"/>
                <a:ea typeface="Arial"/>
              </a:rPr>
              <a:t>Natalia Vassilieva, Alexander Dolnik, Ilya Markov. Image Retrieval. Combining multiple search methods’ results. In "Internet-mathematics" Collection, 46—55, 2007.</a:t>
            </a:r>
            <a:endParaRPr lang="en-US" sz="14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878"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Adaptive merge: color and texture</a:t>
            </a:r>
            <a:endParaRPr lang="en-US" sz="3600" b="0" strike="noStrike" spc="-1">
              <a:solidFill>
                <a:srgbClr val="000000"/>
              </a:solidFill>
              <a:latin typeface="Futura Bk"/>
            </a:endParaRPr>
          </a:p>
        </p:txBody>
      </p:sp>
      <p:sp>
        <p:nvSpPr>
          <p:cNvPr id="879" name="PlaceHolder 2"/>
          <p:cNvSpPr>
            <a:spLocks noGrp="1"/>
          </p:cNvSpPr>
          <p:nvPr>
            <p:ph/>
          </p:nvPr>
        </p:nvSpPr>
        <p:spPr bwMode="auto">
          <a:xfrm>
            <a:off x="468000" y="3429000"/>
            <a:ext cx="8240760" cy="2664000"/>
          </a:xfrm>
          <a:prstGeom prst="rect">
            <a:avLst/>
          </a:prstGeom>
          <a:noFill/>
          <a:ln w="0">
            <a:noFill/>
          </a:ln>
        </p:spPr>
        <p:txBody>
          <a:bodyPr lIns="90000" tIns="46800" rIns="90000" bIns="46800" anchor="t">
            <a:normAutofit/>
          </a:bodyPr>
          <a:p>
            <a:pPr marL="228600" indent="-228600">
              <a:lnSpc>
                <a:spcPct val="90000"/>
              </a:lnSpc>
              <a:spcBef>
                <a:spcPts val="1001"/>
              </a:spcBef>
              <a:spcAft>
                <a:spcPts val="1199"/>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200" b="0" strike="noStrike" spc="-1">
                <a:solidFill>
                  <a:srgbClr val="64B900"/>
                </a:solidFill>
                <a:latin typeface="Futura Bk"/>
              </a:rPr>
              <a:t>Hypothesis:</a:t>
            </a:r>
            <a:endParaRPr lang="en-US" sz="3200" b="0" strike="noStrike" spc="-1">
              <a:solidFill>
                <a:srgbClr val="000000"/>
              </a:solidFill>
              <a:latin typeface="Futura Bk"/>
            </a:endParaRPr>
          </a:p>
          <a:p>
            <a:pPr marL="228600" indent="-228600">
              <a:lnSpc>
                <a:spcPct val="90000"/>
              </a:lnSpc>
              <a:spcBef>
                <a:spcPts val="750"/>
              </a:spcBef>
              <a:spcAft>
                <a:spcPts val="60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Futura Bk"/>
              </a:rPr>
              <a:t>	</a:t>
            </a:r>
            <a:r>
              <a:rPr lang="en-US" sz="2400" b="0" strike="noStrike" spc="-1">
                <a:solidFill>
                  <a:srgbClr val="000000"/>
                </a:solidFill>
                <a:latin typeface="Futura Bk"/>
              </a:rPr>
              <a:t>Optimal </a:t>
            </a:r>
            <a:r>
              <a:rPr lang="ru-RU" sz="2400" b="0" strike="noStrike" spc="-1">
                <a:solidFill>
                  <a:srgbClr val="000000"/>
                </a:solidFill>
                <a:latin typeface="Arial"/>
              </a:rPr>
              <a:t>α</a:t>
            </a:r>
            <a:r>
              <a:rPr lang="en-US" sz="2400" b="0" strike="noStrike" spc="-1">
                <a:solidFill>
                  <a:srgbClr val="000000"/>
                </a:solidFill>
                <a:latin typeface="Arial"/>
                <a:ea typeface="ＭＳ Ｐゴシック"/>
              </a:rPr>
              <a:t> </a:t>
            </a:r>
            <a:r>
              <a:rPr lang="en-US" sz="2400" b="0" strike="noStrike" spc="-1">
                <a:solidFill>
                  <a:srgbClr val="000000"/>
                </a:solidFill>
                <a:latin typeface="Futura Bk"/>
                <a:ea typeface="ＭＳ Ｐゴシック"/>
              </a:rPr>
              <a:t>depends on features of query Q. It is possible to distinguish common features for images that have the same “best”</a:t>
            </a:r>
            <a:r>
              <a:rPr lang="en-US" sz="2400" b="0" strike="noStrike" spc="-1">
                <a:solidFill>
                  <a:srgbClr val="000000"/>
                </a:solidFill>
                <a:latin typeface="Arial"/>
                <a:ea typeface="ＭＳ Ｐゴシック"/>
              </a:rPr>
              <a:t> </a:t>
            </a:r>
            <a:r>
              <a:rPr lang="ru-RU" sz="2400" b="0" strike="noStrike" spc="-1">
                <a:solidFill>
                  <a:srgbClr val="000000"/>
                </a:solidFill>
                <a:latin typeface="Arial"/>
              </a:rPr>
              <a:t>α</a:t>
            </a:r>
            <a:r>
              <a:rPr lang="en-US" sz="2400" b="0" strike="noStrike" spc="-1">
                <a:solidFill>
                  <a:srgbClr val="000000"/>
                </a:solidFill>
                <a:latin typeface="Arial"/>
              </a:rPr>
              <a:t>.</a:t>
            </a:r>
            <a:endParaRPr lang="en-US" sz="2400" b="0" strike="noStrike" spc="-1">
              <a:solidFill>
                <a:srgbClr val="000000"/>
              </a:solidFill>
              <a:latin typeface="Futura Bk"/>
            </a:endParaRPr>
          </a:p>
          <a:p>
            <a:pPr marL="228600" indent="-228600">
              <a:lnSpc>
                <a:spcPct val="90000"/>
              </a:lnSpc>
              <a:spcBef>
                <a:spcPts val="750"/>
              </a:spcBef>
              <a:spcAft>
                <a:spcPts val="60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2400" b="0" strike="noStrike" spc="-1">
              <a:solidFill>
                <a:srgbClr val="000000"/>
              </a:solidFill>
              <a:latin typeface="Futura Bk"/>
            </a:endParaRPr>
          </a:p>
        </p:txBody>
      </p:sp>
      <p:sp>
        <p:nvSpPr>
          <p:cNvPr id="880" name=""/>
          <p:cNvSpPr/>
          <p:nvPr/>
        </p:nvSpPr>
        <p:spPr bwMode="auto">
          <a:xfrm>
            <a:off x="611280" y="1484280"/>
            <a:ext cx="5113080" cy="1479240"/>
          </a:xfrm>
          <a:prstGeom prst="rect">
            <a:avLst/>
          </a:prstGeom>
          <a:noFill/>
          <a:ln w="22320">
            <a:solidFill>
              <a:srgbClr val="CC0066"/>
            </a:solidFill>
            <a:miter/>
          </a:ln>
        </p:spPr>
        <p:style>
          <a:lnRef idx="0"/>
          <a:fillRef idx="0"/>
          <a:effectRef idx="0"/>
          <a:fontRef idx="minor"/>
        </p:style>
        <p:txBody>
          <a:bodyPr lIns="90000" tIns="46800" rIns="90000" bIns="46800" anchor="t">
            <a:spAutoFit/>
          </a:bodyPr>
          <a:p>
            <a:pPr marL="343080" indent="-343080">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Tahoma"/>
                <a:ea typeface="ＭＳ Ｐゴシック"/>
              </a:rPr>
              <a:t>Dist(I, Q) = </a:t>
            </a:r>
            <a:r>
              <a:rPr lang="ru-RU" sz="2000" b="0" strike="noStrike" spc="-1">
                <a:solidFill>
                  <a:srgbClr val="000000"/>
                </a:solidFill>
                <a:latin typeface="Arial"/>
                <a:ea typeface="ＭＳ Ｐゴシック"/>
              </a:rPr>
              <a:t>α</a:t>
            </a:r>
            <a:r>
              <a:rPr lang="ru-RU" sz="2000" b="0" strike="noStrike" spc="-1">
                <a:solidFill>
                  <a:srgbClr val="000000"/>
                </a:solidFill>
                <a:latin typeface="Tahoma"/>
                <a:ea typeface="ＭＳ Ｐゴシック"/>
              </a:rPr>
              <a:t>*</a:t>
            </a:r>
            <a:r>
              <a:rPr lang="en-US" sz="2000" b="0" strike="noStrike" spc="-1">
                <a:solidFill>
                  <a:srgbClr val="000000"/>
                </a:solidFill>
                <a:latin typeface="Tahoma"/>
                <a:ea typeface="ＭＳ Ｐゴシック"/>
              </a:rPr>
              <a:t>C(I, Q)</a:t>
            </a:r>
            <a:r>
              <a:rPr lang="ru-RU" sz="2000" b="0" strike="noStrike" spc="-1">
                <a:solidFill>
                  <a:srgbClr val="000000"/>
                </a:solidFill>
                <a:latin typeface="Tahoma"/>
                <a:ea typeface="ＭＳ Ｐゴシック"/>
              </a:rPr>
              <a:t> + (1 - </a:t>
            </a:r>
            <a:r>
              <a:rPr lang="ru-RU" sz="2000" b="0" strike="noStrike" spc="-1">
                <a:solidFill>
                  <a:srgbClr val="000000"/>
                </a:solidFill>
                <a:latin typeface="Arial"/>
                <a:ea typeface="ＭＳ Ｐゴシック"/>
              </a:rPr>
              <a:t>α</a:t>
            </a:r>
            <a:r>
              <a:rPr lang="ru-RU" sz="2000" b="0" strike="noStrike" spc="-1">
                <a:solidFill>
                  <a:srgbClr val="000000"/>
                </a:solidFill>
                <a:latin typeface="Tahoma"/>
                <a:ea typeface="ＭＳ Ｐゴシック"/>
              </a:rPr>
              <a:t>)*Т</a:t>
            </a:r>
            <a:r>
              <a:rPr lang="en-US" sz="2000" b="0" strike="noStrike" spc="-1">
                <a:solidFill>
                  <a:srgbClr val="000000"/>
                </a:solidFill>
                <a:latin typeface="Tahoma"/>
                <a:ea typeface="ＭＳ Ｐゴシック"/>
              </a:rPr>
              <a:t>(I, Q)</a:t>
            </a:r>
            <a:r>
              <a:rPr lang="en-US" sz="1800" b="0" strike="noStrike" spc="-1">
                <a:solidFill>
                  <a:srgbClr val="000000"/>
                </a:solidFill>
                <a:latin typeface="Tahoma"/>
                <a:ea typeface="ＭＳ Ｐゴシック"/>
              </a:rPr>
              <a:t>,</a:t>
            </a:r>
            <a:endParaRPr lang="en-US" sz="1800" b="0" strike="noStrike" spc="-1">
              <a:solidFill>
                <a:srgbClr val="000000"/>
              </a:solidFill>
              <a:latin typeface="Arial"/>
            </a:endParaRPr>
          </a:p>
          <a:p>
            <a:pPr marL="343080" indent="-343080">
              <a:lnSpc>
                <a:spcPct val="100000"/>
              </a:lnSpc>
              <a:spcBef>
                <a:spcPts val="11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Tahoma"/>
                <a:ea typeface="ＭＳ Ｐゴシック"/>
              </a:rPr>
              <a:t>C(I, Q) – color distance between I and Q;</a:t>
            </a:r>
            <a:endParaRPr lang="en-US" sz="1800" b="0" strike="noStrike" spc="-1">
              <a:solidFill>
                <a:srgbClr val="000000"/>
              </a:solidFill>
              <a:latin typeface="Arial"/>
            </a:endParaRPr>
          </a:p>
          <a:p>
            <a:pPr marL="343080" indent="-343080">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Tahoma"/>
                <a:ea typeface="ＭＳ Ｐゴシック"/>
              </a:rPr>
              <a:t>T(I, Q) – texture distance between I and Q; </a:t>
            </a:r>
            <a:endParaRPr lang="en-US" sz="1800" b="0" strike="noStrike" spc="-1">
              <a:solidFill>
                <a:srgbClr val="000000"/>
              </a:solidFill>
              <a:latin typeface="Arial"/>
            </a:endParaRPr>
          </a:p>
          <a:p>
            <a:pPr marL="343080" indent="-343080">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Arial"/>
                <a:ea typeface="ＭＳ Ｐゴシック"/>
              </a:rPr>
              <a:t>0 ≤ </a:t>
            </a:r>
            <a:r>
              <a:rPr lang="ru-RU" sz="1800" b="0" strike="noStrike" spc="-1">
                <a:solidFill>
                  <a:srgbClr val="000000"/>
                </a:solidFill>
                <a:latin typeface="Arial"/>
              </a:rPr>
              <a:t>α</a:t>
            </a:r>
            <a:r>
              <a:rPr lang="en-US" sz="1800" b="0" strike="noStrike" spc="-1">
                <a:solidFill>
                  <a:srgbClr val="000000"/>
                </a:solidFill>
                <a:latin typeface="Arial"/>
                <a:ea typeface="ＭＳ Ｐゴシック"/>
              </a:rPr>
              <a:t> </a:t>
            </a:r>
            <a:r>
              <a:rPr lang="en-US" sz="1800" b="0" strike="noStrike" spc="-1">
                <a:solidFill>
                  <a:srgbClr val="000000"/>
                </a:solidFill>
                <a:latin typeface="Tahoma"/>
                <a:ea typeface="ＭＳ Ｐゴシック"/>
              </a:rPr>
              <a:t>≤ 1</a:t>
            </a:r>
            <a:r>
              <a:rPr lang="ru-RU" sz="1800" b="0" strike="noStrike" spc="-1">
                <a:solidFill>
                  <a:srgbClr val="000000"/>
                </a:solidFill>
                <a:latin typeface="Tahoma"/>
              </a:rPr>
              <a:t> </a:t>
            </a:r>
            <a:endParaRPr lang="en-US" sz="1800" b="0" strike="noStrike" spc="-1">
              <a:solidFill>
                <a:srgbClr val="000000"/>
              </a:solidFill>
              <a:latin typeface="Arial"/>
            </a:endParaRPr>
          </a:p>
        </p:txBody>
      </p:sp>
      <p:sp>
        <p:nvSpPr>
          <p:cNvPr id="881" name=""/>
          <p:cNvSpPr/>
          <p:nvPr/>
        </p:nvSpPr>
        <p:spPr bwMode="auto">
          <a:xfrm>
            <a:off x="158760" y="5445000"/>
            <a:ext cx="8229600" cy="965160"/>
          </a:xfrm>
          <a:prstGeom prst="rect">
            <a:avLst/>
          </a:prstGeom>
          <a:noFill/>
          <a:ln w="0">
            <a:noFill/>
          </a:ln>
        </p:spPr>
        <p:style>
          <a:lnRef idx="0"/>
          <a:fillRef idx="0"/>
          <a:effectRef idx="0"/>
          <a:fontRef idx="minor"/>
        </p:style>
        <p:txBody>
          <a:bodyPr lIns="90000" tIns="46800" rIns="90000" bIns="46800" anchor="t">
            <a:normAutofit/>
          </a:bodyPr>
          <a:p>
            <a:pPr marL="228600" indent="-228600">
              <a:lnSpc>
                <a:spcPct val="90000"/>
              </a:lnSpc>
              <a:spcBef>
                <a:spcPts val="876"/>
              </a:spcBef>
              <a:spcAft>
                <a:spcPts val="876"/>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ea typeface="Arial"/>
              </a:rPr>
              <a:t>	</a:t>
            </a:r>
            <a:r>
              <a:rPr lang="en-US" sz="1400" b="0" strike="noStrike" spc="-1">
                <a:solidFill>
                  <a:srgbClr val="000000"/>
                </a:solidFill>
                <a:latin typeface="Futura Bk"/>
                <a:ea typeface="Arial"/>
              </a:rPr>
              <a:t>Ilya Markov, Natalia Vassilieva, Alexander Yaremchuk. Image retrieval. Optimal weights for color and texture fusion based on query object. In Proceedings of the Ninth National Russian Research Conference RCDL'2007</a:t>
            </a:r>
            <a:endParaRPr lang="en-US" sz="14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882"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Example</a:t>
            </a:r>
            <a:r>
              <a:rPr lang="ru-RU" sz="3600" b="0" strike="noStrike" spc="-1">
                <a:solidFill>
                  <a:srgbClr val="000000"/>
                </a:solidFill>
                <a:latin typeface="Futura Bk"/>
              </a:rPr>
              <a:t>: </a:t>
            </a:r>
            <a:r>
              <a:rPr lang="en-US" sz="3600" b="0" strike="noStrike" spc="-1">
                <a:solidFill>
                  <a:srgbClr val="000000"/>
                </a:solidFill>
                <a:latin typeface="Futura Bk"/>
              </a:rPr>
              <a:t>texture search</a:t>
            </a:r>
            <a:endParaRPr lang="en-US" sz="3600" b="0" strike="noStrike" spc="-1">
              <a:solidFill>
                <a:srgbClr val="000000"/>
              </a:solidFill>
              <a:latin typeface="Futura Bk"/>
            </a:endParaRPr>
          </a:p>
        </p:txBody>
      </p:sp>
      <p:pic>
        <p:nvPicPr>
          <p:cNvPr id="883" name="" descr=""/>
          <p:cNvPicPr/>
          <p:nvPr/>
        </p:nvPicPr>
        <p:blipFill>
          <a:blip r:embed="rId2"/>
          <a:stretch/>
        </p:blipFill>
        <p:spPr bwMode="auto">
          <a:xfrm>
            <a:off x="5364000" y="1989000"/>
            <a:ext cx="2934000" cy="4391280"/>
          </a:xfrm>
          <a:prstGeom prst="rect">
            <a:avLst/>
          </a:prstGeom>
          <a:ln w="0">
            <a:noFill/>
          </a:ln>
        </p:spPr>
      </p:pic>
      <p:pic>
        <p:nvPicPr>
          <p:cNvPr id="884" name="" descr=""/>
          <p:cNvPicPr/>
          <p:nvPr/>
        </p:nvPicPr>
        <p:blipFill>
          <a:blip r:embed="rId3"/>
          <a:stretch/>
        </p:blipFill>
        <p:spPr bwMode="auto">
          <a:xfrm>
            <a:off x="1332000" y="1989000"/>
            <a:ext cx="2933640" cy="4391280"/>
          </a:xfrm>
          <a:prstGeom prst="rect">
            <a:avLst/>
          </a:prstGeom>
          <a:ln w="0">
            <a:noFill/>
          </a:ln>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885"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Example</a:t>
            </a:r>
            <a:r>
              <a:rPr lang="ru-RU" sz="3600" b="0" strike="noStrike" spc="-1">
                <a:solidFill>
                  <a:srgbClr val="000000"/>
                </a:solidFill>
                <a:latin typeface="Futura Bk"/>
              </a:rPr>
              <a:t>: </a:t>
            </a:r>
            <a:r>
              <a:rPr lang="en-US" sz="3600" b="0" strike="noStrike" spc="-1">
                <a:solidFill>
                  <a:srgbClr val="000000"/>
                </a:solidFill>
                <a:latin typeface="Futura Bk"/>
              </a:rPr>
              <a:t>color search</a:t>
            </a:r>
            <a:endParaRPr lang="en-US" sz="3600" b="0" strike="noStrike" spc="-1">
              <a:solidFill>
                <a:srgbClr val="000000"/>
              </a:solidFill>
              <a:latin typeface="Futura Bk"/>
            </a:endParaRPr>
          </a:p>
        </p:txBody>
      </p:sp>
      <p:pic>
        <p:nvPicPr>
          <p:cNvPr id="886" name="" descr=""/>
          <p:cNvPicPr/>
          <p:nvPr/>
        </p:nvPicPr>
        <p:blipFill>
          <a:blip r:embed="rId2"/>
          <a:stretch/>
        </p:blipFill>
        <p:spPr bwMode="auto">
          <a:xfrm>
            <a:off x="684360" y="1844640"/>
            <a:ext cx="4390920" cy="2933640"/>
          </a:xfrm>
          <a:prstGeom prst="rect">
            <a:avLst/>
          </a:prstGeom>
          <a:ln w="0">
            <a:noFill/>
          </a:ln>
        </p:spPr>
      </p:pic>
      <p:pic>
        <p:nvPicPr>
          <p:cNvPr id="887" name="" descr=""/>
          <p:cNvPicPr/>
          <p:nvPr/>
        </p:nvPicPr>
        <p:blipFill>
          <a:blip r:embed="rId3"/>
          <a:stretch/>
        </p:blipFill>
        <p:spPr bwMode="auto">
          <a:xfrm>
            <a:off x="4211640" y="3573360"/>
            <a:ext cx="4390920" cy="2933640"/>
          </a:xfrm>
          <a:prstGeom prst="rect">
            <a:avLst/>
          </a:prstGeom>
          <a:ln w="0">
            <a:noFill/>
          </a:ln>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pic>
        <p:nvPicPr>
          <p:cNvPr id="888" name="" descr=""/>
          <p:cNvPicPr/>
          <p:nvPr/>
        </p:nvPicPr>
        <p:blipFill>
          <a:blip r:embed="rId2"/>
          <a:stretch/>
        </p:blipFill>
        <p:spPr bwMode="auto">
          <a:xfrm>
            <a:off x="5869080" y="1773360"/>
            <a:ext cx="1800000" cy="1199880"/>
          </a:xfrm>
          <a:prstGeom prst="rect">
            <a:avLst/>
          </a:prstGeom>
          <a:ln w="0">
            <a:noFill/>
          </a:ln>
        </p:spPr>
      </p:pic>
      <p:pic>
        <p:nvPicPr>
          <p:cNvPr id="889" name="" descr=""/>
          <p:cNvPicPr/>
          <p:nvPr/>
        </p:nvPicPr>
        <p:blipFill>
          <a:blip r:embed="rId3"/>
          <a:stretch/>
        </p:blipFill>
        <p:spPr bwMode="auto">
          <a:xfrm>
            <a:off x="6661080" y="1989000"/>
            <a:ext cx="1800360" cy="1200240"/>
          </a:xfrm>
          <a:prstGeom prst="rect">
            <a:avLst/>
          </a:prstGeom>
          <a:ln w="0">
            <a:noFill/>
          </a:ln>
        </p:spPr>
      </p:pic>
      <p:pic>
        <p:nvPicPr>
          <p:cNvPr id="890" name="" descr=""/>
          <p:cNvPicPr/>
          <p:nvPr/>
        </p:nvPicPr>
        <p:blipFill>
          <a:blip r:embed="rId4"/>
          <a:stretch/>
        </p:blipFill>
        <p:spPr bwMode="auto">
          <a:xfrm>
            <a:off x="5508720" y="2421000"/>
            <a:ext cx="1800000" cy="1200240"/>
          </a:xfrm>
          <a:prstGeom prst="rect">
            <a:avLst/>
          </a:prstGeom>
          <a:ln w="0">
            <a:noFill/>
          </a:ln>
        </p:spPr>
      </p:pic>
      <p:pic>
        <p:nvPicPr>
          <p:cNvPr id="891" name="" descr=""/>
          <p:cNvPicPr/>
          <p:nvPr/>
        </p:nvPicPr>
        <p:blipFill>
          <a:blip r:embed="rId5"/>
          <a:stretch/>
        </p:blipFill>
        <p:spPr bwMode="auto">
          <a:xfrm>
            <a:off x="1979640" y="1916280"/>
            <a:ext cx="1800360" cy="1199880"/>
          </a:xfrm>
          <a:prstGeom prst="rect">
            <a:avLst/>
          </a:prstGeom>
          <a:ln w="0">
            <a:noFill/>
          </a:ln>
        </p:spPr>
      </p:pic>
      <p:pic>
        <p:nvPicPr>
          <p:cNvPr id="892" name="" descr=""/>
          <p:cNvPicPr/>
          <p:nvPr/>
        </p:nvPicPr>
        <p:blipFill>
          <a:blip r:embed="rId6"/>
          <a:stretch/>
        </p:blipFill>
        <p:spPr bwMode="auto">
          <a:xfrm>
            <a:off x="1619280" y="2708280"/>
            <a:ext cx="1800360" cy="1200240"/>
          </a:xfrm>
          <a:prstGeom prst="rect">
            <a:avLst/>
          </a:prstGeom>
          <a:ln w="0">
            <a:noFill/>
          </a:ln>
        </p:spPr>
      </p:pic>
      <p:pic>
        <p:nvPicPr>
          <p:cNvPr id="893" name="" descr=""/>
          <p:cNvPicPr/>
          <p:nvPr/>
        </p:nvPicPr>
        <p:blipFill>
          <a:blip r:embed="rId7"/>
          <a:stretch/>
        </p:blipFill>
        <p:spPr bwMode="auto">
          <a:xfrm>
            <a:off x="1042920" y="2205000"/>
            <a:ext cx="1800360" cy="1200240"/>
          </a:xfrm>
          <a:prstGeom prst="rect">
            <a:avLst/>
          </a:prstGeom>
          <a:ln w="0">
            <a:noFill/>
          </a:ln>
        </p:spPr>
      </p:pic>
      <p:pic>
        <p:nvPicPr>
          <p:cNvPr id="894" name="" descr=""/>
          <p:cNvPicPr/>
          <p:nvPr/>
        </p:nvPicPr>
        <p:blipFill>
          <a:blip r:embed="rId8"/>
          <a:stretch/>
        </p:blipFill>
        <p:spPr bwMode="auto">
          <a:xfrm>
            <a:off x="4284720" y="4437000"/>
            <a:ext cx="1771560" cy="1181160"/>
          </a:xfrm>
          <a:prstGeom prst="rect">
            <a:avLst/>
          </a:prstGeom>
          <a:ln w="0">
            <a:noFill/>
          </a:ln>
        </p:spPr>
      </p:pic>
      <p:pic>
        <p:nvPicPr>
          <p:cNvPr id="895" name="" descr=""/>
          <p:cNvPicPr/>
          <p:nvPr/>
        </p:nvPicPr>
        <p:blipFill>
          <a:blip r:embed="rId9"/>
          <a:stretch/>
        </p:blipFill>
        <p:spPr bwMode="auto">
          <a:xfrm>
            <a:off x="3492360" y="4653000"/>
            <a:ext cx="1771920" cy="1181160"/>
          </a:xfrm>
          <a:prstGeom prst="rect">
            <a:avLst/>
          </a:prstGeom>
          <a:ln w="0">
            <a:noFill/>
          </a:ln>
        </p:spPr>
      </p:pic>
      <p:pic>
        <p:nvPicPr>
          <p:cNvPr id="896" name="" descr=""/>
          <p:cNvPicPr/>
          <p:nvPr/>
        </p:nvPicPr>
        <p:blipFill>
          <a:blip r:embed="rId10"/>
          <a:stretch/>
        </p:blipFill>
        <p:spPr bwMode="auto">
          <a:xfrm>
            <a:off x="4067280" y="5229360"/>
            <a:ext cx="1771560" cy="1180800"/>
          </a:xfrm>
          <a:prstGeom prst="rect">
            <a:avLst/>
          </a:prstGeom>
          <a:ln w="0">
            <a:noFill/>
          </a:ln>
        </p:spPr>
      </p:pic>
      <p:sp>
        <p:nvSpPr>
          <p:cNvPr id="897" name=""/>
          <p:cNvSpPr/>
          <p:nvPr/>
        </p:nvSpPr>
        <p:spPr bwMode="auto">
          <a:xfrm>
            <a:off x="0" y="333360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898" name=""/>
          <p:cNvSpPr txBox="1"/>
          <p:nvPr/>
        </p:nvSpPr>
        <p:spPr bwMode="auto">
          <a:xfrm>
            <a:off x="826920" y="3429000"/>
            <a:ext cx="576360" cy="71928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sSub>
                        <m:sSubPr>
                          <m:ctrlPr>
                            <a:rPr/>
                          </m:ctrlPr>
                        </m:sSubPr>
                        <m:e>
                          <m:r>
                            <m:rPr/>
                            <a:rPr/>
                            <m:t>a</m:t>
                          </m:r>
                        </m:e>
                        <m:sub>
                          <m:r>
                            <m:rPr/>
                            <a:rPr/>
                            <m:t>1</m:t>
                          </m:r>
                        </m:sub>
                      </m:sSub>
                    </m:oMath>
                  </m:oMathPara>
                </a14:m>
              </mc:Choice>
              <mc:Fallback/>
            </mc:AlternateContent>
            <a:endParaRPr/>
          </a:p>
        </p:txBody>
      </p:sp>
      <p:sp>
        <p:nvSpPr>
          <p:cNvPr id="899" name=""/>
          <p:cNvSpPr/>
          <p:nvPr/>
        </p:nvSpPr>
        <p:spPr bwMode="auto">
          <a:xfrm>
            <a:off x="0" y="333360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900" name=""/>
          <p:cNvSpPr txBox="1"/>
          <p:nvPr/>
        </p:nvSpPr>
        <p:spPr bwMode="auto">
          <a:xfrm>
            <a:off x="5003640" y="1700280"/>
            <a:ext cx="609840" cy="71892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sSub>
                        <m:sSubPr>
                          <m:ctrlPr>
                            <a:rPr/>
                          </m:ctrlPr>
                        </m:sSubPr>
                        <m:e>
                          <m:r>
                            <m:rPr/>
                            <a:rPr/>
                            <m:t>a</m:t>
                          </m:r>
                        </m:e>
                        <m:sub>
                          <m:r>
                            <m:rPr/>
                            <a:rPr/>
                            <m:t>2</m:t>
                          </m:r>
                        </m:sub>
                      </m:sSub>
                    </m:oMath>
                  </m:oMathPara>
                </a14:m>
              </mc:Choice>
              <mc:Fallback/>
            </mc:AlternateContent>
            <a:endParaRPr/>
          </a:p>
        </p:txBody>
      </p:sp>
      <p:sp>
        <p:nvSpPr>
          <p:cNvPr id="901" name=""/>
          <p:cNvSpPr/>
          <p:nvPr/>
        </p:nvSpPr>
        <p:spPr bwMode="auto">
          <a:xfrm>
            <a:off x="0" y="3333600"/>
            <a:ext cx="9144000" cy="360"/>
          </a:xfrm>
          <a:prstGeom prst="rect">
            <a:avLst/>
          </a:prstGeom>
          <a:noFill/>
          <a:ln w="0">
            <a:noFill/>
          </a:ln>
        </p:spPr>
        <p:style>
          <a:lnRef idx="0"/>
          <a:fillRef idx="0"/>
          <a:effectRef idx="0"/>
          <a:fontRef idx="minor"/>
        </p:style>
        <p:txBody>
          <a:bodyPr wrap="none" lIns="90000" tIns="-46440" rIns="90000" bIns="-46440" anchor="ctr">
            <a:spAutoFit/>
          </a:bodyPr>
          <a:p>
            <a:pPr>
              <a:defRPr/>
            </a:pPr>
            <a:endParaRPr lang="en-US" sz="1800" b="0" strike="noStrike" spc="-1">
              <a:solidFill>
                <a:srgbClr val="000000"/>
              </a:solidFill>
              <a:latin typeface="Arial"/>
            </a:endParaRPr>
          </a:p>
        </p:txBody>
      </p:sp>
      <p:sp>
        <p:nvSpPr>
          <p:cNvPr id="902" name=""/>
          <p:cNvSpPr txBox="1"/>
          <p:nvPr/>
        </p:nvSpPr>
        <p:spPr bwMode="auto">
          <a:xfrm>
            <a:off x="2987640" y="5805360"/>
            <a:ext cx="574560" cy="71928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sSub>
                        <m:sSubPr>
                          <m:ctrlPr>
                            <a:rPr/>
                          </m:ctrlPr>
                        </m:sSubPr>
                        <m:e>
                          <m:r>
                            <m:rPr/>
                            <a:rPr/>
                            <m:t>a</m:t>
                          </m:r>
                        </m:e>
                        <m:sub>
                          <m:r>
                            <m:rPr/>
                            <a:rPr/>
                            <m:t>3</m:t>
                          </m:r>
                        </m:sub>
                      </m:sSub>
                    </m:oMath>
                  </m:oMathPara>
                </a14:m>
              </mc:Choice>
              <mc:Fallback/>
            </mc:AlternateContent>
            <a:endParaRPr/>
          </a:p>
        </p:txBody>
      </p:sp>
      <p:sp>
        <p:nvSpPr>
          <p:cNvPr id="903"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Mixed metrics: semantic groups</a:t>
            </a:r>
            <a:endParaRPr lang="en-US" sz="3600" b="0" strike="noStrike" spc="-1">
              <a:solidFill>
                <a:srgbClr val="000000"/>
              </a:solidFill>
              <a:latin typeface="Futura Bk"/>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timing>
    <p:tnLst>
      <p:par>
        <p:cTn id="82" dur="indefinite" restart="never" nodeType="tmRoot">
          <p:childTnLst>
            <p:seq>
              <p:cTn id="83" dur="indefinite" nodeType="mainSeq">
                <p:childTnLst>
                  <p:par>
                    <p:cTn id="84" fill="hold">
                      <p:stCondLst>
                        <p:cond delay="indefinite"/>
                      </p:stCondLst>
                      <p:childTnLst>
                        <p:par>
                          <p:cTn id="85" fill="hold">
                            <p:stCondLst>
                              <p:cond delay="0"/>
                            </p:stCondLst>
                            <p:childTnLst>
                              <p:par>
                                <p:cTn id="86" presetID="1" presetClass="entr" fill="hold" nodeType="clickEffect">
                                  <p:stCondLst>
                                    <p:cond delay="0"/>
                                  </p:stCondLst>
                                  <p:childTnLst>
                                    <p:set>
                                      <p:cBhvr>
                                        <p:cTn id="87" dur="1" fill="hold">
                                          <p:stCondLst>
                                            <p:cond delay="0"/>
                                          </p:stCondLst>
                                        </p:cTn>
                                        <p:tgtEl>
                                          <p:spTgt spid="898"/>
                                        </p:tgtEl>
                                        <p:attrNameLst>
                                          <p:attrName>style.visibility</p:attrName>
                                        </p:attrNameLst>
                                      </p:cBhvr>
                                      <p:to>
                                        <p:strVal val="visible"/>
                                      </p:to>
                                    </p:set>
                                  </p:childTnLst>
                                </p:cTn>
                              </p:par>
                              <p:par>
                                <p:cTn id="88" presetID="1" presetClass="entr" fill="hold" nodeType="withEffect">
                                  <p:stCondLst>
                                    <p:cond delay="0"/>
                                  </p:stCondLst>
                                  <p:childTnLst>
                                    <p:set>
                                      <p:cBhvr>
                                        <p:cTn id="89" dur="1" fill="hold">
                                          <p:stCondLst>
                                            <p:cond delay="0"/>
                                          </p:stCondLst>
                                        </p:cTn>
                                        <p:tgtEl>
                                          <p:spTgt spid="900"/>
                                        </p:tgtEl>
                                        <p:attrNameLst>
                                          <p:attrName>style.visibility</p:attrName>
                                        </p:attrNameLst>
                                      </p:cBhvr>
                                      <p:to>
                                        <p:strVal val="visible"/>
                                      </p:to>
                                    </p:set>
                                  </p:childTnLst>
                                </p:cTn>
                              </p:par>
                              <p:par>
                                <p:cTn id="90" presetID="1" presetClass="entr" fill="hold" nodeType="withEffect">
                                  <p:stCondLst>
                                    <p:cond delay="0"/>
                                  </p:stCondLst>
                                  <p:childTnLst>
                                    <p:set>
                                      <p:cBhvr>
                                        <p:cTn id="91" dur="1" fill="hold">
                                          <p:stCondLst>
                                            <p:cond delay="0"/>
                                          </p:stCondLst>
                                        </p:cTn>
                                        <p:tgtEl>
                                          <p:spTgt spid="9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904"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Experimental results 1</a:t>
            </a:r>
            <a:endParaRPr lang="en-US" sz="3600" b="0" strike="noStrike" spc="-1">
              <a:solidFill>
                <a:srgbClr val="000000"/>
              </a:solidFill>
              <a:latin typeface="Futura Bk"/>
            </a:endParaRPr>
          </a:p>
        </p:txBody>
      </p:sp>
      <p:sp>
        <p:nvSpPr>
          <p:cNvPr id="905" name="PlaceHolder 2"/>
          <p:cNvSpPr>
            <a:spLocks noGrp="1"/>
          </p:cNvSpPr>
          <p:nvPr>
            <p:ph/>
          </p:nvPr>
        </p:nvSpPr>
        <p:spPr bwMode="auto">
          <a:xfrm>
            <a:off x="611280" y="1413000"/>
            <a:ext cx="7921440" cy="576000"/>
          </a:xfrm>
          <a:prstGeom prst="rect">
            <a:avLst/>
          </a:prstGeom>
          <a:noFill/>
          <a:ln w="0">
            <a:noFill/>
          </a:ln>
        </p:spPr>
        <p:txBody>
          <a:bodyPr lIns="90000" tIns="46800" rIns="90000" bIns="46800" anchor="t">
            <a:normAutofit/>
          </a:bodyPr>
          <a:p>
            <a:pPr marL="228600" indent="-228600">
              <a:lnSpc>
                <a:spcPct val="90000"/>
              </a:lnSpc>
              <a:spcBef>
                <a:spcPts val="750"/>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rPr>
              <a:t>It is possible to select the best value of </a:t>
            </a:r>
            <a:r>
              <a:rPr lang="en-US" sz="2400" b="0" i="1" strike="noStrike" spc="-1">
                <a:solidFill>
                  <a:srgbClr val="000000"/>
                </a:solidFill>
                <a:latin typeface="Futura Bk"/>
              </a:rPr>
              <a:t>a</a:t>
            </a:r>
            <a:endParaRPr lang="en-US" sz="2400" b="0" strike="noStrike" spc="-1">
              <a:solidFill>
                <a:srgbClr val="000000"/>
              </a:solidFill>
              <a:latin typeface="Futura Bk"/>
            </a:endParaRPr>
          </a:p>
        </p:txBody>
      </p:sp>
      <p:grpSp>
        <p:nvGrpSpPr>
          <p:cNvPr id="906" name=""/>
          <p:cNvGrpSpPr/>
          <p:nvPr/>
        </p:nvGrpSpPr>
        <p:grpSpPr bwMode="auto">
          <a:xfrm>
            <a:off x="1042920" y="1989000"/>
            <a:ext cx="6985080" cy="3905280"/>
            <a:chOff x="1042920" y="1989000"/>
            <a:chExt cx="6985080" cy="3905280"/>
          </a:xfrm>
        </p:grpSpPr>
        <p:pic>
          <p:nvPicPr>
            <p:cNvPr id="907" name="" descr=""/>
            <p:cNvPicPr/>
            <p:nvPr/>
          </p:nvPicPr>
          <p:blipFill>
            <a:blip r:embed="rId2"/>
            <a:stretch/>
          </p:blipFill>
          <p:spPr bwMode="auto">
            <a:xfrm>
              <a:off x="1042920" y="1989000"/>
              <a:ext cx="6985080" cy="3905280"/>
            </a:xfrm>
            <a:prstGeom prst="rect">
              <a:avLst/>
            </a:prstGeom>
            <a:ln w="0">
              <a:noFill/>
            </a:ln>
          </p:spPr>
        </p:pic>
        <p:sp>
          <p:nvSpPr>
            <p:cNvPr id="908" name=""/>
            <p:cNvSpPr/>
            <p:nvPr/>
          </p:nvSpPr>
          <p:spPr bwMode="auto">
            <a:xfrm rot="16199999">
              <a:off x="511200" y="3599280"/>
              <a:ext cx="1511280" cy="307439"/>
            </a:xfrm>
            <a:prstGeom prst="rect">
              <a:avLst/>
            </a:prstGeom>
            <a:solidFill>
              <a:srgbClr val="FFFFFF"/>
            </a:solidFill>
            <a:ln w="0">
              <a:noFill/>
            </a:ln>
          </p:spPr>
          <p:style>
            <a:lnRef idx="0"/>
            <a:fillRef idx="0"/>
            <a:effectRef idx="0"/>
            <a:fontRef idx="minor"/>
          </p:style>
          <p:txBody>
            <a:bodyPr lIns="90000" tIns="46800" rIns="90000" bIns="46800" anchor="ctr">
              <a:spAutoFit/>
            </a:bodyPr>
            <a:p>
              <a:pPr algn="ctr">
                <a:lnSpc>
                  <a:spcPct val="100000"/>
                </a:lnSpc>
                <a:spcBef>
                  <a:spcPts val="876"/>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400" b="0" strike="noStrike" spc="-1">
                  <a:solidFill>
                    <a:srgbClr val="000000"/>
                  </a:solidFill>
                  <a:latin typeface="Futura Bk"/>
                </a:rPr>
                <a:t>Precision</a:t>
              </a:r>
              <a:endParaRPr lang="en-US" sz="1400" b="0" strike="noStrike" spc="-1">
                <a:solidFill>
                  <a:srgbClr val="000000"/>
                </a:solidFill>
                <a:latin typeface="Arial"/>
              </a:endParaRPr>
            </a:p>
          </p:txBody>
        </p:sp>
        <p:sp>
          <p:nvSpPr>
            <p:cNvPr id="909" name=""/>
            <p:cNvSpPr/>
            <p:nvPr/>
          </p:nvSpPr>
          <p:spPr bwMode="auto">
            <a:xfrm>
              <a:off x="2843280" y="5443920"/>
              <a:ext cx="2879640" cy="307439"/>
            </a:xfrm>
            <a:prstGeom prst="rect">
              <a:avLst/>
            </a:prstGeom>
            <a:solidFill>
              <a:srgbClr val="FFFFFF"/>
            </a:solidFill>
            <a:ln w="0">
              <a:noFill/>
            </a:ln>
          </p:spPr>
          <p:style>
            <a:lnRef idx="0"/>
            <a:fillRef idx="0"/>
            <a:effectRef idx="0"/>
            <a:fontRef idx="minor"/>
          </p:style>
          <p:txBody>
            <a:bodyPr lIns="90000" tIns="46800" rIns="90000" bIns="46800" anchor="ctr">
              <a:spAutoFit/>
            </a:bodyPr>
            <a:p>
              <a:pPr algn="ctr">
                <a:lnSpc>
                  <a:spcPct val="100000"/>
                </a:lnSpc>
                <a:spcBef>
                  <a:spcPts val="876"/>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400" b="0" strike="noStrike" spc="-1">
                  <a:solidFill>
                    <a:srgbClr val="000000"/>
                  </a:solidFill>
                  <a:latin typeface="Futura Bk"/>
                </a:rPr>
                <a:t>Value of </a:t>
              </a:r>
              <a:r>
                <a:rPr lang="en-US" sz="1400" b="0" i="1" strike="noStrike" spc="-1">
                  <a:solidFill>
                    <a:srgbClr val="000000"/>
                  </a:solidFill>
                  <a:latin typeface="Futura Bk"/>
                </a:rPr>
                <a:t>a</a:t>
              </a:r>
              <a:endParaRPr lang="en-US" sz="1400" b="0" strike="noStrike" spc="-1">
                <a:solidFill>
                  <a:srgbClr val="000000"/>
                </a:solidFill>
                <a:latin typeface="Arial"/>
              </a:endParaRPr>
            </a:p>
          </p:txBody>
        </p:sp>
        <p:sp>
          <p:nvSpPr>
            <p:cNvPr id="910" name=""/>
            <p:cNvSpPr/>
            <p:nvPr/>
          </p:nvSpPr>
          <p:spPr bwMode="auto">
            <a:xfrm>
              <a:off x="7164360" y="3644640"/>
              <a:ext cx="719280" cy="153000"/>
            </a:xfrm>
            <a:prstGeom prst="rect">
              <a:avLst/>
            </a:prstGeom>
            <a:solidFill>
              <a:srgbClr val="FFFFFF"/>
            </a:solidFill>
            <a:ln w="0">
              <a:noFill/>
            </a:ln>
          </p:spPr>
          <p:style>
            <a:lnRef idx="0"/>
            <a:fillRef idx="0"/>
            <a:effectRef idx="0"/>
            <a:fontRef idx="minor"/>
          </p:style>
          <p:txBody>
            <a:bodyPr lIns="0" tIns="0" rIns="0" bIns="0" anchor="ctr">
              <a:spAutoFit/>
            </a:bodyPr>
            <a:p>
              <a:pPr algn="ctr">
                <a:lnSpc>
                  <a:spcPct val="100000"/>
                </a:lnSpc>
                <a:spcBef>
                  <a:spcPts val="624"/>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000" b="0" strike="noStrike" spc="-1">
                  <a:solidFill>
                    <a:srgbClr val="000000"/>
                  </a:solidFill>
                  <a:latin typeface="Futura Bk"/>
                </a:rPr>
                <a:t>Cluster 7</a:t>
              </a:r>
              <a:endParaRPr lang="en-US" sz="1000" b="0" strike="noStrike" spc="-1">
                <a:solidFill>
                  <a:srgbClr val="000000"/>
                </a:solidFill>
                <a:latin typeface="Arial"/>
              </a:endParaRPr>
            </a:p>
          </p:txBody>
        </p:sp>
        <p:sp>
          <p:nvSpPr>
            <p:cNvPr id="911" name=""/>
            <p:cNvSpPr/>
            <p:nvPr/>
          </p:nvSpPr>
          <p:spPr bwMode="auto">
            <a:xfrm>
              <a:off x="7162920" y="3460680"/>
              <a:ext cx="720720" cy="153000"/>
            </a:xfrm>
            <a:prstGeom prst="rect">
              <a:avLst/>
            </a:prstGeom>
            <a:solidFill>
              <a:srgbClr val="FFFFFF"/>
            </a:solidFill>
            <a:ln w="0">
              <a:noFill/>
            </a:ln>
          </p:spPr>
          <p:style>
            <a:lnRef idx="0"/>
            <a:fillRef idx="0"/>
            <a:effectRef idx="0"/>
            <a:fontRef idx="minor"/>
          </p:style>
          <p:txBody>
            <a:bodyPr lIns="0" tIns="0" rIns="0" bIns="0" anchor="ctr">
              <a:spAutoFit/>
            </a:bodyPr>
            <a:p>
              <a:pPr algn="ctr">
                <a:lnSpc>
                  <a:spcPct val="100000"/>
                </a:lnSpc>
                <a:spcBef>
                  <a:spcPts val="624"/>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000" b="0" strike="noStrike" spc="-1">
                  <a:solidFill>
                    <a:srgbClr val="000000"/>
                  </a:solidFill>
                  <a:latin typeface="Futura Bk"/>
                </a:rPr>
                <a:t>Cluster 6</a:t>
              </a:r>
              <a:endParaRPr lang="en-US" sz="1000" b="0" strike="noStrike" spc="-1">
                <a:solidFill>
                  <a:srgbClr val="000000"/>
                </a:solidFill>
                <a:latin typeface="Arial"/>
              </a:endParaRPr>
            </a:p>
          </p:txBody>
        </p:sp>
        <p:sp>
          <p:nvSpPr>
            <p:cNvPr id="912" name=""/>
            <p:cNvSpPr/>
            <p:nvPr/>
          </p:nvSpPr>
          <p:spPr bwMode="auto">
            <a:xfrm>
              <a:off x="7164360" y="3860640"/>
              <a:ext cx="719280" cy="153000"/>
            </a:xfrm>
            <a:prstGeom prst="rect">
              <a:avLst/>
            </a:prstGeom>
            <a:solidFill>
              <a:srgbClr val="FFFFFF"/>
            </a:solidFill>
            <a:ln w="0">
              <a:noFill/>
            </a:ln>
          </p:spPr>
          <p:style>
            <a:lnRef idx="0"/>
            <a:fillRef idx="0"/>
            <a:effectRef idx="0"/>
            <a:fontRef idx="minor"/>
          </p:style>
          <p:txBody>
            <a:bodyPr lIns="0" tIns="0" rIns="0" bIns="0" anchor="ctr">
              <a:spAutoFit/>
            </a:bodyPr>
            <a:p>
              <a:pPr algn="ctr">
                <a:lnSpc>
                  <a:spcPct val="100000"/>
                </a:lnSpc>
                <a:spcBef>
                  <a:spcPts val="624"/>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000" b="0" strike="noStrike" spc="-1">
                  <a:solidFill>
                    <a:srgbClr val="000000"/>
                  </a:solidFill>
                  <a:latin typeface="Futura Bk"/>
                </a:rPr>
                <a:t>Cluster 8</a:t>
              </a:r>
              <a:endParaRPr lang="en-US" sz="1000" b="0" strike="noStrike" spc="-1">
                <a:solidFill>
                  <a:srgbClr val="000000"/>
                </a:solidFill>
                <a:latin typeface="Arial"/>
              </a:endParaRPr>
            </a:p>
          </p:txBody>
        </p:sp>
      </p:gr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913"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Experimental results 2</a:t>
            </a:r>
            <a:endParaRPr lang="en-US" sz="3600" b="0" strike="noStrike" spc="-1">
              <a:solidFill>
                <a:srgbClr val="000000"/>
              </a:solidFill>
              <a:latin typeface="Futura Bk"/>
            </a:endParaRPr>
          </a:p>
        </p:txBody>
      </p:sp>
      <p:sp>
        <p:nvSpPr>
          <p:cNvPr id="914" name="PlaceHolder 2"/>
          <p:cNvSpPr>
            <a:spLocks noGrp="1"/>
          </p:cNvSpPr>
          <p:nvPr>
            <p:ph/>
          </p:nvPr>
        </p:nvSpPr>
        <p:spPr bwMode="auto">
          <a:xfrm>
            <a:off x="611280" y="1413000"/>
            <a:ext cx="7921440" cy="576000"/>
          </a:xfrm>
          <a:prstGeom prst="rect">
            <a:avLst/>
          </a:prstGeom>
          <a:noFill/>
          <a:ln w="0">
            <a:noFill/>
          </a:ln>
        </p:spPr>
        <p:txBody>
          <a:bodyPr lIns="90000" tIns="46800" rIns="90000" bIns="46800" anchor="t">
            <a:normAutofit/>
          </a:bodyPr>
          <a:p>
            <a:pPr marL="228600" indent="-228600">
              <a:lnSpc>
                <a:spcPct val="90000"/>
              </a:lnSpc>
              <a:spcBef>
                <a:spcPts val="750"/>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rPr>
              <a:t>Adaptive mixed-metrics increase precision </a:t>
            </a:r>
            <a:endParaRPr lang="en-US" sz="2400" b="0" strike="noStrike" spc="-1">
              <a:solidFill>
                <a:srgbClr val="000000"/>
              </a:solidFill>
              <a:latin typeface="Futura Bk"/>
            </a:endParaRPr>
          </a:p>
        </p:txBody>
      </p:sp>
      <p:pic>
        <p:nvPicPr>
          <p:cNvPr id="915" name="" descr=""/>
          <p:cNvPicPr/>
          <p:nvPr/>
        </p:nvPicPr>
        <p:blipFill>
          <a:blip r:embed="rId2"/>
          <a:stretch/>
        </p:blipFill>
        <p:spPr bwMode="auto">
          <a:xfrm>
            <a:off x="901800" y="1996920"/>
            <a:ext cx="6478560" cy="4557960"/>
          </a:xfrm>
          <a:prstGeom prst="rect">
            <a:avLst/>
          </a:prstGeom>
          <a:ln w="0">
            <a:noFill/>
          </a:ln>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916"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Adaptive merge: color and color</a:t>
            </a:r>
            <a:endParaRPr lang="en-US" sz="3600" b="0" strike="noStrike" spc="-1">
              <a:solidFill>
                <a:srgbClr val="000000"/>
              </a:solidFill>
              <a:latin typeface="Futura Bk"/>
            </a:endParaRPr>
          </a:p>
        </p:txBody>
      </p:sp>
      <p:graphicFrame>
        <p:nvGraphicFramePr>
          <p:cNvPr id="0" name=""/>
          <p:cNvGraphicFramePr>
            <a:graphicFrameLocks xmlns:a="http://schemas.openxmlformats.org/drawingml/2006/main" noChangeAspect="1"/>
          </p:cNvGraphicFramePr>
          <p:nvPr>
            <p:extLst>
              <p:ext uri="{D42A27DB-BD31-4B8C-83A1-F6EECF244321}">
                <p14:modId xmlns:p14="http://schemas.microsoft.com/office/powerpoint/2010/main" val="2157879785"/>
              </p:ext>
            </p:extLst>
          </p:nvPr>
        </p:nvGraphicFramePr>
        <p:xfrm>
          <a:off x="539640" y="1413000"/>
          <a:ext cx="5545080" cy="4306680"/>
        </p:xfrm>
        <a:graphic>
          <a:graphicData uri="http://schemas.openxmlformats.org/presentationml/2006/ole">
            <p:oleObj name="oleObj" r:id="rId3" imgW="0" imgH="0" progId="Excel.Sheet.12">
              <p:embed/>
              <p:pic>
                <p:nvPicPr>
                  <p:cNvPr id="918" name="" descr=""/>
                  <p:cNvPicPr/>
                  <p:nvPr/>
                </p:nvPicPr>
                <p:blipFill>
                  <a:blip r:embed="rId2"/>
                  <a:stretch/>
                </p:blipFill>
                <p:spPr bwMode="auto">
                  <a:xfrm>
                    <a:off x="539640" y="1413000"/>
                    <a:ext cx="5545080" cy="4306680"/>
                  </a:xfrm>
                  <a:prstGeom prst="rect">
                    <a:avLst/>
                  </a:prstGeom>
                  <a:ln w="0">
                    <a:noFill/>
                  </a:ln>
                </p:spPr>
              </p:pic>
            </p:oleObj>
          </a:graphicData>
        </a:graphic>
      </p:graphicFrame>
      <p:pic>
        <p:nvPicPr>
          <p:cNvPr id="919" name="" descr=""/>
          <p:cNvPicPr/>
          <p:nvPr/>
        </p:nvPicPr>
        <p:blipFill>
          <a:blip r:embed="rId4"/>
          <a:stretch/>
        </p:blipFill>
        <p:spPr bwMode="auto">
          <a:xfrm>
            <a:off x="6443640" y="4221000"/>
            <a:ext cx="1727280" cy="1151280"/>
          </a:xfrm>
          <a:prstGeom prst="rect">
            <a:avLst/>
          </a:prstGeom>
          <a:ln w="0">
            <a:noFill/>
          </a:ln>
        </p:spPr>
      </p:pic>
      <p:pic>
        <p:nvPicPr>
          <p:cNvPr id="920" name="" descr=""/>
          <p:cNvPicPr/>
          <p:nvPr/>
        </p:nvPicPr>
        <p:blipFill>
          <a:blip r:embed="rId5"/>
          <a:stretch/>
        </p:blipFill>
        <p:spPr bwMode="auto">
          <a:xfrm>
            <a:off x="7236000" y="4653000"/>
            <a:ext cx="1657080" cy="1103400"/>
          </a:xfrm>
          <a:prstGeom prst="rect">
            <a:avLst/>
          </a:prstGeom>
          <a:ln w="0">
            <a:noFill/>
          </a:ln>
        </p:spPr>
      </p:pic>
      <p:pic>
        <p:nvPicPr>
          <p:cNvPr id="921" name="" descr=""/>
          <p:cNvPicPr/>
          <p:nvPr/>
        </p:nvPicPr>
        <p:blipFill>
          <a:blip r:embed="rId6"/>
          <a:stretch/>
        </p:blipFill>
        <p:spPr bwMode="auto">
          <a:xfrm>
            <a:off x="6300720" y="5013360"/>
            <a:ext cx="1584360" cy="1055520"/>
          </a:xfrm>
          <a:prstGeom prst="rect">
            <a:avLst/>
          </a:prstGeom>
          <a:ln w="0">
            <a:noFill/>
          </a:ln>
        </p:spPr>
      </p:pic>
      <p:pic>
        <p:nvPicPr>
          <p:cNvPr id="922" name="" descr=""/>
          <p:cNvPicPr/>
          <p:nvPr/>
        </p:nvPicPr>
        <p:blipFill>
          <a:blip r:embed="rId7"/>
          <a:stretch/>
        </p:blipFill>
        <p:spPr bwMode="auto">
          <a:xfrm>
            <a:off x="6445080" y="1363680"/>
            <a:ext cx="1511640" cy="1003320"/>
          </a:xfrm>
          <a:prstGeom prst="rect">
            <a:avLst/>
          </a:prstGeom>
          <a:ln w="0">
            <a:noFill/>
          </a:ln>
        </p:spPr>
      </p:pic>
      <p:pic>
        <p:nvPicPr>
          <p:cNvPr id="923" name="" descr=""/>
          <p:cNvPicPr/>
          <p:nvPr/>
        </p:nvPicPr>
        <p:blipFill>
          <a:blip r:embed="rId8"/>
          <a:stretch/>
        </p:blipFill>
        <p:spPr bwMode="auto">
          <a:xfrm>
            <a:off x="7236000" y="1844640"/>
            <a:ext cx="1512720" cy="1004760"/>
          </a:xfrm>
          <a:prstGeom prst="rect">
            <a:avLst/>
          </a:prstGeom>
          <a:ln w="0">
            <a:noFill/>
          </a:ln>
        </p:spPr>
      </p:pic>
      <p:pic>
        <p:nvPicPr>
          <p:cNvPr id="924" name="" descr=""/>
          <p:cNvPicPr/>
          <p:nvPr/>
        </p:nvPicPr>
        <p:blipFill>
          <a:blip r:embed="rId9"/>
          <a:stretch/>
        </p:blipFill>
        <p:spPr bwMode="auto">
          <a:xfrm>
            <a:off x="6588000" y="2276640"/>
            <a:ext cx="1656000" cy="1099800"/>
          </a:xfrm>
          <a:prstGeom prst="rect">
            <a:avLst/>
          </a:prstGeom>
          <a:ln w="0">
            <a:noFill/>
          </a:ln>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925"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Adaptive merge: color and color</a:t>
            </a:r>
            <a:endParaRPr lang="en-US" sz="3600" b="0" strike="noStrike" spc="-1">
              <a:solidFill>
                <a:srgbClr val="000000"/>
              </a:solidFill>
              <a:latin typeface="Futura Bk"/>
            </a:endParaRPr>
          </a:p>
        </p:txBody>
      </p:sp>
      <p:pic>
        <p:nvPicPr>
          <p:cNvPr id="926" name="" descr=""/>
          <p:cNvPicPr/>
          <p:nvPr/>
        </p:nvPicPr>
        <p:blipFill>
          <a:blip r:embed="rId2"/>
          <a:stretch/>
        </p:blipFill>
        <p:spPr bwMode="auto">
          <a:xfrm>
            <a:off x="6372360" y="1557360"/>
            <a:ext cx="1771560" cy="1181160"/>
          </a:xfrm>
          <a:prstGeom prst="rect">
            <a:avLst/>
          </a:prstGeom>
          <a:ln w="0">
            <a:noFill/>
          </a:ln>
        </p:spPr>
      </p:pic>
      <p:pic>
        <p:nvPicPr>
          <p:cNvPr id="927" name="" descr=""/>
          <p:cNvPicPr/>
          <p:nvPr/>
        </p:nvPicPr>
        <p:blipFill>
          <a:blip r:embed="rId3"/>
          <a:stretch/>
        </p:blipFill>
        <p:spPr bwMode="auto">
          <a:xfrm>
            <a:off x="7093080" y="1989000"/>
            <a:ext cx="1771560" cy="1181160"/>
          </a:xfrm>
          <a:prstGeom prst="rect">
            <a:avLst/>
          </a:prstGeom>
          <a:ln w="0">
            <a:noFill/>
          </a:ln>
        </p:spPr>
      </p:pic>
      <p:pic>
        <p:nvPicPr>
          <p:cNvPr id="928" name="" descr=""/>
          <p:cNvPicPr/>
          <p:nvPr/>
        </p:nvPicPr>
        <p:blipFill>
          <a:blip r:embed="rId4"/>
          <a:stretch/>
        </p:blipFill>
        <p:spPr bwMode="auto">
          <a:xfrm>
            <a:off x="6227640" y="2492280"/>
            <a:ext cx="1771920" cy="1181160"/>
          </a:xfrm>
          <a:prstGeom prst="rect">
            <a:avLst/>
          </a:prstGeom>
          <a:ln w="0">
            <a:noFill/>
          </a:ln>
        </p:spPr>
      </p:pic>
      <p:pic>
        <p:nvPicPr>
          <p:cNvPr id="929" name="" descr=""/>
          <p:cNvPicPr/>
          <p:nvPr/>
        </p:nvPicPr>
        <p:blipFill>
          <a:blip r:embed="rId5"/>
          <a:stretch/>
        </p:blipFill>
        <p:spPr bwMode="auto">
          <a:xfrm>
            <a:off x="6156360" y="4365720"/>
            <a:ext cx="1181160" cy="1771560"/>
          </a:xfrm>
          <a:prstGeom prst="rect">
            <a:avLst/>
          </a:prstGeom>
          <a:ln w="0">
            <a:noFill/>
          </a:ln>
        </p:spPr>
      </p:pic>
      <p:pic>
        <p:nvPicPr>
          <p:cNvPr id="930" name="" descr=""/>
          <p:cNvPicPr/>
          <p:nvPr/>
        </p:nvPicPr>
        <p:blipFill>
          <a:blip r:embed="rId6"/>
          <a:stretch/>
        </p:blipFill>
        <p:spPr bwMode="auto">
          <a:xfrm>
            <a:off x="7164360" y="3789360"/>
            <a:ext cx="1771560" cy="1181160"/>
          </a:xfrm>
          <a:prstGeom prst="rect">
            <a:avLst/>
          </a:prstGeom>
          <a:ln w="0">
            <a:noFill/>
          </a:ln>
        </p:spPr>
      </p:pic>
      <p:pic>
        <p:nvPicPr>
          <p:cNvPr id="931" name="" descr=""/>
          <p:cNvPicPr/>
          <p:nvPr/>
        </p:nvPicPr>
        <p:blipFill>
          <a:blip r:embed="rId7"/>
          <a:stretch/>
        </p:blipFill>
        <p:spPr bwMode="auto">
          <a:xfrm>
            <a:off x="7236000" y="5084640"/>
            <a:ext cx="1771560" cy="1181160"/>
          </a:xfrm>
          <a:prstGeom prst="rect">
            <a:avLst/>
          </a:prstGeom>
          <a:ln w="0">
            <a:noFill/>
          </a:ln>
        </p:spPr>
      </p:pic>
      <p:graphicFrame>
        <p:nvGraphicFramePr>
          <p:cNvPr id="0" name=""/>
          <p:cNvGraphicFramePr>
            <a:graphicFrameLocks xmlns:a="http://schemas.openxmlformats.org/drawingml/2006/main" noChangeAspect="1"/>
          </p:cNvGraphicFramePr>
          <p:nvPr>
            <p:extLst>
              <p:ext uri="{D42A27DB-BD31-4B8C-83A1-F6EECF244321}">
                <p14:modId xmlns:p14="http://schemas.microsoft.com/office/powerpoint/2010/main" val="2157879785"/>
              </p:ext>
            </p:extLst>
          </p:nvPr>
        </p:nvGraphicFramePr>
        <p:xfrm>
          <a:off x="306360" y="1447920"/>
          <a:ext cx="5850000" cy="4587840"/>
        </p:xfrm>
        <a:graphic>
          <a:graphicData uri="http://schemas.openxmlformats.org/presentationml/2006/ole">
            <p:oleObj name="oleObj" r:id="rId9" imgW="0" imgH="0" progId="Excel.Sheet.12">
              <p:embed/>
              <p:pic>
                <p:nvPicPr>
                  <p:cNvPr id="933" name="" descr=""/>
                  <p:cNvPicPr/>
                  <p:nvPr/>
                </p:nvPicPr>
                <p:blipFill>
                  <a:blip r:embed="rId8"/>
                  <a:stretch/>
                </p:blipFill>
                <p:spPr bwMode="auto">
                  <a:xfrm>
                    <a:off x="306360" y="1447920"/>
                    <a:ext cx="5850000" cy="4587840"/>
                  </a:xfrm>
                  <a:prstGeom prst="rect">
                    <a:avLst/>
                  </a:prstGeom>
                  <a:ln w="0">
                    <a:noFill/>
                  </a:ln>
                </p:spPr>
              </p:pic>
            </p:oleObj>
          </a:graphicData>
        </a:graphic>
      </p:graphicFrame>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934"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Color fusion</a:t>
            </a:r>
            <a:endParaRPr lang="en-US" sz="3600" b="0" strike="noStrike" spc="-1">
              <a:solidFill>
                <a:srgbClr val="000000"/>
              </a:solidFill>
              <a:latin typeface="Futura Bk"/>
            </a:endParaRPr>
          </a:p>
        </p:txBody>
      </p:sp>
      <p:sp>
        <p:nvSpPr>
          <p:cNvPr id="935" name="PlaceHolder 2"/>
          <p:cNvSpPr>
            <a:spLocks noGrp="1"/>
          </p:cNvSpPr>
          <p:nvPr>
            <p:ph/>
          </p:nvPr>
        </p:nvSpPr>
        <p:spPr bwMode="auto">
          <a:xfrm>
            <a:off x="473040" y="1412640"/>
            <a:ext cx="8059680" cy="541080"/>
          </a:xfrm>
          <a:prstGeom prst="rect">
            <a:avLst/>
          </a:prstGeom>
          <a:noFill/>
          <a:ln w="0">
            <a:noFill/>
          </a:ln>
        </p:spPr>
        <p:txBody>
          <a:bodyPr lIns="90000" tIns="46800" rIns="90000" bIns="46800" anchor="t">
            <a:normAutofit/>
          </a:bodyPr>
          <a:p>
            <a:pPr marL="228600" indent="-228600">
              <a:lnSpc>
                <a:spcPct val="90000"/>
              </a:lnSpc>
              <a:spcBef>
                <a:spcPts val="876"/>
              </a:spcBef>
              <a:spcAft>
                <a:spcPts val="349"/>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b="0" strike="noStrike" spc="-1">
                <a:solidFill>
                  <a:srgbClr val="0071B4"/>
                </a:solidFill>
                <a:latin typeface="Futura Bk"/>
              </a:rPr>
              <a:t>CombMNZ (Moments + HSL histogram)</a:t>
            </a:r>
            <a:endParaRPr lang="en-US" sz="2800" b="0" strike="noStrike" spc="-1">
              <a:solidFill>
                <a:srgbClr val="000000"/>
              </a:solidFill>
              <a:latin typeface="Futura Bk"/>
            </a:endParaRPr>
          </a:p>
        </p:txBody>
      </p:sp>
      <p:graphicFrame>
        <p:nvGraphicFramePr>
          <p:cNvPr id="0" name=""/>
          <p:cNvGraphicFramePr>
            <a:graphicFrameLocks xmlns:a="http://schemas.openxmlformats.org/drawingml/2006/main" noChangeAspect="1"/>
          </p:cNvGraphicFramePr>
          <p:nvPr>
            <p:extLst>
              <p:ext uri="{D42A27DB-BD31-4B8C-83A1-F6EECF244321}">
                <p14:modId xmlns:p14="http://schemas.microsoft.com/office/powerpoint/2010/main" val="2157879785"/>
              </p:ext>
            </p:extLst>
          </p:nvPr>
        </p:nvGraphicFramePr>
        <p:xfrm>
          <a:off x="539640" y="1916280"/>
          <a:ext cx="6693120" cy="4537080"/>
        </p:xfrm>
        <a:graphic>
          <a:graphicData uri="http://schemas.openxmlformats.org/presentationml/2006/ole">
            <p:oleObj name="oleObj" r:id="rId3" imgW="0" imgH="0" progId="Excel.Sheet.12">
              <p:embed/>
              <p:pic>
                <p:nvPicPr>
                  <p:cNvPr id="937" name="" descr=""/>
                  <p:cNvPicPr/>
                  <p:nvPr/>
                </p:nvPicPr>
                <p:blipFill>
                  <a:blip r:embed="rId2"/>
                  <a:stretch/>
                </p:blipFill>
                <p:spPr bwMode="auto">
                  <a:xfrm>
                    <a:off x="539640" y="1916280"/>
                    <a:ext cx="6693120" cy="4537080"/>
                  </a:xfrm>
                  <a:prstGeom prst="rect">
                    <a:avLst/>
                  </a:prstGeom>
                  <a:ln w="0">
                    <a:noFill/>
                  </a:ln>
                </p:spPr>
              </p:pic>
            </p:oleObj>
          </a:graphicData>
        </a:graphic>
      </p:graphicFrame>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938" name="PlaceHolder 1"/>
          <p:cNvSpPr>
            <a:spLocks noGrp="1"/>
          </p:cNvSpPr>
          <p:nvPr>
            <p:ph/>
          </p:nvPr>
        </p:nvSpPr>
        <p:spPr bwMode="auto">
          <a:xfrm>
            <a:off x="399960" y="1447560"/>
            <a:ext cx="8274240" cy="981000"/>
          </a:xfrm>
          <a:prstGeom prst="rect">
            <a:avLst/>
          </a:prstGeom>
          <a:noFill/>
          <a:ln w="0">
            <a:noFill/>
          </a:ln>
        </p:spPr>
        <p:txBody>
          <a:bodyPr lIns="0" tIns="0" rIns="0" bIns="0" anchor="t">
            <a:normAutofit/>
          </a:bodyPr>
          <a:p>
            <a:pPr marL="431640" indent="-323640">
              <a:lnSpc>
                <a:spcPct val="90000"/>
              </a:lnSpc>
              <a:spcBef>
                <a:spcPts val="876"/>
              </a:spcBef>
              <a:spcAft>
                <a:spcPts val="349"/>
              </a:spcAft>
              <a:buClr>
                <a:srgbClr val="000000"/>
              </a:buClr>
              <a:buSzPct val="85000"/>
              <a:buFont typeface="Wingdings"/>
              <a:buChar char=""/>
              <a:tabLst>
                <a:tab pos="723960" algn="l"/>
                <a:tab pos="1447920" algn="l"/>
                <a:tab pos="2171880" algn="l"/>
                <a:tab pos="2895480" algn="l"/>
                <a:tab pos="3619440" algn="l"/>
                <a:tab pos="4343400" algn="l"/>
                <a:tab pos="5067360" algn="l"/>
                <a:tab pos="5791320" algn="l"/>
                <a:tab pos="6515280" algn="l"/>
                <a:tab pos="7238880" algn="l"/>
                <a:tab pos="7962840" algn="l"/>
                <a:tab pos="8686800" algn="l"/>
                <a:tab pos="8985240" algn="l"/>
                <a:tab pos="9434520" algn="l"/>
                <a:tab pos="9883800" algn="l"/>
                <a:tab pos="10333079" algn="l"/>
                <a:tab pos="10782360" algn="l"/>
              </a:tabLst>
              <a:defRPr/>
            </a:pPr>
            <a:r>
              <a:rPr lang="en-GB" sz="2800" b="0" strike="noStrike" spc="-1">
                <a:solidFill>
                  <a:srgbClr val="000000"/>
                </a:solidFill>
                <a:latin typeface="Futura Bk"/>
              </a:rPr>
              <a:t>Search by textual query in semi annotated image collection</a:t>
            </a:r>
            <a:endParaRPr lang="en-US" sz="2800" b="0" strike="noStrike" spc="-1">
              <a:solidFill>
                <a:srgbClr val="000000"/>
              </a:solidFill>
              <a:latin typeface="Futura Bk"/>
            </a:endParaRPr>
          </a:p>
        </p:txBody>
      </p:sp>
      <p:sp>
        <p:nvSpPr>
          <p:cNvPr id="939" name=""/>
          <p:cNvSpPr/>
          <p:nvPr/>
        </p:nvSpPr>
        <p:spPr bwMode="auto">
          <a:xfrm>
            <a:off x="590400" y="44280"/>
            <a:ext cx="8229600" cy="1146240"/>
          </a:xfrm>
          <a:prstGeom prst="rect">
            <a:avLst/>
          </a:prstGeom>
          <a:noFill/>
          <a:ln w="0">
            <a:noFill/>
          </a:ln>
        </p:spPr>
        <p:style>
          <a:lnRef idx="0"/>
          <a:fillRef idx="0"/>
          <a:effectRef idx="0"/>
          <a:fontRef idx="minor"/>
        </p:style>
        <p:txBody>
          <a:bodyPr lIns="0" tIns="0" rIns="0" bIns="0" anchor="ctr">
            <a:noAutofit/>
          </a:bodyPr>
          <a:p>
            <a:pPr>
              <a:lnSpc>
                <a:spcPct val="101000"/>
              </a:lnSpc>
              <a:spcBef>
                <a:spcPts val="1125"/>
              </a:spcBef>
              <a:tabLst>
                <a:tab pos="0" algn="l"/>
                <a:tab pos="723960" algn="l"/>
                <a:tab pos="1447920" algn="l"/>
                <a:tab pos="2171880" algn="l"/>
                <a:tab pos="2895480" algn="l"/>
                <a:tab pos="3619440" algn="l"/>
                <a:tab pos="4343400" algn="l"/>
                <a:tab pos="5067360" algn="l"/>
                <a:tab pos="5791320" algn="l"/>
                <a:tab pos="6515280" algn="l"/>
                <a:tab pos="7238880" algn="l"/>
                <a:tab pos="7962840" algn="l"/>
                <a:tab pos="8686800" algn="l"/>
                <a:tab pos="8985240" algn="l"/>
                <a:tab pos="9434520" algn="l"/>
                <a:tab pos="9883800" algn="l"/>
                <a:tab pos="10333079" algn="l"/>
                <a:tab pos="10782360" algn="l"/>
              </a:tabLst>
              <a:defRPr/>
            </a:pPr>
            <a:r>
              <a:rPr lang="en-US" sz="3600" b="0" strike="noStrike" spc="-1">
                <a:solidFill>
                  <a:srgbClr val="000000"/>
                </a:solidFill>
                <a:latin typeface="Futura Bk"/>
                <a:ea typeface="Arial"/>
              </a:rPr>
              <a:t>Ranked lists fusion: application area</a:t>
            </a:r>
            <a:endParaRPr lang="en-US" sz="3600" b="0" strike="noStrike" spc="-1">
              <a:solidFill>
                <a:srgbClr val="000000"/>
              </a:solidFill>
              <a:latin typeface="Arial"/>
            </a:endParaRPr>
          </a:p>
        </p:txBody>
      </p:sp>
      <p:sp>
        <p:nvSpPr>
          <p:cNvPr id="940" name=""/>
          <p:cNvSpPr/>
          <p:nvPr/>
        </p:nvSpPr>
        <p:spPr bwMode="auto">
          <a:xfrm>
            <a:off x="1332000" y="2781360"/>
            <a:ext cx="1655640" cy="431640"/>
          </a:xfrm>
          <a:prstGeom prst="rect">
            <a:avLst/>
          </a:prstGeom>
          <a:solidFill>
            <a:srgbClr val="0071B4">
              <a:alpha val="60000"/>
            </a:srgbClr>
          </a:solidFill>
          <a:ln w="9360">
            <a:solidFill>
              <a:srgbClr val="000000"/>
            </a:solidFill>
            <a:miter/>
          </a:ln>
        </p:spPr>
        <p:style>
          <a:lnRef idx="0"/>
          <a:fillRef idx="0"/>
          <a:effectRef idx="0"/>
          <a:fontRef idx="minor"/>
        </p:style>
        <p:txBody>
          <a:bodyPr wrap="none" lIns="90000" tIns="46800" rIns="90000" bIns="46800" anchor="ctr">
            <a:noAutofit/>
          </a:bodyPr>
          <a:p>
            <a:pPr marL="343080" indent="-343080" algn="ctr">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CC0066"/>
                </a:solidFill>
                <a:latin typeface="Tahoma"/>
              </a:rPr>
              <a:t>Textual query</a:t>
            </a:r>
            <a:endParaRPr lang="en-US" sz="1800" b="0" strike="noStrike" spc="-1">
              <a:solidFill>
                <a:srgbClr val="000000"/>
              </a:solidFill>
              <a:latin typeface="Arial"/>
            </a:endParaRPr>
          </a:p>
        </p:txBody>
      </p:sp>
      <p:grpSp>
        <p:nvGrpSpPr>
          <p:cNvPr id="941" name=""/>
          <p:cNvGrpSpPr/>
          <p:nvPr/>
        </p:nvGrpSpPr>
        <p:grpSpPr bwMode="auto">
          <a:xfrm>
            <a:off x="826920" y="4726080"/>
            <a:ext cx="2592360" cy="1224000"/>
            <a:chOff x="826920" y="4726080"/>
            <a:chExt cx="2592360" cy="1224000"/>
          </a:xfrm>
        </p:grpSpPr>
        <p:sp>
          <p:nvSpPr>
            <p:cNvPr id="942" name=""/>
            <p:cNvSpPr/>
            <p:nvPr/>
          </p:nvSpPr>
          <p:spPr bwMode="auto">
            <a:xfrm>
              <a:off x="826920" y="4726080"/>
              <a:ext cx="2592360" cy="1224000"/>
            </a:xfrm>
            <a:prstGeom prst="rect">
              <a:avLst/>
            </a:prstGeom>
            <a:solidFill>
              <a:srgbClr val="0071B4">
                <a:alpha val="60000"/>
              </a:srgbClr>
            </a:solidFill>
            <a:ln w="9360">
              <a:solidFill>
                <a:srgbClr val="000000"/>
              </a:solidFill>
              <a:miter/>
            </a:ln>
          </p:spPr>
          <p:style>
            <a:lnRef idx="0"/>
            <a:fillRef idx="0"/>
            <a:effectRef idx="0"/>
            <a:fontRef idx="minor"/>
          </p:style>
          <p:txBody>
            <a:bodyPr wrap="none" lIns="90000" tIns="46800" rIns="90000" bIns="46800" anchor="ctr">
              <a:noAutofit/>
            </a:bodyPr>
            <a:p>
              <a:pPr marL="343080" indent="-343080">
                <a:lnSpc>
                  <a:spcPct val="100000"/>
                </a:lnSpc>
                <a:spcBef>
                  <a:spcPts val="561"/>
                </a:spcBef>
                <a:spcAft>
                  <a:spcPts val="224"/>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1" strike="noStrike" spc="-1">
                  <a:solidFill>
                    <a:srgbClr val="CC0066"/>
                  </a:solidFill>
                  <a:latin typeface="Tahoma"/>
                </a:rPr>
                <a:t>T</a:t>
              </a:r>
              <a:r>
                <a:rPr lang="en-US" sz="1800" b="0" strike="noStrike" spc="-1">
                  <a:solidFill>
                    <a:srgbClr val="000000"/>
                  </a:solidFill>
                  <a:latin typeface="Tahoma"/>
                </a:rPr>
                <a:t>ext</a:t>
              </a:r>
              <a:r>
                <a:rPr lang="en-US" sz="1800" b="1" strike="noStrike" spc="-1">
                  <a:solidFill>
                    <a:srgbClr val="CC0066"/>
                  </a:solidFill>
                  <a:latin typeface="Tahoma"/>
                </a:rPr>
                <a:t>R</a:t>
              </a:r>
              <a:r>
                <a:rPr lang="en-US" sz="1800" b="0" strike="noStrike" spc="-1">
                  <a:solidFill>
                    <a:srgbClr val="000000"/>
                  </a:solidFill>
                  <a:latin typeface="Tahoma"/>
                </a:rPr>
                <a:t>esult</a:t>
              </a:r>
              <a:r>
                <a:rPr lang="en-US" sz="1800" b="1" strike="noStrike" spc="-1" baseline="-25000">
                  <a:solidFill>
                    <a:srgbClr val="CC0066"/>
                  </a:solidFill>
                  <a:latin typeface="Tahoma"/>
                </a:rPr>
                <a:t>1</a:t>
              </a:r>
              <a:r>
                <a:rPr lang="en-US" sz="1800" b="0" strike="noStrike" spc="-1">
                  <a:solidFill>
                    <a:srgbClr val="000000"/>
                  </a:solidFill>
                  <a:latin typeface="Tahoma"/>
                </a:rPr>
                <a:t>, </a:t>
              </a:r>
              <a:r>
                <a:rPr lang="en-US" sz="1800" b="1" strike="noStrike" spc="-1">
                  <a:solidFill>
                    <a:srgbClr val="CC0066"/>
                  </a:solidFill>
                  <a:latin typeface="Tahoma"/>
                </a:rPr>
                <a:t>t</a:t>
              </a:r>
              <a:r>
                <a:rPr lang="en-US" sz="1800" b="0" strike="noStrike" spc="-1">
                  <a:solidFill>
                    <a:srgbClr val="000000"/>
                  </a:solidFill>
                  <a:latin typeface="Tahoma"/>
                </a:rPr>
                <a:t>ext</a:t>
              </a:r>
              <a:r>
                <a:rPr lang="en-US" sz="1800" b="1" strike="noStrike" spc="-1">
                  <a:solidFill>
                    <a:srgbClr val="CC0066"/>
                  </a:solidFill>
                  <a:latin typeface="Tahoma"/>
                </a:rPr>
                <a:t>r</a:t>
              </a:r>
              <a:r>
                <a:rPr lang="en-US" sz="1800" b="0" strike="noStrike" spc="-1">
                  <a:solidFill>
                    <a:srgbClr val="000000"/>
                  </a:solidFill>
                  <a:latin typeface="Tahoma"/>
                </a:rPr>
                <a:t>ank</a:t>
              </a:r>
              <a:r>
                <a:rPr lang="en-US" sz="1800" b="1" strike="noStrike" spc="-1" baseline="-25000">
                  <a:solidFill>
                    <a:srgbClr val="CC0066"/>
                  </a:solidFill>
                  <a:latin typeface="Tahoma"/>
                </a:rPr>
                <a:t>1</a:t>
              </a:r>
              <a:endParaRPr lang="en-US" sz="1800" b="0" strike="noStrike" spc="-1">
                <a:solidFill>
                  <a:srgbClr val="000000"/>
                </a:solidFill>
                <a:latin typeface="Arial"/>
              </a:endParaRPr>
            </a:p>
            <a:p>
              <a:pPr marL="343080" indent="-343080">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1" strike="noStrike" spc="-1">
                  <a:solidFill>
                    <a:srgbClr val="CC0066"/>
                  </a:solidFill>
                  <a:latin typeface="Tahoma"/>
                </a:rPr>
                <a:t>TR</a:t>
              </a:r>
              <a:r>
                <a:rPr lang="en-US" sz="1800" b="1" strike="noStrike" spc="-1" baseline="-25000">
                  <a:solidFill>
                    <a:srgbClr val="CC0066"/>
                  </a:solidFill>
                  <a:latin typeface="Tahoma"/>
                </a:rPr>
                <a:t>2</a:t>
              </a:r>
              <a:r>
                <a:rPr lang="en-US" sz="1800" b="0" strike="noStrike" spc="-1">
                  <a:solidFill>
                    <a:srgbClr val="000000"/>
                  </a:solidFill>
                  <a:latin typeface="Tahoma"/>
                </a:rPr>
                <a:t>, </a:t>
              </a:r>
              <a:r>
                <a:rPr lang="en-US" sz="1800" b="1" strike="noStrike" spc="-1">
                  <a:solidFill>
                    <a:srgbClr val="CC0066"/>
                  </a:solidFill>
                  <a:latin typeface="Tahoma"/>
                </a:rPr>
                <a:t>tr</a:t>
              </a:r>
              <a:r>
                <a:rPr lang="en-US" sz="1800" b="0" strike="noStrike" spc="-1" baseline="-25000">
                  <a:solidFill>
                    <a:srgbClr val="CC0066"/>
                  </a:solidFill>
                  <a:latin typeface="Tahoma"/>
                </a:rPr>
                <a:t>2</a:t>
              </a:r>
              <a:r>
                <a:rPr lang="en-US" sz="1800" b="0" strike="noStrike" spc="-1" baseline="-25000">
                  <a:solidFill>
                    <a:srgbClr val="000000"/>
                  </a:solidFill>
                  <a:latin typeface="Tahoma"/>
                </a:rPr>
                <a:t>,</a:t>
              </a:r>
              <a:endParaRPr lang="en-US" sz="1800" b="0" strike="noStrike" spc="-1">
                <a:solidFill>
                  <a:srgbClr val="000000"/>
                </a:solidFill>
                <a:latin typeface="Arial"/>
              </a:endParaRPr>
            </a:p>
            <a:p>
              <a:pPr marL="343080" indent="-343080">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1" strike="noStrike" spc="-1" baseline="-25000">
                  <a:solidFill>
                    <a:srgbClr val="000000"/>
                  </a:solidFill>
                  <a:latin typeface="Tahoma"/>
                </a:rPr>
                <a:t>...</a:t>
              </a:r>
              <a:endParaRPr lang="en-US" sz="1800" b="0" strike="noStrike" spc="-1">
                <a:solidFill>
                  <a:srgbClr val="000000"/>
                </a:solidFill>
                <a:latin typeface="Arial"/>
              </a:endParaRPr>
            </a:p>
            <a:p>
              <a:pPr marL="343080" indent="-343080">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1800" b="0" strike="noStrike" spc="-1">
                <a:solidFill>
                  <a:srgbClr val="000000"/>
                </a:solidFill>
                <a:latin typeface="Arial"/>
              </a:endParaRPr>
            </a:p>
          </p:txBody>
        </p:sp>
        <p:sp>
          <p:nvSpPr>
            <p:cNvPr id="943" name=""/>
            <p:cNvSpPr/>
            <p:nvPr/>
          </p:nvSpPr>
          <p:spPr bwMode="auto">
            <a:xfrm>
              <a:off x="826920" y="5157720"/>
              <a:ext cx="2592360" cy="0"/>
            </a:xfrm>
            <a:prstGeom prst="line">
              <a:avLst/>
            </a:prstGeom>
            <a:ln w="9360">
              <a:solidFill>
                <a:srgbClr val="000000"/>
              </a:solidFill>
              <a:miter/>
            </a:ln>
          </p:spPr>
          <p:style>
            <a:lnRef idx="0"/>
            <a:fillRef idx="0"/>
            <a:effectRef idx="0"/>
            <a:fontRef idx="minor"/>
          </p:style>
          <p:txBody>
            <a:bodyPr lIns="90000" tIns="-46800" rIns="90000" bIns="-46800" anchor="t">
              <a:noAutofit/>
            </a:bodyPr>
            <a:p>
              <a:pPr>
                <a:defRPr/>
              </a:pPr>
              <a:endParaRPr lang="en-US" sz="1800" b="0" strike="noStrike" spc="-1">
                <a:solidFill>
                  <a:srgbClr val="000000"/>
                </a:solidFill>
                <a:latin typeface="Arial"/>
              </a:endParaRPr>
            </a:p>
          </p:txBody>
        </p:sp>
        <p:sp>
          <p:nvSpPr>
            <p:cNvPr id="944" name=""/>
            <p:cNvSpPr/>
            <p:nvPr/>
          </p:nvSpPr>
          <p:spPr bwMode="auto">
            <a:xfrm>
              <a:off x="826920" y="5518080"/>
              <a:ext cx="2592360" cy="0"/>
            </a:xfrm>
            <a:prstGeom prst="line">
              <a:avLst/>
            </a:prstGeom>
            <a:ln w="9360">
              <a:solidFill>
                <a:srgbClr val="000000"/>
              </a:solidFill>
              <a:miter/>
            </a:ln>
          </p:spPr>
          <p:style>
            <a:lnRef idx="0"/>
            <a:fillRef idx="0"/>
            <a:effectRef idx="0"/>
            <a:fontRef idx="minor"/>
          </p:style>
          <p:txBody>
            <a:bodyPr lIns="90000" tIns="-46800" rIns="90000" bIns="-46800" anchor="t">
              <a:noAutofit/>
            </a:bodyPr>
            <a:p>
              <a:pPr>
                <a:defRPr/>
              </a:pPr>
              <a:endParaRPr lang="en-US" sz="1800" b="0" strike="noStrike" spc="-1">
                <a:solidFill>
                  <a:srgbClr val="000000"/>
                </a:solidFill>
                <a:latin typeface="Arial"/>
              </a:endParaRPr>
            </a:p>
          </p:txBody>
        </p:sp>
      </p:grpSp>
      <p:sp>
        <p:nvSpPr>
          <p:cNvPr id="945" name=""/>
          <p:cNvSpPr/>
          <p:nvPr/>
        </p:nvSpPr>
        <p:spPr bwMode="auto">
          <a:xfrm>
            <a:off x="2124000" y="3213000"/>
            <a:ext cx="0" cy="1511280"/>
          </a:xfrm>
          <a:prstGeom prst="line">
            <a:avLst/>
          </a:prstGeom>
          <a:ln w="19080">
            <a:solidFill>
              <a:srgbClr val="000000"/>
            </a:solidFill>
            <a:miter/>
            <a:tailEnd type="triangle" w="med" len="med"/>
          </a:ln>
        </p:spPr>
        <p:style>
          <a:lnRef idx="0"/>
          <a:fillRef idx="0"/>
          <a:effectRef idx="0"/>
          <a:fontRef idx="minor"/>
        </p:style>
        <p:txBody>
          <a:bodyPr lIns="90000" tIns="46800" rIns="90000" bIns="46800" anchor="t">
            <a:noAutofit/>
          </a:bodyPr>
          <a:p>
            <a:pPr>
              <a:defRPr/>
            </a:pPr>
            <a:endParaRPr lang="en-US" sz="1800" b="0" strike="noStrike" spc="-1">
              <a:solidFill>
                <a:srgbClr val="000000"/>
              </a:solidFill>
              <a:latin typeface="Arial"/>
            </a:endParaRPr>
          </a:p>
        </p:txBody>
      </p:sp>
      <p:grpSp>
        <p:nvGrpSpPr>
          <p:cNvPr id="946" name=""/>
          <p:cNvGrpSpPr/>
          <p:nvPr/>
        </p:nvGrpSpPr>
        <p:grpSpPr bwMode="auto">
          <a:xfrm>
            <a:off x="3887640" y="3733920"/>
            <a:ext cx="3232440" cy="455040"/>
            <a:chOff x="3887640" y="3733920"/>
            <a:chExt cx="3232440" cy="455040"/>
          </a:xfrm>
        </p:grpSpPr>
        <p:sp>
          <p:nvSpPr>
            <p:cNvPr id="947" name=""/>
            <p:cNvSpPr/>
            <p:nvPr/>
          </p:nvSpPr>
          <p:spPr bwMode="auto">
            <a:xfrm>
              <a:off x="4677480" y="3791160"/>
              <a:ext cx="2126160" cy="358560"/>
            </a:xfrm>
            <a:prstGeom prst="rect">
              <a:avLst/>
            </a:prstGeom>
            <a:solidFill>
              <a:srgbClr val="0071B4">
                <a:alpha val="60000"/>
              </a:srgbClr>
            </a:solidFill>
            <a:ln w="9360">
              <a:solidFill>
                <a:srgbClr val="0000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948" name=""/>
            <p:cNvSpPr/>
            <p:nvPr/>
          </p:nvSpPr>
          <p:spPr bwMode="auto">
            <a:xfrm>
              <a:off x="5010120" y="3791160"/>
              <a:ext cx="0" cy="358560"/>
            </a:xfrm>
            <a:prstGeom prst="line">
              <a:avLst/>
            </a:prstGeom>
            <a:ln w="9360">
              <a:solidFill>
                <a:srgbClr val="000000"/>
              </a:solidFill>
              <a:miter/>
            </a:ln>
          </p:spPr>
          <p:style>
            <a:lnRef idx="0"/>
            <a:fillRef idx="0"/>
            <a:effectRef idx="0"/>
            <a:fontRef idx="minor"/>
          </p:style>
          <p:txBody>
            <a:bodyPr lIns="90000" tIns="46800" rIns="90000" bIns="46800" anchor="t">
              <a:noAutofit/>
            </a:bodyPr>
            <a:p>
              <a:pPr>
                <a:defRPr/>
              </a:pPr>
              <a:endParaRPr lang="en-US" sz="1800" b="0" strike="noStrike" spc="-1">
                <a:solidFill>
                  <a:srgbClr val="000000"/>
                </a:solidFill>
                <a:latin typeface="Arial"/>
              </a:endParaRPr>
            </a:p>
          </p:txBody>
        </p:sp>
        <p:sp>
          <p:nvSpPr>
            <p:cNvPr id="949" name=""/>
            <p:cNvSpPr/>
            <p:nvPr/>
          </p:nvSpPr>
          <p:spPr bwMode="auto">
            <a:xfrm>
              <a:off x="5342400" y="3791160"/>
              <a:ext cx="0" cy="358560"/>
            </a:xfrm>
            <a:prstGeom prst="line">
              <a:avLst/>
            </a:prstGeom>
            <a:ln w="9360">
              <a:solidFill>
                <a:srgbClr val="000000"/>
              </a:solidFill>
              <a:miter/>
            </a:ln>
          </p:spPr>
          <p:style>
            <a:lnRef idx="0"/>
            <a:fillRef idx="0"/>
            <a:effectRef idx="0"/>
            <a:fontRef idx="minor"/>
          </p:style>
          <p:txBody>
            <a:bodyPr lIns="90000" tIns="46800" rIns="90000" bIns="46800" anchor="t">
              <a:noAutofit/>
            </a:bodyPr>
            <a:p>
              <a:pPr>
                <a:defRPr/>
              </a:pPr>
              <a:endParaRPr lang="en-US" sz="1800" b="0" strike="noStrike" spc="-1">
                <a:solidFill>
                  <a:srgbClr val="000000"/>
                </a:solidFill>
                <a:latin typeface="Arial"/>
              </a:endParaRPr>
            </a:p>
          </p:txBody>
        </p:sp>
        <p:sp>
          <p:nvSpPr>
            <p:cNvPr id="950" name=""/>
            <p:cNvSpPr/>
            <p:nvPr/>
          </p:nvSpPr>
          <p:spPr bwMode="auto">
            <a:xfrm>
              <a:off x="5674680" y="3791160"/>
              <a:ext cx="0" cy="358560"/>
            </a:xfrm>
            <a:prstGeom prst="line">
              <a:avLst/>
            </a:prstGeom>
            <a:ln w="9360">
              <a:solidFill>
                <a:srgbClr val="000000"/>
              </a:solidFill>
              <a:miter/>
            </a:ln>
          </p:spPr>
          <p:style>
            <a:lnRef idx="0"/>
            <a:fillRef idx="0"/>
            <a:effectRef idx="0"/>
            <a:fontRef idx="minor"/>
          </p:style>
          <p:txBody>
            <a:bodyPr lIns="90000" tIns="46800" rIns="90000" bIns="46800" anchor="t">
              <a:noAutofit/>
            </a:bodyPr>
            <a:p>
              <a:pPr>
                <a:defRPr/>
              </a:pPr>
              <a:endParaRPr lang="en-US" sz="1800" b="0" strike="noStrike" spc="-1">
                <a:solidFill>
                  <a:srgbClr val="000000"/>
                </a:solidFill>
                <a:latin typeface="Arial"/>
              </a:endParaRPr>
            </a:p>
          </p:txBody>
        </p:sp>
        <p:sp>
          <p:nvSpPr>
            <p:cNvPr id="951" name=""/>
            <p:cNvSpPr/>
            <p:nvPr/>
          </p:nvSpPr>
          <p:spPr bwMode="auto">
            <a:xfrm>
              <a:off x="6007320" y="3791160"/>
              <a:ext cx="0" cy="358560"/>
            </a:xfrm>
            <a:prstGeom prst="line">
              <a:avLst/>
            </a:prstGeom>
            <a:ln w="9360">
              <a:solidFill>
                <a:srgbClr val="000000"/>
              </a:solidFill>
              <a:miter/>
            </a:ln>
          </p:spPr>
          <p:style>
            <a:lnRef idx="0"/>
            <a:fillRef idx="0"/>
            <a:effectRef idx="0"/>
            <a:fontRef idx="minor"/>
          </p:style>
          <p:txBody>
            <a:bodyPr lIns="90000" tIns="46800" rIns="90000" bIns="46800" anchor="t">
              <a:noAutofit/>
            </a:bodyPr>
            <a:p>
              <a:pPr>
                <a:defRPr/>
              </a:pPr>
              <a:endParaRPr lang="en-US" sz="1800" b="0" strike="noStrike" spc="-1">
                <a:solidFill>
                  <a:srgbClr val="000000"/>
                </a:solidFill>
                <a:latin typeface="Arial"/>
              </a:endParaRPr>
            </a:p>
          </p:txBody>
        </p:sp>
        <p:sp>
          <p:nvSpPr>
            <p:cNvPr id="952" name=""/>
            <p:cNvSpPr/>
            <p:nvPr/>
          </p:nvSpPr>
          <p:spPr bwMode="auto">
            <a:xfrm>
              <a:off x="6338160" y="3791160"/>
              <a:ext cx="0" cy="358560"/>
            </a:xfrm>
            <a:prstGeom prst="line">
              <a:avLst/>
            </a:prstGeom>
            <a:ln w="9360">
              <a:solidFill>
                <a:srgbClr val="000000"/>
              </a:solidFill>
              <a:miter/>
            </a:ln>
          </p:spPr>
          <p:style>
            <a:lnRef idx="0"/>
            <a:fillRef idx="0"/>
            <a:effectRef idx="0"/>
            <a:fontRef idx="minor"/>
          </p:style>
          <p:txBody>
            <a:bodyPr lIns="90000" tIns="46800" rIns="90000" bIns="46800" anchor="t">
              <a:noAutofit/>
            </a:bodyPr>
            <a:p>
              <a:pPr>
                <a:defRPr/>
              </a:pPr>
              <a:endParaRPr lang="en-US" sz="1800" b="0" strike="noStrike" spc="-1">
                <a:solidFill>
                  <a:srgbClr val="000000"/>
                </a:solidFill>
                <a:latin typeface="Arial"/>
              </a:endParaRPr>
            </a:p>
          </p:txBody>
        </p:sp>
        <p:sp>
          <p:nvSpPr>
            <p:cNvPr id="953" name=""/>
            <p:cNvSpPr/>
            <p:nvPr/>
          </p:nvSpPr>
          <p:spPr bwMode="auto">
            <a:xfrm>
              <a:off x="6024600" y="3733920"/>
              <a:ext cx="1095480" cy="368280"/>
            </a:xfrm>
            <a:prstGeom prst="rect">
              <a:avLst/>
            </a:prstGeom>
            <a:noFill/>
            <a:ln w="0">
              <a:noFill/>
            </a:ln>
          </p:spPr>
          <p:style>
            <a:lnRef idx="0"/>
            <a:fillRef idx="0"/>
            <a:effectRef idx="0"/>
            <a:fontRef idx="minor"/>
          </p:style>
          <p:txBody>
            <a:bodyPr wrap="none" lIns="90000" tIns="46800" rIns="90000" bIns="46800" anchor="t">
              <a:spAutoFit/>
            </a:bodyPr>
            <a:p>
              <a:pPr marL="343080" indent="-343080">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CC0066"/>
                  </a:solidFill>
                  <a:latin typeface="Tahoma"/>
                </a:rPr>
                <a:t>…</a:t>
              </a:r>
              <a:endParaRPr lang="en-US" sz="1800" b="0" strike="noStrike" spc="-1">
                <a:solidFill>
                  <a:srgbClr val="000000"/>
                </a:solidFill>
                <a:latin typeface="Arial"/>
              </a:endParaRPr>
            </a:p>
          </p:txBody>
        </p:sp>
        <p:sp>
          <p:nvSpPr>
            <p:cNvPr id="954" name=""/>
            <p:cNvSpPr/>
            <p:nvPr/>
          </p:nvSpPr>
          <p:spPr bwMode="auto">
            <a:xfrm>
              <a:off x="3887640" y="3783240"/>
              <a:ext cx="1179360" cy="405720"/>
            </a:xfrm>
            <a:prstGeom prst="rect">
              <a:avLst/>
            </a:prstGeom>
            <a:noFill/>
            <a:ln w="0">
              <a:noFill/>
            </a:ln>
          </p:spPr>
          <p:style>
            <a:lnRef idx="0"/>
            <a:fillRef idx="0"/>
            <a:effectRef idx="0"/>
            <a:fontRef idx="minor"/>
          </p:style>
          <p:txBody>
            <a:bodyPr wrap="none" lIns="90000" tIns="46800" rIns="90000" bIns="46800" anchor="t">
              <a:spAutoFit/>
            </a:bodyPr>
            <a:p>
              <a:pPr marL="343080" indent="-343080">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1" strike="noStrike" spc="-1">
                  <a:solidFill>
                    <a:srgbClr val="CC0066"/>
                  </a:solidFill>
                  <a:latin typeface="Tahoma"/>
                </a:rPr>
                <a:t>tr</a:t>
              </a:r>
              <a:r>
                <a:rPr lang="en-US" sz="1800" b="1" strike="noStrike" spc="-1" baseline="-25000">
                  <a:solidFill>
                    <a:srgbClr val="CC0066"/>
                  </a:solidFill>
                  <a:latin typeface="Tahoma"/>
                </a:rPr>
                <a:t>1</a:t>
              </a:r>
              <a:endParaRPr lang="en-US" sz="1800" b="0" strike="noStrike" spc="-1">
                <a:solidFill>
                  <a:srgbClr val="000000"/>
                </a:solidFill>
                <a:latin typeface="Arial"/>
              </a:endParaRPr>
            </a:p>
          </p:txBody>
        </p:sp>
      </p:grpSp>
      <p:grpSp>
        <p:nvGrpSpPr>
          <p:cNvPr id="955" name=""/>
          <p:cNvGrpSpPr/>
          <p:nvPr/>
        </p:nvGrpSpPr>
        <p:grpSpPr bwMode="auto">
          <a:xfrm>
            <a:off x="3887640" y="4583160"/>
            <a:ext cx="3232440" cy="455040"/>
            <a:chOff x="3887640" y="4583160"/>
            <a:chExt cx="3232440" cy="455040"/>
          </a:xfrm>
        </p:grpSpPr>
        <p:sp>
          <p:nvSpPr>
            <p:cNvPr id="956" name=""/>
            <p:cNvSpPr/>
            <p:nvPr/>
          </p:nvSpPr>
          <p:spPr bwMode="auto">
            <a:xfrm>
              <a:off x="4677480" y="4640400"/>
              <a:ext cx="2126160" cy="358560"/>
            </a:xfrm>
            <a:prstGeom prst="rect">
              <a:avLst/>
            </a:prstGeom>
            <a:solidFill>
              <a:srgbClr val="0071B4">
                <a:alpha val="60000"/>
              </a:srgbClr>
            </a:solidFill>
            <a:ln w="9360">
              <a:solidFill>
                <a:srgbClr val="0000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957" name=""/>
            <p:cNvSpPr/>
            <p:nvPr/>
          </p:nvSpPr>
          <p:spPr bwMode="auto">
            <a:xfrm>
              <a:off x="5010120" y="4640400"/>
              <a:ext cx="0" cy="358560"/>
            </a:xfrm>
            <a:prstGeom prst="line">
              <a:avLst/>
            </a:prstGeom>
            <a:ln w="9360">
              <a:solidFill>
                <a:srgbClr val="000000"/>
              </a:solidFill>
              <a:miter/>
            </a:ln>
          </p:spPr>
          <p:style>
            <a:lnRef idx="0"/>
            <a:fillRef idx="0"/>
            <a:effectRef idx="0"/>
            <a:fontRef idx="minor"/>
          </p:style>
          <p:txBody>
            <a:bodyPr lIns="90000" tIns="46800" rIns="90000" bIns="46800" anchor="t">
              <a:noAutofit/>
            </a:bodyPr>
            <a:p>
              <a:pPr>
                <a:defRPr/>
              </a:pPr>
              <a:endParaRPr lang="en-US" sz="1800" b="0" strike="noStrike" spc="-1">
                <a:solidFill>
                  <a:srgbClr val="000000"/>
                </a:solidFill>
                <a:latin typeface="Arial"/>
              </a:endParaRPr>
            </a:p>
          </p:txBody>
        </p:sp>
        <p:sp>
          <p:nvSpPr>
            <p:cNvPr id="958" name=""/>
            <p:cNvSpPr/>
            <p:nvPr/>
          </p:nvSpPr>
          <p:spPr bwMode="auto">
            <a:xfrm>
              <a:off x="5342400" y="4640400"/>
              <a:ext cx="0" cy="358560"/>
            </a:xfrm>
            <a:prstGeom prst="line">
              <a:avLst/>
            </a:prstGeom>
            <a:ln w="9360">
              <a:solidFill>
                <a:srgbClr val="000000"/>
              </a:solidFill>
              <a:miter/>
            </a:ln>
          </p:spPr>
          <p:style>
            <a:lnRef idx="0"/>
            <a:fillRef idx="0"/>
            <a:effectRef idx="0"/>
            <a:fontRef idx="minor"/>
          </p:style>
          <p:txBody>
            <a:bodyPr lIns="90000" tIns="46800" rIns="90000" bIns="46800" anchor="t">
              <a:noAutofit/>
            </a:bodyPr>
            <a:p>
              <a:pPr>
                <a:defRPr/>
              </a:pPr>
              <a:endParaRPr lang="en-US" sz="1800" b="0" strike="noStrike" spc="-1">
                <a:solidFill>
                  <a:srgbClr val="000000"/>
                </a:solidFill>
                <a:latin typeface="Arial"/>
              </a:endParaRPr>
            </a:p>
          </p:txBody>
        </p:sp>
        <p:sp>
          <p:nvSpPr>
            <p:cNvPr id="959" name=""/>
            <p:cNvSpPr/>
            <p:nvPr/>
          </p:nvSpPr>
          <p:spPr bwMode="auto">
            <a:xfrm>
              <a:off x="5674680" y="4640400"/>
              <a:ext cx="0" cy="358560"/>
            </a:xfrm>
            <a:prstGeom prst="line">
              <a:avLst/>
            </a:prstGeom>
            <a:ln w="9360">
              <a:solidFill>
                <a:srgbClr val="000000"/>
              </a:solidFill>
              <a:miter/>
            </a:ln>
          </p:spPr>
          <p:style>
            <a:lnRef idx="0"/>
            <a:fillRef idx="0"/>
            <a:effectRef idx="0"/>
            <a:fontRef idx="minor"/>
          </p:style>
          <p:txBody>
            <a:bodyPr lIns="90000" tIns="46800" rIns="90000" bIns="46800" anchor="t">
              <a:noAutofit/>
            </a:bodyPr>
            <a:p>
              <a:pPr>
                <a:defRPr/>
              </a:pPr>
              <a:endParaRPr lang="en-US" sz="1800" b="0" strike="noStrike" spc="-1">
                <a:solidFill>
                  <a:srgbClr val="000000"/>
                </a:solidFill>
                <a:latin typeface="Arial"/>
              </a:endParaRPr>
            </a:p>
          </p:txBody>
        </p:sp>
        <p:sp>
          <p:nvSpPr>
            <p:cNvPr id="960" name=""/>
            <p:cNvSpPr/>
            <p:nvPr/>
          </p:nvSpPr>
          <p:spPr bwMode="auto">
            <a:xfrm>
              <a:off x="6007320" y="4640400"/>
              <a:ext cx="0" cy="358560"/>
            </a:xfrm>
            <a:prstGeom prst="line">
              <a:avLst/>
            </a:prstGeom>
            <a:ln w="9360">
              <a:solidFill>
                <a:srgbClr val="000000"/>
              </a:solidFill>
              <a:miter/>
            </a:ln>
          </p:spPr>
          <p:style>
            <a:lnRef idx="0"/>
            <a:fillRef idx="0"/>
            <a:effectRef idx="0"/>
            <a:fontRef idx="minor"/>
          </p:style>
          <p:txBody>
            <a:bodyPr lIns="90000" tIns="46800" rIns="90000" bIns="46800" anchor="t">
              <a:noAutofit/>
            </a:bodyPr>
            <a:p>
              <a:pPr>
                <a:defRPr/>
              </a:pPr>
              <a:endParaRPr lang="en-US" sz="1800" b="0" strike="noStrike" spc="-1">
                <a:solidFill>
                  <a:srgbClr val="000000"/>
                </a:solidFill>
                <a:latin typeface="Arial"/>
              </a:endParaRPr>
            </a:p>
          </p:txBody>
        </p:sp>
        <p:sp>
          <p:nvSpPr>
            <p:cNvPr id="961" name=""/>
            <p:cNvSpPr/>
            <p:nvPr/>
          </p:nvSpPr>
          <p:spPr bwMode="auto">
            <a:xfrm>
              <a:off x="6338160" y="4640400"/>
              <a:ext cx="0" cy="358560"/>
            </a:xfrm>
            <a:prstGeom prst="line">
              <a:avLst/>
            </a:prstGeom>
            <a:ln w="9360">
              <a:solidFill>
                <a:srgbClr val="000000"/>
              </a:solidFill>
              <a:miter/>
            </a:ln>
          </p:spPr>
          <p:style>
            <a:lnRef idx="0"/>
            <a:fillRef idx="0"/>
            <a:effectRef idx="0"/>
            <a:fontRef idx="minor"/>
          </p:style>
          <p:txBody>
            <a:bodyPr lIns="90000" tIns="46800" rIns="90000" bIns="46800" anchor="t">
              <a:noAutofit/>
            </a:bodyPr>
            <a:p>
              <a:pPr>
                <a:defRPr/>
              </a:pPr>
              <a:endParaRPr lang="en-US" sz="1800" b="0" strike="noStrike" spc="-1">
                <a:solidFill>
                  <a:srgbClr val="000000"/>
                </a:solidFill>
                <a:latin typeface="Arial"/>
              </a:endParaRPr>
            </a:p>
          </p:txBody>
        </p:sp>
        <p:sp>
          <p:nvSpPr>
            <p:cNvPr id="962" name=""/>
            <p:cNvSpPr/>
            <p:nvPr/>
          </p:nvSpPr>
          <p:spPr bwMode="auto">
            <a:xfrm>
              <a:off x="6024600" y="4583160"/>
              <a:ext cx="1095480" cy="368280"/>
            </a:xfrm>
            <a:prstGeom prst="rect">
              <a:avLst/>
            </a:prstGeom>
            <a:noFill/>
            <a:ln w="0">
              <a:noFill/>
            </a:ln>
          </p:spPr>
          <p:style>
            <a:lnRef idx="0"/>
            <a:fillRef idx="0"/>
            <a:effectRef idx="0"/>
            <a:fontRef idx="minor"/>
          </p:style>
          <p:txBody>
            <a:bodyPr wrap="none" lIns="90000" tIns="46800" rIns="90000" bIns="46800" anchor="t">
              <a:spAutoFit/>
            </a:bodyPr>
            <a:p>
              <a:pPr marL="343080" indent="-343080">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CC0066"/>
                  </a:solidFill>
                  <a:latin typeface="Tahoma"/>
                </a:rPr>
                <a:t>…</a:t>
              </a:r>
              <a:endParaRPr lang="en-US" sz="1800" b="0" strike="noStrike" spc="-1">
                <a:solidFill>
                  <a:srgbClr val="000000"/>
                </a:solidFill>
                <a:latin typeface="Arial"/>
              </a:endParaRPr>
            </a:p>
          </p:txBody>
        </p:sp>
        <p:sp>
          <p:nvSpPr>
            <p:cNvPr id="963" name=""/>
            <p:cNvSpPr/>
            <p:nvPr/>
          </p:nvSpPr>
          <p:spPr bwMode="auto">
            <a:xfrm>
              <a:off x="3887640" y="4632480"/>
              <a:ext cx="1179360" cy="405720"/>
            </a:xfrm>
            <a:prstGeom prst="rect">
              <a:avLst/>
            </a:prstGeom>
            <a:noFill/>
            <a:ln w="0">
              <a:noFill/>
            </a:ln>
          </p:spPr>
          <p:style>
            <a:lnRef idx="0"/>
            <a:fillRef idx="0"/>
            <a:effectRef idx="0"/>
            <a:fontRef idx="minor"/>
          </p:style>
          <p:txBody>
            <a:bodyPr wrap="none" lIns="90000" tIns="46800" rIns="90000" bIns="46800" anchor="t">
              <a:spAutoFit/>
            </a:bodyPr>
            <a:p>
              <a:pPr marL="343080" indent="-343080">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1" strike="noStrike" spc="-1">
                  <a:solidFill>
                    <a:srgbClr val="CC0066"/>
                  </a:solidFill>
                  <a:latin typeface="Tahoma"/>
                </a:rPr>
                <a:t>tr</a:t>
              </a:r>
              <a:r>
                <a:rPr lang="en-US" sz="1800" b="1" strike="noStrike" spc="-1" baseline="-25000">
                  <a:solidFill>
                    <a:srgbClr val="CC0066"/>
                  </a:solidFill>
                  <a:latin typeface="Tahoma"/>
                </a:rPr>
                <a:t>2</a:t>
              </a:r>
              <a:endParaRPr lang="en-US" sz="1800" b="0" strike="noStrike" spc="-1">
                <a:solidFill>
                  <a:srgbClr val="000000"/>
                </a:solidFill>
                <a:latin typeface="Arial"/>
              </a:endParaRPr>
            </a:p>
          </p:txBody>
        </p:sp>
      </p:grpSp>
      <p:cxnSp>
        <p:nvCxnSpPr>
          <p:cNvPr id="964" name=""/>
          <p:cNvCxnSpPr>
            <a:cxnSpLocks/>
            <a:stCxn id="942" idx="3"/>
            <a:endCxn id="963" idx="1"/>
          </p:cNvCxnSpPr>
          <p:nvPr/>
        </p:nvCxnSpPr>
        <p:spPr bwMode="auto">
          <a:xfrm flipV="1">
            <a:off x="3419280" y="4815720"/>
            <a:ext cx="821160" cy="523080"/>
          </a:xfrm>
          <a:prstGeom prst="curvedConnector5">
            <a:avLst>
              <a:gd name="adj1" fmla="val 49868"/>
              <a:gd name="adj2" fmla="val 50000"/>
              <a:gd name="adj3" fmla="val 49868"/>
            </a:avLst>
          </a:prstGeom>
          <a:ln w="19080">
            <a:solidFill>
              <a:srgbClr val="000000"/>
            </a:solidFill>
            <a:miter/>
            <a:tailEnd type="triangle" w="med" len="med"/>
          </a:ln>
        </p:spPr>
      </p:cxnSp>
      <p:sp>
        <p:nvSpPr>
          <p:cNvPr id="965" name=""/>
          <p:cNvSpPr/>
          <p:nvPr/>
        </p:nvSpPr>
        <p:spPr bwMode="auto">
          <a:xfrm>
            <a:off x="826920" y="4724280"/>
            <a:ext cx="2592720" cy="432000"/>
          </a:xfrm>
          <a:prstGeom prst="rect">
            <a:avLst/>
          </a:prstGeom>
          <a:noFill/>
          <a:ln w="9360">
            <a:solidFill>
              <a:srgbClr val="0000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cxnSp>
        <p:nvCxnSpPr>
          <p:cNvPr id="966" name=""/>
          <p:cNvCxnSpPr>
            <a:cxnSpLocks/>
            <a:stCxn id="965" idx="3"/>
            <a:endCxn id="954" idx="1"/>
          </p:cNvCxnSpPr>
          <p:nvPr/>
        </p:nvCxnSpPr>
        <p:spPr bwMode="auto">
          <a:xfrm flipV="1">
            <a:off x="3419280" y="3966480"/>
            <a:ext cx="821160" cy="973800"/>
          </a:xfrm>
          <a:prstGeom prst="curvedConnector5">
            <a:avLst>
              <a:gd name="adj1" fmla="val 49868"/>
              <a:gd name="adj2" fmla="val 50000"/>
              <a:gd name="adj3" fmla="val 49868"/>
            </a:avLst>
          </a:prstGeom>
          <a:ln w="9360">
            <a:solidFill>
              <a:srgbClr val="000000"/>
            </a:solidFill>
            <a:miter/>
            <a:tailEnd type="triangle" w="med" len="med"/>
          </a:ln>
        </p:spPr>
      </p:cxnSp>
      <p:sp>
        <p:nvSpPr>
          <p:cNvPr id="967" name=""/>
          <p:cNvSpPr/>
          <p:nvPr/>
        </p:nvSpPr>
        <p:spPr bwMode="auto">
          <a:xfrm>
            <a:off x="5137920" y="5276880"/>
            <a:ext cx="1171800" cy="459720"/>
          </a:xfrm>
          <a:prstGeom prst="rect">
            <a:avLst/>
          </a:prstGeom>
          <a:noFill/>
          <a:ln w="0">
            <a:noFill/>
          </a:ln>
        </p:spPr>
        <p:style>
          <a:lnRef idx="0"/>
          <a:fillRef idx="0"/>
          <a:effectRef idx="0"/>
          <a:fontRef idx="minor"/>
        </p:style>
        <p:txBody>
          <a:bodyPr wrap="none" lIns="90000" tIns="46800" rIns="90000" bIns="46800" anchor="t">
            <a:spAutoFit/>
          </a:bodyPr>
          <a:p>
            <a:pPr marL="343080" indent="-343080">
              <a:lnSpc>
                <a:spcPct val="100000"/>
              </a:lnSpc>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Tahoma"/>
              </a:rPr>
              <a:t>…</a:t>
            </a:r>
            <a:endParaRPr lang="en-US" sz="2400" b="0" strike="noStrike" spc="-1">
              <a:solidFill>
                <a:srgbClr val="000000"/>
              </a:solidFill>
              <a:latin typeface="Arial"/>
            </a:endParaRPr>
          </a:p>
        </p:txBody>
      </p:sp>
      <p:sp>
        <p:nvSpPr>
          <p:cNvPr id="968" name=""/>
          <p:cNvSpPr/>
          <p:nvPr/>
        </p:nvSpPr>
        <p:spPr bwMode="auto">
          <a:xfrm>
            <a:off x="971640" y="3645000"/>
            <a:ext cx="2232000" cy="431640"/>
          </a:xfrm>
          <a:prstGeom prst="ellipse">
            <a:avLst/>
          </a:prstGeom>
          <a:solidFill>
            <a:srgbClr val="CCFF99">
              <a:alpha val="57000"/>
            </a:srgbClr>
          </a:solidFill>
          <a:ln w="9360">
            <a:solidFill>
              <a:srgbClr val="0000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969" name=""/>
          <p:cNvSpPr/>
          <p:nvPr/>
        </p:nvSpPr>
        <p:spPr bwMode="auto">
          <a:xfrm>
            <a:off x="1314360" y="3645000"/>
            <a:ext cx="1817640" cy="916920"/>
          </a:xfrm>
          <a:prstGeom prst="rect">
            <a:avLst/>
          </a:prstGeom>
          <a:noFill/>
          <a:ln w="0">
            <a:noFill/>
          </a:ln>
        </p:spPr>
        <p:style>
          <a:lnRef idx="0"/>
          <a:fillRef idx="0"/>
          <a:effectRef idx="0"/>
          <a:fontRef idx="minor"/>
        </p:style>
        <p:txBody>
          <a:bodyPr lIns="90000" tIns="46800" rIns="90000" bIns="46800" anchor="t">
            <a:spAutoFit/>
          </a:bodyPr>
          <a:p>
            <a:pPr marL="343080" indent="-343080">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Tahoma"/>
              </a:rPr>
              <a:t>by annotations</a:t>
            </a:r>
            <a:endParaRPr lang="en-US" sz="1800" b="0" strike="noStrike" spc="-1">
              <a:solidFill>
                <a:srgbClr val="000000"/>
              </a:solidFill>
              <a:latin typeface="Arial"/>
            </a:endParaRPr>
          </a:p>
        </p:txBody>
      </p:sp>
      <p:grpSp>
        <p:nvGrpSpPr>
          <p:cNvPr id="970" name=""/>
          <p:cNvGrpSpPr/>
          <p:nvPr/>
        </p:nvGrpSpPr>
        <p:grpSpPr bwMode="auto">
          <a:xfrm>
            <a:off x="3635280" y="3716280"/>
            <a:ext cx="642600" cy="2232000"/>
            <a:chOff x="3635280" y="3716280"/>
            <a:chExt cx="642600" cy="2232000"/>
          </a:xfrm>
        </p:grpSpPr>
        <p:sp>
          <p:nvSpPr>
            <p:cNvPr id="971" name=""/>
            <p:cNvSpPr/>
            <p:nvPr/>
          </p:nvSpPr>
          <p:spPr bwMode="auto">
            <a:xfrm rot="16199999">
              <a:off x="2735280" y="4616280"/>
              <a:ext cx="2232000" cy="432000"/>
            </a:xfrm>
            <a:prstGeom prst="ellipse">
              <a:avLst/>
            </a:prstGeom>
            <a:solidFill>
              <a:srgbClr val="CCFF99">
                <a:alpha val="57000"/>
              </a:srgbClr>
            </a:solidFill>
            <a:ln w="9360">
              <a:solidFill>
                <a:srgbClr val="0000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972" name=""/>
            <p:cNvSpPr/>
            <p:nvPr/>
          </p:nvSpPr>
          <p:spPr bwMode="auto">
            <a:xfrm rot="16199999">
              <a:off x="3047760" y="4375080"/>
              <a:ext cx="1817640" cy="642600"/>
            </a:xfrm>
            <a:prstGeom prst="rect">
              <a:avLst/>
            </a:prstGeom>
            <a:noFill/>
            <a:ln w="0">
              <a:noFill/>
            </a:ln>
          </p:spPr>
          <p:style>
            <a:lnRef idx="0"/>
            <a:fillRef idx="0"/>
            <a:effectRef idx="0"/>
            <a:fontRef idx="minor"/>
          </p:style>
          <p:txBody>
            <a:bodyPr lIns="90000" tIns="46800" rIns="90000" bIns="46800" anchor="t">
              <a:spAutoFit/>
            </a:bodyPr>
            <a:p>
              <a:pPr marL="343080" indent="-343080">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000000"/>
                  </a:solidFill>
                  <a:latin typeface="Tahoma"/>
                </a:rPr>
                <a:t>content-based</a:t>
              </a:r>
              <a:endParaRPr lang="en-US" sz="1800" b="0" strike="noStrike" spc="-1">
                <a:solidFill>
                  <a:srgbClr val="000000"/>
                </a:solidFill>
                <a:latin typeface="Arial"/>
              </a:endParaRPr>
            </a:p>
          </p:txBody>
        </p:sp>
      </p:grpSp>
      <p:sp>
        <p:nvSpPr>
          <p:cNvPr id="973" name=""/>
          <p:cNvSpPr/>
          <p:nvPr/>
        </p:nvSpPr>
        <p:spPr bwMode="auto">
          <a:xfrm>
            <a:off x="6804000" y="3573360"/>
            <a:ext cx="432000" cy="2592360"/>
          </a:xfrm>
          <a:custGeom>
            <a:avLst/>
            <a:gdLst>
              <a:gd name="textAreaLeft" fmla="*/ 0 w 432000"/>
              <a:gd name="textAreaRight" fmla="*/ 155880 w 432000"/>
              <a:gd name="textAreaTop" fmla="*/ 67320 h 2592360"/>
              <a:gd name="textAreaBottom" fmla="*/ 2525040 h 2592360"/>
            </a:gdLst>
            <a:ahLst/>
            <a:cxnLst/>
            <a:rect l="textAreaLeft" t="textAreaTop" r="textAreaRight" b="textAreaBottom"/>
            <a:pathLst>
              <a:path w="21600" h="21600" fill="norm" stroke="1" extrusionOk="0">
                <a:moveTo>
                  <a:pt x="0" y="0"/>
                </a:moveTo>
                <a:cubicBezTo>
                  <a:pt x="5400" y="0"/>
                  <a:pt x="10800" y="900"/>
                  <a:pt x="10800" y="1800"/>
                </a:cubicBezTo>
                <a:lnTo>
                  <a:pt x="10800" y="9000"/>
                </a:lnTo>
                <a:cubicBezTo>
                  <a:pt x="10800" y="9900"/>
                  <a:pt x="16200" y="10800"/>
                  <a:pt x="21600" y="10800"/>
                </a:cubicBezTo>
                <a:cubicBezTo>
                  <a:pt x="16200" y="10800"/>
                  <a:pt x="10800" y="11700"/>
                  <a:pt x="10800" y="12600"/>
                </a:cubicBezTo>
                <a:lnTo>
                  <a:pt x="10800" y="19800"/>
                </a:lnTo>
                <a:cubicBezTo>
                  <a:pt x="10800" y="20700"/>
                  <a:pt x="5400" y="21600"/>
                  <a:pt x="0" y="21600"/>
                </a:cubicBezTo>
              </a:path>
            </a:pathLst>
          </a:custGeom>
          <a:noFill/>
          <a:ln w="19080">
            <a:solidFill>
              <a:srgbClr val="000000"/>
            </a:solidFill>
            <a:miter/>
          </a:ln>
        </p:spPr>
        <p:style>
          <a:lnRef idx="0"/>
          <a:fillRef idx="0"/>
          <a:effectRef idx="0"/>
          <a:fontRef idx="minor"/>
        </p:style>
        <p:txBody>
          <a:bodyPr wrap="none" lIns="90000" tIns="46800" rIns="90000" bIns="46800" anchor="ctr">
            <a:noAutofit/>
          </a:bodyPr>
          <a:p>
            <a:pPr>
              <a:defRPr/>
            </a:pPr>
            <a:endParaRPr lang="en-US" sz="1800" b="0" strike="noStrike" spc="-1">
              <a:solidFill>
                <a:srgbClr val="000000"/>
              </a:solidFill>
              <a:latin typeface="Arial"/>
            </a:endParaRPr>
          </a:p>
        </p:txBody>
      </p:sp>
      <p:sp>
        <p:nvSpPr>
          <p:cNvPr id="974" name=""/>
          <p:cNvSpPr/>
          <p:nvPr/>
        </p:nvSpPr>
        <p:spPr bwMode="auto">
          <a:xfrm>
            <a:off x="7524720" y="4653000"/>
            <a:ext cx="1150920" cy="431640"/>
          </a:xfrm>
          <a:prstGeom prst="rect">
            <a:avLst/>
          </a:prstGeom>
          <a:solidFill>
            <a:srgbClr val="0071B4">
              <a:alpha val="60000"/>
            </a:srgbClr>
          </a:solidFill>
          <a:ln w="9360">
            <a:solidFill>
              <a:srgbClr val="000000"/>
            </a:solidFill>
            <a:miter/>
          </a:ln>
        </p:spPr>
        <p:style>
          <a:lnRef idx="0"/>
          <a:fillRef idx="0"/>
          <a:effectRef idx="0"/>
          <a:fontRef idx="minor"/>
        </p:style>
        <p:txBody>
          <a:bodyPr wrap="none" lIns="90000" tIns="46800" rIns="90000" bIns="46800" anchor="ctr">
            <a:noAutofit/>
          </a:bodyPr>
          <a:p>
            <a:pPr marL="343080" indent="-343080" algn="ctr">
              <a:lnSpc>
                <a:spcPct val="10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800" b="0" strike="noStrike" spc="-1">
                <a:solidFill>
                  <a:srgbClr val="CC0066"/>
                </a:solidFill>
                <a:latin typeface="Tahoma"/>
              </a:rPr>
              <a:t>Result</a:t>
            </a:r>
            <a:endParaRPr lang="en-US" sz="1800" b="0" strike="noStrike" spc="-1">
              <a:solidFill>
                <a:srgbClr val="000000"/>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975"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Retrieve by text: fusion results</a:t>
            </a:r>
            <a:endParaRPr lang="en-US" sz="3600" b="0" strike="noStrike" spc="-1">
              <a:solidFill>
                <a:srgbClr val="000000"/>
              </a:solidFill>
              <a:latin typeface="Futura Bk"/>
            </a:endParaRPr>
          </a:p>
        </p:txBody>
      </p:sp>
      <p:sp>
        <p:nvSpPr>
          <p:cNvPr id="976" name=""/>
          <p:cNvSpPr txBox="1"/>
          <p:nvPr/>
        </p:nvSpPr>
        <p:spPr bwMode="auto">
          <a:xfrm>
            <a:off x="1774800" y="3436920"/>
            <a:ext cx="1308240" cy="60948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sSub>
                        <m:sSubPr>
                          <m:ctrlPr>
                            <a:rPr/>
                          </m:ctrlPr>
                        </m:sSubPr>
                        <m:e>
                          <m:r>
                            <m:rPr/>
                            <a:rPr/>
                            <m:t>R</m:t>
                          </m:r>
                        </m:e>
                        <m:sub>
                          <m:r>
                            <m:rPr>
                              <m:lit m:val="on"/>
                              <m:nor m:val="on"/>
                            </m:rPr>
                            <a:rPr/>
                            <m:t>overlap</m:t>
                          </m:r>
                        </m:sub>
                      </m:sSub>
                      <m:r>
                        <m:rPr/>
                        <a:rPr/>
                        <m:t>(</m:t>
                      </m:r>
                      <m:r>
                        <m:rPr/>
                        <a:rPr/>
                        <m:t>x</m:t>
                      </m:r>
                      <m:r>
                        <m:rPr/>
                        <a:rPr/>
                        <m:t>)</m:t>
                      </m:r>
                      <m:r>
                        <m:rPr/>
                        <a:rPr/>
                        <m:t>=</m:t>
                      </m:r>
                      <m:f>
                        <m:fPr>
                          <m:ctrlPr>
                            <a:rPr/>
                          </m:ctrlPr>
                        </m:fPr>
                        <m:num>
                          <m:r>
                            <m:rPr/>
                            <a:rPr/>
                            <m:t>M</m:t>
                          </m:r>
                          <m:r>
                            <m:rPr/>
                            <a:rPr/>
                            <m:t>⋅</m:t>
                          </m:r>
                          <m:sSup>
                            <m:sSupPr>
                              <m:ctrlPr>
                                <a:rPr/>
                              </m:ctrlPr>
                            </m:sSupPr>
                            <m:e>
                              <m:r>
                                <m:rPr/>
                                <a:rPr/>
                                <m:t>R</m:t>
                              </m:r>
                            </m:e>
                            <m:sup>
                              <m:r>
                                <m:rPr/>
                                <a:rPr/>
                                <m:t>(</m:t>
                              </m:r>
                              <m:r>
                                <m:rPr/>
                                <a:rPr/>
                                <m:t>0</m:t>
                              </m:r>
                              <m:r>
                                <m:rPr/>
                                <a:rPr/>
                                <m:t>)</m:t>
                              </m:r>
                            </m:sup>
                          </m:sSup>
                          <m:r>
                            <m:rPr/>
                            <a:rPr/>
                            <m:t>(</m:t>
                          </m:r>
                          <m:r>
                            <m:rPr/>
                            <a:rPr/>
                            <m:t>x</m:t>
                          </m:r>
                          <m:r>
                            <m:rPr/>
                            <a:rPr/>
                            <m:t>)</m:t>
                          </m:r>
                        </m:num>
                        <m:den>
                          <m:nary>
                            <m:naryPr>
                              <m:chr m:val="∑"/>
                              <m:grow m:val="off"/>
                              <m:ctrlPr>
                                <a:rPr/>
                              </m:ctrlPr>
                            </m:naryPr>
                            <m:sub>
                              <m:r>
                                <m:rPr/>
                                <a:rPr/>
                                <m:t>i</m:t>
                              </m:r>
                            </m:sub>
                            <m:sup>
                              <m:r>
                                <m:rPr/>
                                <a:rPr/>
                                <m:t>M</m:t>
                              </m:r>
                            </m:sup>
                            <m:e>
                              <m:sSup>
                                <m:sSupPr>
                                  <m:ctrlPr>
                                    <a:rPr/>
                                  </m:ctrlPr>
                                </m:sSupPr>
                                <m:e>
                                  <m:r>
                                    <m:rPr/>
                                    <a:rPr/>
                                    <m:t>R</m:t>
                                  </m:r>
                                </m:e>
                                <m:sup>
                                  <m:r>
                                    <m:rPr/>
                                    <a:rPr/>
                                    <m:t>(</m:t>
                                  </m:r>
                                  <m:sSub>
                                    <m:sSubPr>
                                      <m:ctrlPr>
                                        <a:rPr/>
                                      </m:ctrlPr>
                                    </m:sSubPr>
                                    <m:e>
                                      <m:r>
                                        <m:rPr/>
                                        <a:rPr/>
                                        <m:t>α</m:t>
                                      </m:r>
                                    </m:e>
                                    <m:sub>
                                      <m:r>
                                        <m:rPr/>
                                        <a:rPr/>
                                        <m:t>i</m:t>
                                      </m:r>
                                    </m:sub>
                                  </m:sSub>
                                  <m:r>
                                    <m:rPr/>
                                    <a:rPr/>
                                    <m:t>)</m:t>
                                  </m:r>
                                </m:sup>
                              </m:sSup>
                              <m:r>
                                <m:rPr/>
                                <a:rPr/>
                                <m:t>(</m:t>
                              </m:r>
                              <m:r>
                                <m:rPr/>
                                <a:rPr/>
                                <m:t>x</m:t>
                              </m:r>
                              <m:r>
                                <m:rPr/>
                                <a:rPr/>
                                <m:t>)</m:t>
                              </m:r>
                            </m:e>
                          </m:nary>
                        </m:den>
                      </m:f>
                    </m:oMath>
                  </m:oMathPara>
                </a14:m>
              </mc:Choice>
              <mc:Fallback/>
            </mc:AlternateContent>
            <a:endParaRPr/>
          </a:p>
        </p:txBody>
      </p:sp>
      <p:pic>
        <p:nvPicPr>
          <p:cNvPr id="977" name="" descr=""/>
          <p:cNvPicPr/>
          <p:nvPr/>
        </p:nvPicPr>
        <p:blipFill>
          <a:blip r:embed="rId2"/>
          <a:stretch/>
        </p:blipFill>
        <p:spPr bwMode="auto">
          <a:xfrm>
            <a:off x="539640" y="1268280"/>
            <a:ext cx="3810240" cy="4245120"/>
          </a:xfrm>
          <a:prstGeom prst="rect">
            <a:avLst/>
          </a:prstGeom>
          <a:ln w="0">
            <a:noFill/>
          </a:ln>
        </p:spPr>
      </p:pic>
      <p:sp>
        <p:nvSpPr>
          <p:cNvPr id="978" name=""/>
          <p:cNvSpPr/>
          <p:nvPr/>
        </p:nvSpPr>
        <p:spPr bwMode="auto">
          <a:xfrm>
            <a:off x="2411280" y="4644720"/>
            <a:ext cx="2160720" cy="153000"/>
          </a:xfrm>
          <a:prstGeom prst="rect">
            <a:avLst/>
          </a:prstGeom>
          <a:solidFill>
            <a:srgbClr val="FFFFFF"/>
          </a:solidFill>
          <a:ln w="0">
            <a:noFill/>
          </a:ln>
        </p:spPr>
        <p:style>
          <a:lnRef idx="0"/>
          <a:fillRef idx="0"/>
          <a:effectRef idx="0"/>
          <a:fontRef idx="minor"/>
        </p:style>
        <p:txBody>
          <a:bodyPr lIns="0" tIns="0" rIns="0" bIns="0" anchor="ctr">
            <a:spAutoFit/>
          </a:bodyPr>
          <a:p>
            <a:pPr algn="ctr">
              <a:lnSpc>
                <a:spcPct val="100000"/>
              </a:lnSpc>
              <a:spcBef>
                <a:spcPts val="624"/>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000" b="0" strike="noStrike" spc="-1">
                <a:solidFill>
                  <a:srgbClr val="000000"/>
                </a:solidFill>
                <a:latin typeface="Futura Bk"/>
              </a:rPr>
              <a:t>Size of input lists</a:t>
            </a:r>
            <a:endParaRPr lang="en-US" sz="1000" b="0" strike="noStrike" spc="-1">
              <a:solidFill>
                <a:srgbClr val="000000"/>
              </a:solidFill>
              <a:latin typeface="Arial"/>
            </a:endParaRPr>
          </a:p>
        </p:txBody>
      </p:sp>
      <p:sp>
        <p:nvSpPr>
          <p:cNvPr id="979" name=""/>
          <p:cNvSpPr/>
          <p:nvPr/>
        </p:nvSpPr>
        <p:spPr bwMode="auto">
          <a:xfrm>
            <a:off x="468360" y="1197000"/>
            <a:ext cx="4103640" cy="503280"/>
          </a:xfrm>
          <a:prstGeom prst="rect">
            <a:avLst/>
          </a:prstGeom>
          <a:solidFill>
            <a:srgbClr val="FFFFFF"/>
          </a:solidFill>
          <a:ln w="0">
            <a:noFill/>
          </a:ln>
        </p:spPr>
        <p:style>
          <a:lnRef idx="0"/>
          <a:fillRef idx="0"/>
          <a:effectRef idx="0"/>
          <a:fontRef idx="minor"/>
        </p:style>
        <p:txBody>
          <a:bodyPr wrap="none" lIns="90000" tIns="46800" rIns="90000" bIns="46800" anchor="ctr">
            <a:spAutoFit/>
          </a:bodyPr>
          <a:p>
            <a:pPr>
              <a:defRPr/>
            </a:pPr>
            <a:endParaRPr lang="en-US" sz="1800" b="0" strike="noStrike" spc="-1">
              <a:solidFill>
                <a:srgbClr val="000000"/>
              </a:solidFill>
              <a:latin typeface="Arial"/>
            </a:endParaRPr>
          </a:p>
        </p:txBody>
      </p:sp>
      <p:sp>
        <p:nvSpPr>
          <p:cNvPr id="980" name=""/>
          <p:cNvSpPr txBox="1"/>
          <p:nvPr/>
        </p:nvSpPr>
        <p:spPr bwMode="auto">
          <a:xfrm>
            <a:off x="5148360" y="3933720"/>
            <a:ext cx="2448000" cy="110988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sSub>
                        <m:sSubPr>
                          <m:ctrlPr>
                            <a:rPr/>
                          </m:ctrlPr>
                        </m:sSubPr>
                        <m:e>
                          <m:r>
                            <m:rPr/>
                            <a:rPr/>
                            <m:t>N</m:t>
                          </m:r>
                        </m:e>
                        <m:sub>
                          <m:r>
                            <m:rPr>
                              <m:lit m:val="on"/>
                              <m:nor m:val="on"/>
                            </m:rPr>
                            <a:rPr/>
                            <m:t>overlap</m:t>
                          </m:r>
                        </m:sub>
                      </m:sSub>
                      <m:r>
                        <m:rPr/>
                        <a:rPr/>
                        <m:t>(</m:t>
                      </m:r>
                      <m:r>
                        <m:rPr/>
                        <a:rPr/>
                        <m:t>x</m:t>
                      </m:r>
                      <m:r>
                        <m:rPr/>
                        <a:rPr/>
                        <m:t>)</m:t>
                      </m:r>
                      <m:r>
                        <m:rPr/>
                        <a:rPr/>
                        <m:t>=</m:t>
                      </m:r>
                      <m:f>
                        <m:fPr>
                          <m:ctrlPr>
                            <a:rPr/>
                          </m:ctrlPr>
                        </m:fPr>
                        <m:num>
                          <m:r>
                            <m:rPr/>
                            <a:rPr/>
                            <m:t>M</m:t>
                          </m:r>
                          <m:r>
                            <m:rPr/>
                            <a:rPr/>
                            <m:t>⋅</m:t>
                          </m:r>
                          <m:sSup>
                            <m:sSupPr>
                              <m:ctrlPr>
                                <a:rPr/>
                              </m:ctrlPr>
                            </m:sSupPr>
                            <m:e>
                              <m:r>
                                <m:rPr/>
                                <a:rPr/>
                                <m:t>N</m:t>
                              </m:r>
                            </m:e>
                            <m:sup>
                              <m:r>
                                <m:rPr/>
                                <a:rPr/>
                                <m:t>(</m:t>
                              </m:r>
                              <m:r>
                                <m:rPr/>
                                <a:rPr/>
                                <m:t>0</m:t>
                              </m:r>
                              <m:r>
                                <m:rPr/>
                                <a:rPr/>
                                <m:t>)</m:t>
                              </m:r>
                            </m:sup>
                          </m:sSup>
                          <m:r>
                            <m:rPr/>
                            <a:rPr/>
                            <m:t>(</m:t>
                          </m:r>
                          <m:r>
                            <m:rPr/>
                            <a:rPr/>
                            <m:t>x</m:t>
                          </m:r>
                          <m:r>
                            <m:rPr/>
                            <a:rPr/>
                            <m:t>)</m:t>
                          </m:r>
                        </m:num>
                        <m:den>
                          <m:nary>
                            <m:naryPr>
                              <m:chr m:val="∑"/>
                              <m:grow m:val="off"/>
                              <m:ctrlPr>
                                <a:rPr/>
                              </m:ctrlPr>
                            </m:naryPr>
                            <m:sub>
                              <m:r>
                                <m:rPr/>
                                <a:rPr/>
                                <m:t>i</m:t>
                              </m:r>
                            </m:sub>
                            <m:sup>
                              <m:r>
                                <m:rPr/>
                                <a:rPr/>
                                <m:t>M</m:t>
                              </m:r>
                            </m:sup>
                            <m:e>
                              <m:sSup>
                                <m:sSupPr>
                                  <m:ctrlPr>
                                    <a:rPr/>
                                  </m:ctrlPr>
                                </m:sSupPr>
                                <m:e>
                                  <m:r>
                                    <m:rPr/>
                                    <a:rPr/>
                                    <m:t>N</m:t>
                                  </m:r>
                                </m:e>
                                <m:sup>
                                  <m:r>
                                    <m:rPr/>
                                    <a:rPr/>
                                    <m:t>(</m:t>
                                  </m:r>
                                  <m:sSub>
                                    <m:sSubPr>
                                      <m:ctrlPr>
                                        <a:rPr/>
                                      </m:ctrlPr>
                                    </m:sSubPr>
                                    <m:e>
                                      <m:r>
                                        <m:rPr/>
                                        <a:rPr/>
                                        <m:t>α</m:t>
                                      </m:r>
                                    </m:e>
                                    <m:sub>
                                      <m:r>
                                        <m:rPr/>
                                        <a:rPr/>
                                        <m:t>i</m:t>
                                      </m:r>
                                    </m:sub>
                                  </m:sSub>
                                  <m:r>
                                    <m:rPr/>
                                    <a:rPr/>
                                    <m:t>)</m:t>
                                  </m:r>
                                </m:sup>
                              </m:sSup>
                              <m:r>
                                <m:rPr/>
                                <a:rPr/>
                                <m:t>(</m:t>
                              </m:r>
                              <m:r>
                                <m:rPr/>
                                <a:rPr/>
                                <m:t>x</m:t>
                              </m:r>
                              <m:r>
                                <m:rPr/>
                                <a:rPr/>
                                <m:t>)</m:t>
                              </m:r>
                            </m:e>
                          </m:nary>
                        </m:den>
                      </m:f>
                    </m:oMath>
                  </m:oMathPara>
                </a14:m>
              </mc:Choice>
              <mc:Fallback/>
            </mc:AlternateContent>
            <a:endParaRPr/>
          </a:p>
        </p:txBody>
      </p:sp>
      <p:sp>
        <p:nvSpPr>
          <p:cNvPr id="981" name=""/>
          <p:cNvSpPr txBox="1"/>
          <p:nvPr/>
        </p:nvSpPr>
        <p:spPr bwMode="auto">
          <a:xfrm>
            <a:off x="5076720" y="1989000"/>
            <a:ext cx="2590920" cy="1206720"/>
          </a:xfrm>
          <a:prstGeom prst="rect">
            <a:avLst/>
          </a:prstGeom>
        </p:spPr>
        <p:txBody>
          <a:bodyPr/>
          <a:p>
            <a:pPr>
              <a:defRPr/>
            </a:pPr>
            <mc:AlternateContent xmlns:mc="http://schemas.openxmlformats.org/markup-compatibility/2006" xmlns:m="http://schemas.openxmlformats.org/officeDocument/2006/math">
              <mc:Choice xmlns:a14="http://schemas.microsoft.com/office/drawing/2010/main" Requires="a14">
                <a14:m>
                  <m:oMathPara>
                    <m:oMathParaPr/>
                    <m:oMath>
                      <m:sSub>
                        <m:sSubPr>
                          <m:ctrlPr>
                            <a:rPr/>
                          </m:ctrlPr>
                        </m:sSubPr>
                        <m:e>
                          <m:r>
                            <m:rPr/>
                            <a:rPr/>
                            <m:t>R</m:t>
                          </m:r>
                        </m:e>
                        <m:sub>
                          <m:r>
                            <m:rPr>
                              <m:lit m:val="on"/>
                              <m:nor m:val="on"/>
                            </m:rPr>
                            <a:rPr/>
                            <m:t>overlap</m:t>
                          </m:r>
                        </m:sub>
                      </m:sSub>
                      <m:r>
                        <m:rPr/>
                        <a:rPr/>
                        <m:t>(</m:t>
                      </m:r>
                      <m:r>
                        <m:rPr/>
                        <a:rPr/>
                        <m:t>x</m:t>
                      </m:r>
                      <m:r>
                        <m:rPr/>
                        <a:rPr/>
                        <m:t>)</m:t>
                      </m:r>
                      <m:r>
                        <m:rPr/>
                        <a:rPr/>
                        <m:t>=</m:t>
                      </m:r>
                      <m:f>
                        <m:fPr>
                          <m:ctrlPr>
                            <a:rPr/>
                          </m:ctrlPr>
                        </m:fPr>
                        <m:num>
                          <m:r>
                            <m:rPr/>
                            <a:rPr/>
                            <m:t>M</m:t>
                          </m:r>
                          <m:r>
                            <m:rPr/>
                            <a:rPr/>
                            <m:t>⋅</m:t>
                          </m:r>
                          <m:sSup>
                            <m:sSupPr>
                              <m:ctrlPr>
                                <a:rPr/>
                              </m:ctrlPr>
                            </m:sSupPr>
                            <m:e>
                              <m:r>
                                <m:rPr/>
                                <a:rPr/>
                                <m:t>R</m:t>
                              </m:r>
                            </m:e>
                            <m:sup>
                              <m:r>
                                <m:rPr/>
                                <a:rPr/>
                                <m:t>(</m:t>
                              </m:r>
                              <m:r>
                                <m:rPr/>
                                <a:rPr/>
                                <m:t>0</m:t>
                              </m:r>
                              <m:r>
                                <m:rPr/>
                                <a:rPr/>
                                <m:t>)</m:t>
                              </m:r>
                            </m:sup>
                          </m:sSup>
                          <m:r>
                            <m:rPr/>
                            <a:rPr/>
                            <m:t>(</m:t>
                          </m:r>
                          <m:r>
                            <m:rPr/>
                            <a:rPr/>
                            <m:t>x</m:t>
                          </m:r>
                          <m:r>
                            <m:rPr/>
                            <a:rPr/>
                            <m:t>)</m:t>
                          </m:r>
                        </m:num>
                        <m:den>
                          <m:nary>
                            <m:naryPr>
                              <m:chr m:val="∑"/>
                              <m:grow m:val="off"/>
                              <m:ctrlPr>
                                <a:rPr/>
                              </m:ctrlPr>
                            </m:naryPr>
                            <m:sub>
                              <m:r>
                                <m:rPr/>
                                <a:rPr/>
                                <m:t>i</m:t>
                              </m:r>
                            </m:sub>
                            <m:sup>
                              <m:r>
                                <m:rPr/>
                                <a:rPr/>
                                <m:t>M</m:t>
                              </m:r>
                            </m:sup>
                            <m:e>
                              <m:sSup>
                                <m:sSupPr>
                                  <m:ctrlPr>
                                    <a:rPr/>
                                  </m:ctrlPr>
                                </m:sSupPr>
                                <m:e>
                                  <m:r>
                                    <m:rPr/>
                                    <a:rPr/>
                                    <m:t>R</m:t>
                                  </m:r>
                                </m:e>
                                <m:sup>
                                  <m:r>
                                    <m:rPr/>
                                    <a:rPr/>
                                    <m:t>(</m:t>
                                  </m:r>
                                  <m:sSub>
                                    <m:sSubPr>
                                      <m:ctrlPr>
                                        <a:rPr/>
                                      </m:ctrlPr>
                                    </m:sSubPr>
                                    <m:e>
                                      <m:r>
                                        <m:rPr/>
                                        <a:rPr/>
                                        <m:t>α</m:t>
                                      </m:r>
                                    </m:e>
                                    <m:sub>
                                      <m:r>
                                        <m:rPr/>
                                        <a:rPr/>
                                        <m:t>i</m:t>
                                      </m:r>
                                    </m:sub>
                                  </m:sSub>
                                  <m:r>
                                    <m:rPr/>
                                    <a:rPr/>
                                    <m:t>)</m:t>
                                  </m:r>
                                </m:sup>
                              </m:sSup>
                              <m:r>
                                <m:rPr/>
                                <a:rPr/>
                                <m:t>(</m:t>
                              </m:r>
                              <m:r>
                                <m:rPr/>
                                <a:rPr/>
                                <m:t>x</m:t>
                              </m:r>
                              <m:r>
                                <m:rPr/>
                                <a:rPr/>
                                <m:t>)</m:t>
                              </m:r>
                            </m:e>
                          </m:nary>
                        </m:den>
                      </m:f>
                    </m:oMath>
                  </m:oMathPara>
                </a14:m>
              </mc:Choice>
              <mc:Fallback/>
            </mc:AlternateContent>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982"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Lecture 3: Resume</a:t>
            </a:r>
            <a:endParaRPr lang="en-US" sz="3600" b="0" strike="noStrike" spc="-1">
              <a:solidFill>
                <a:srgbClr val="000000"/>
              </a:solidFill>
              <a:latin typeface="Futura Bk"/>
            </a:endParaRPr>
          </a:p>
        </p:txBody>
      </p:sp>
      <p:sp>
        <p:nvSpPr>
          <p:cNvPr id="983" name="PlaceHolder 2"/>
          <p:cNvSpPr>
            <a:spLocks noGrp="1"/>
          </p:cNvSpPr>
          <p:nvPr>
            <p:ph/>
          </p:nvPr>
        </p:nvSpPr>
        <p:spPr bwMode="auto">
          <a:xfrm>
            <a:off x="399600" y="1447920"/>
            <a:ext cx="8272440" cy="4789440"/>
          </a:xfrm>
          <a:prstGeom prst="rect">
            <a:avLst/>
          </a:prstGeom>
          <a:noFill/>
          <a:ln w="0">
            <a:noFill/>
          </a:ln>
        </p:spPr>
        <p:txBody>
          <a:bodyPr lIns="90000" tIns="46800" rIns="90000" bIns="46800" anchor="t">
            <a:normAutofit fontScale="98192" lnSpcReduction="10000"/>
          </a:bodyPr>
          <a:p>
            <a:pPr marL="228600" indent="-228600">
              <a:lnSpc>
                <a:spcPct val="90000"/>
              </a:lnSpc>
              <a:spcBef>
                <a:spcPts val="750"/>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rPr>
              <a:t>Texture features</a:t>
            </a:r>
            <a:endParaRPr lang="en-US" sz="2400" b="0" strike="noStrike" spc="-1">
              <a:solidFill>
                <a:srgbClr val="000000"/>
              </a:solidFill>
              <a:latin typeface="Futura Bk"/>
            </a:endParaRPr>
          </a:p>
          <a:p>
            <a:pPr marL="571680" lvl="1" indent="-228600">
              <a:lnSpc>
                <a:spcPct val="90000"/>
              </a:lnSpc>
              <a:spcBef>
                <a:spcPts val="624"/>
              </a:spcBef>
              <a:spcAft>
                <a:spcPts val="2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Futura Bk"/>
              </a:rPr>
              <a:t>Statistics (Haralik’s co-occurance matrices, Tamura features)</a:t>
            </a:r>
            <a:endParaRPr lang="en-US" sz="2000" b="0" strike="noStrike" spc="-1">
              <a:solidFill>
                <a:srgbClr val="000000"/>
              </a:solidFill>
              <a:latin typeface="Futura Bk"/>
            </a:endParaRPr>
          </a:p>
          <a:p>
            <a:pPr marL="571680" lvl="1" indent="-228600">
              <a:lnSpc>
                <a:spcPct val="90000"/>
              </a:lnSpc>
              <a:spcBef>
                <a:spcPts val="624"/>
              </a:spcBef>
              <a:spcAft>
                <a:spcPts val="2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Futura Bk"/>
              </a:rPr>
              <a:t>Spectral features are more efficient (Gabor filters, ICA filters)</a:t>
            </a:r>
            <a:endParaRPr lang="en-US" sz="2000" b="0" strike="noStrike" spc="-1">
              <a:solidFill>
                <a:srgbClr val="000000"/>
              </a:solidFill>
              <a:latin typeface="Futura Bk"/>
            </a:endParaRPr>
          </a:p>
          <a:p>
            <a:pPr marL="571680" lvl="1" indent="0">
              <a:lnSpc>
                <a:spcPct val="90000"/>
              </a:lnSpc>
              <a:spcBef>
                <a:spcPts val="624"/>
              </a:spcBef>
              <a:spcAft>
                <a:spcPts val="249"/>
              </a:spcAft>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2000" b="0" strike="noStrike" spc="-1">
              <a:solidFill>
                <a:srgbClr val="000000"/>
              </a:solidFill>
              <a:latin typeface="Futura Bk"/>
            </a:endParaRPr>
          </a:p>
          <a:p>
            <a:pPr marL="228600" indent="-228600">
              <a:lnSpc>
                <a:spcPct val="90000"/>
              </a:lnSpc>
              <a:spcBef>
                <a:spcPts val="750"/>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rPr>
              <a:t>Shape features</a:t>
            </a:r>
            <a:endParaRPr lang="en-US" sz="2400" b="0" strike="noStrike" spc="-1">
              <a:solidFill>
                <a:srgbClr val="000000"/>
              </a:solidFill>
              <a:latin typeface="Futura Bk"/>
            </a:endParaRPr>
          </a:p>
          <a:p>
            <a:pPr marL="571680" lvl="1" indent="-228600">
              <a:lnSpc>
                <a:spcPct val="90000"/>
              </a:lnSpc>
              <a:spcBef>
                <a:spcPts val="624"/>
              </a:spcBef>
              <a:spcAft>
                <a:spcPts val="2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Futura Bk"/>
              </a:rPr>
              <a:t>Boundary-based (Fourier descriptors)</a:t>
            </a:r>
            <a:endParaRPr lang="en-US" sz="2000" b="0" strike="noStrike" spc="-1">
              <a:solidFill>
                <a:srgbClr val="000000"/>
              </a:solidFill>
              <a:latin typeface="Futura Bk"/>
            </a:endParaRPr>
          </a:p>
          <a:p>
            <a:pPr marL="571680" lvl="1" indent="-228600">
              <a:lnSpc>
                <a:spcPct val="90000"/>
              </a:lnSpc>
              <a:spcBef>
                <a:spcPts val="624"/>
              </a:spcBef>
              <a:spcAft>
                <a:spcPts val="2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Futura Bk"/>
              </a:rPr>
              <a:t>Region-based (Moment invariants)</a:t>
            </a:r>
            <a:endParaRPr lang="en-US" sz="2000" b="0" strike="noStrike" spc="-1">
              <a:solidFill>
                <a:srgbClr val="000000"/>
              </a:solidFill>
              <a:latin typeface="Futura Bk"/>
            </a:endParaRPr>
          </a:p>
          <a:p>
            <a:pPr marL="571680" lvl="1" indent="0">
              <a:lnSpc>
                <a:spcPct val="90000"/>
              </a:lnSpc>
              <a:spcBef>
                <a:spcPts val="624"/>
              </a:spcBef>
              <a:spcAft>
                <a:spcPts val="249"/>
              </a:spcAft>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2000" b="0" strike="noStrike" spc="-1">
              <a:solidFill>
                <a:srgbClr val="000000"/>
              </a:solidFill>
              <a:latin typeface="Futura Bk"/>
            </a:endParaRPr>
          </a:p>
          <a:p>
            <a:pPr marL="228600" indent="-228600">
              <a:lnSpc>
                <a:spcPct val="90000"/>
              </a:lnSpc>
              <a:spcBef>
                <a:spcPts val="750"/>
              </a:spcBef>
              <a:spcAft>
                <a:spcPts val="300"/>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b="0" strike="noStrike" spc="-1">
                <a:solidFill>
                  <a:srgbClr val="000000"/>
                </a:solidFill>
                <a:latin typeface="Futura Bk"/>
              </a:rPr>
              <a:t>Fusion methods</a:t>
            </a:r>
            <a:endParaRPr lang="en-US" sz="2400" b="0" strike="noStrike" spc="-1">
              <a:solidFill>
                <a:srgbClr val="000000"/>
              </a:solidFill>
              <a:latin typeface="Futura Bk"/>
            </a:endParaRPr>
          </a:p>
          <a:p>
            <a:pPr marL="571680" lvl="1" indent="-228600">
              <a:lnSpc>
                <a:spcPct val="90000"/>
              </a:lnSpc>
              <a:spcBef>
                <a:spcPts val="624"/>
              </a:spcBef>
              <a:spcAft>
                <a:spcPts val="2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Futura Bk"/>
              </a:rPr>
              <a:t>Are very important</a:t>
            </a:r>
            <a:endParaRPr lang="en-US" sz="2000" b="0" strike="noStrike" spc="-1">
              <a:solidFill>
                <a:srgbClr val="000000"/>
              </a:solidFill>
              <a:latin typeface="Futura Bk"/>
            </a:endParaRPr>
          </a:p>
          <a:p>
            <a:pPr marL="571680" lvl="1" indent="-228600">
              <a:lnSpc>
                <a:spcPct val="90000"/>
              </a:lnSpc>
              <a:spcBef>
                <a:spcPts val="624"/>
              </a:spcBef>
              <a:spcAft>
                <a:spcPts val="249"/>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000" b="0" strike="noStrike" spc="-1">
                <a:solidFill>
                  <a:srgbClr val="000000"/>
                </a:solidFill>
                <a:latin typeface="Futura Bk"/>
              </a:rPr>
              <a:t>Need to choose based on a particular fusion task</a:t>
            </a:r>
            <a:endParaRPr lang="en-US" sz="2000" b="0" strike="noStrike" spc="-1">
              <a:solidFill>
                <a:srgbClr val="000000"/>
              </a:solidFill>
              <a:latin typeface="Futura Bk"/>
            </a:endParaRPr>
          </a:p>
          <a:p>
            <a:pPr marL="571680" lvl="1" indent="0">
              <a:lnSpc>
                <a:spcPct val="90000"/>
              </a:lnSpc>
              <a:spcBef>
                <a:spcPts val="624"/>
              </a:spcBef>
              <a:spcAft>
                <a:spcPts val="249"/>
              </a:spcAft>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2000" b="0" strike="noStrike" spc="-1">
              <a:solidFill>
                <a:srgbClr val="000000"/>
              </a:solidFill>
              <a:latin typeface="Futura Bk"/>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984"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Lecture 3: Bibliography</a:t>
            </a:r>
            <a:endParaRPr lang="en-US" sz="3600" b="0" strike="noStrike" spc="-1">
              <a:solidFill>
                <a:srgbClr val="000000"/>
              </a:solidFill>
              <a:latin typeface="Futura Bk"/>
            </a:endParaRPr>
          </a:p>
        </p:txBody>
      </p:sp>
      <p:sp>
        <p:nvSpPr>
          <p:cNvPr id="985" name="PlaceHolder 2"/>
          <p:cNvSpPr>
            <a:spLocks noGrp="1"/>
          </p:cNvSpPr>
          <p:nvPr>
            <p:ph/>
          </p:nvPr>
        </p:nvSpPr>
        <p:spPr bwMode="auto">
          <a:xfrm>
            <a:off x="399600" y="1447920"/>
            <a:ext cx="8272440" cy="4789440"/>
          </a:xfrm>
          <a:prstGeom prst="rect">
            <a:avLst/>
          </a:prstGeom>
          <a:noFill/>
          <a:ln w="0">
            <a:noFill/>
          </a:ln>
        </p:spPr>
        <p:txBody>
          <a:bodyPr lIns="90000" tIns="46800" rIns="90000" bIns="46800" anchor="t">
            <a:normAutofit/>
          </a:bodyPr>
          <a:p>
            <a:pPr marL="533520" indent="-533520">
              <a:lnSpc>
                <a:spcPct val="80000"/>
              </a:lnSpc>
              <a:spcBef>
                <a:spcPts val="1125"/>
              </a:spcBef>
              <a:spcAft>
                <a:spcPts val="224"/>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800" b="0" strike="noStrike" spc="-1">
                <a:solidFill>
                  <a:srgbClr val="000000"/>
                </a:solidFill>
                <a:latin typeface="Futura Bk"/>
              </a:rPr>
              <a:t>Haralick R. M., Shanmugam K., Dienstein I. Textural features for image classification. In IEEE Transactions on Systems, Man and Cybernetics, vol. 3(6), pp. 610 – 621, Nov. 1973.</a:t>
            </a:r>
            <a:endParaRPr lang="en-US" sz="1800" b="0" strike="noStrike" spc="-1">
              <a:solidFill>
                <a:srgbClr val="000000"/>
              </a:solidFill>
              <a:latin typeface="Futura Bk"/>
            </a:endParaRPr>
          </a:p>
          <a:p>
            <a:pPr marL="533520" indent="-533520">
              <a:lnSpc>
                <a:spcPct val="80000"/>
              </a:lnSpc>
              <a:spcBef>
                <a:spcPts val="1125"/>
              </a:spcBef>
              <a:spcAft>
                <a:spcPts val="224"/>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800" b="0" strike="noStrike" spc="-1">
                <a:solidFill>
                  <a:srgbClr val="000000"/>
                </a:solidFill>
                <a:latin typeface="Futura Bk"/>
              </a:rPr>
              <a:t>Tamura H., Mori S., Yamawaki T. Textural features corresponding to visual perception. In IEEE Transactions on Systems, Man and Cybernetics, vol. 8, pp. 460 – 472, 1978.</a:t>
            </a:r>
            <a:endParaRPr lang="en-US" sz="1800" b="0" strike="noStrike" spc="-1">
              <a:solidFill>
                <a:srgbClr val="000000"/>
              </a:solidFill>
              <a:latin typeface="Futura Bk"/>
            </a:endParaRPr>
          </a:p>
          <a:p>
            <a:pPr marL="533520" indent="-533520">
              <a:lnSpc>
                <a:spcPct val="80000"/>
              </a:lnSpc>
              <a:spcBef>
                <a:spcPts val="1125"/>
              </a:spcBef>
              <a:spcAft>
                <a:spcPts val="224"/>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800" b="0" strike="noStrike" spc="-1">
                <a:solidFill>
                  <a:srgbClr val="000000"/>
                </a:solidFill>
                <a:latin typeface="Futura Bk"/>
              </a:rPr>
              <a:t>Tuceryan M., Jain A. K. Texture analysis. The Handbook of Pattern Recognition and Computer Vision (2nd Edition), by C. H. Chen, L. F. Pau, P. S. P. Wang (eds.), pp. 207-248, World Scientific Publishing Co., 1998.</a:t>
            </a:r>
            <a:endParaRPr lang="en-US" sz="1800" b="0" strike="noStrike" spc="-1">
              <a:solidFill>
                <a:srgbClr val="000000"/>
              </a:solidFill>
              <a:latin typeface="Futura Bk"/>
            </a:endParaRPr>
          </a:p>
          <a:p>
            <a:pPr marL="533520" indent="-533520">
              <a:lnSpc>
                <a:spcPct val="80000"/>
              </a:lnSpc>
              <a:spcBef>
                <a:spcPts val="1125"/>
              </a:spcBef>
              <a:spcAft>
                <a:spcPts val="224"/>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800" b="0" strike="noStrike" spc="-1">
                <a:solidFill>
                  <a:srgbClr val="000000"/>
                </a:solidFill>
                <a:latin typeface="Futura Bk"/>
              </a:rPr>
              <a:t>Tuceryan M., Jain A. Texture segmentation using Voronoi polygons. In IEEE Transactions on Pattern Analysis and Machine Intelligence, vol. 12, No 2, pp. 211 – 216, February 1990.</a:t>
            </a:r>
            <a:endParaRPr lang="en-US" sz="1800" b="0" strike="noStrike" spc="-1">
              <a:solidFill>
                <a:srgbClr val="000000"/>
              </a:solidFill>
              <a:latin typeface="Futura Bk"/>
            </a:endParaRPr>
          </a:p>
          <a:p>
            <a:pPr marL="533520" indent="-533520">
              <a:lnSpc>
                <a:spcPct val="80000"/>
              </a:lnSpc>
              <a:spcBef>
                <a:spcPts val="1125"/>
              </a:spcBef>
              <a:spcAft>
                <a:spcPts val="224"/>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800" b="0" strike="noStrike" spc="-1">
                <a:solidFill>
                  <a:srgbClr val="000000"/>
                </a:solidFill>
                <a:latin typeface="Futura Bk"/>
              </a:rPr>
              <a:t>Walker R., Jackway P., Longstaff I. D. Improving co-occurrence matrix feature discrimination. In Proc. of DICTA’95, The 3rd Conference on Digital Image Computing: Techniques and Applications, pp. 643 – 648, 6-8 December, 1995. </a:t>
            </a:r>
            <a:endParaRPr lang="en-US" sz="1800" b="0" strike="noStrike" spc="-1">
              <a:solidFill>
                <a:srgbClr val="000000"/>
              </a:solidFill>
              <a:latin typeface="Futura Bk"/>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p:cNvGrpSpPr/>
        <p:nvPr/>
      </p:nvGrpSpPr>
      <p:grpSpPr bwMode="auto">
        <a:xfrm>
          <a:off x="0" y="0"/>
          <a:ext cx="0" cy="0"/>
          <a:chOff x="0" y="0"/>
          <a:chExt cx="0" cy="0"/>
        </a:xfrm>
      </p:grpSpPr>
      <p:sp>
        <p:nvSpPr>
          <p:cNvPr id="986" name="PlaceHolder 1"/>
          <p:cNvSpPr>
            <a:spLocks noGrp="1"/>
          </p:cNvSpPr>
          <p:nvPr>
            <p:ph type="title"/>
          </p:nvPr>
        </p:nvSpPr>
        <p:spPr bwMode="auto">
          <a:xfrm>
            <a:off x="428400" y="114120"/>
            <a:ext cx="8256600" cy="1143000"/>
          </a:xfrm>
          <a:prstGeom prst="rect">
            <a:avLst/>
          </a:prstGeom>
          <a:noFill/>
          <a:ln w="0">
            <a:noFill/>
          </a:ln>
        </p:spPr>
        <p:txBody>
          <a:bodyPr lIns="90000" tIns="46800" rIns="90000" bIns="46800" anchor="b">
            <a:noAutofit/>
          </a:bodyPr>
          <a:p>
            <a:pPr indent="0">
              <a:lnSpc>
                <a:spcPct val="9000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600" b="0" strike="noStrike" spc="-1">
                <a:solidFill>
                  <a:srgbClr val="000000"/>
                </a:solidFill>
                <a:latin typeface="Futura Bk"/>
              </a:rPr>
              <a:t>Lecture 3: Bibliography</a:t>
            </a:r>
            <a:endParaRPr lang="en-US" sz="3600" b="0" strike="noStrike" spc="-1">
              <a:solidFill>
                <a:srgbClr val="000000"/>
              </a:solidFill>
              <a:latin typeface="Futura Bk"/>
            </a:endParaRPr>
          </a:p>
        </p:txBody>
      </p:sp>
      <p:sp>
        <p:nvSpPr>
          <p:cNvPr id="987" name="PlaceHolder 2"/>
          <p:cNvSpPr>
            <a:spLocks noGrp="1"/>
          </p:cNvSpPr>
          <p:nvPr>
            <p:ph/>
          </p:nvPr>
        </p:nvSpPr>
        <p:spPr bwMode="auto">
          <a:xfrm>
            <a:off x="399600" y="1341000"/>
            <a:ext cx="8272440" cy="5149800"/>
          </a:xfrm>
          <a:prstGeom prst="rect">
            <a:avLst/>
          </a:prstGeom>
          <a:noFill/>
          <a:ln w="0">
            <a:noFill/>
          </a:ln>
        </p:spPr>
        <p:txBody>
          <a:bodyPr lIns="90000" tIns="46800" rIns="90000" bIns="46800" anchor="t">
            <a:normAutofit fontScale="93550"/>
          </a:bodyPr>
          <a:p>
            <a:pPr marL="533520" indent="-533520">
              <a:lnSpc>
                <a:spcPct val="80000"/>
              </a:lnSpc>
              <a:spcBef>
                <a:spcPts val="1001"/>
              </a:spcBef>
              <a:spcAft>
                <a:spcPts val="201"/>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600" b="0" strike="noStrike" spc="-1">
                <a:solidFill>
                  <a:srgbClr val="000000"/>
                </a:solidFill>
                <a:latin typeface="Futura Bk"/>
              </a:rPr>
              <a:t>Li B., Ma S. D. On the relation between region and contour representation. In Proc. of the IEEE International Conference on Pattern Recognition, vol. 1, pp. 352 – 355, 1994.</a:t>
            </a:r>
            <a:endParaRPr lang="en-US" sz="1600" b="0" strike="noStrike" spc="-1">
              <a:solidFill>
                <a:srgbClr val="000000"/>
              </a:solidFill>
              <a:latin typeface="Futura Bk"/>
            </a:endParaRPr>
          </a:p>
          <a:p>
            <a:pPr marL="533520" indent="-533520">
              <a:lnSpc>
                <a:spcPct val="80000"/>
              </a:lnSpc>
              <a:spcBef>
                <a:spcPts val="1001"/>
              </a:spcBef>
              <a:spcAft>
                <a:spcPts val="201"/>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600" b="0" strike="noStrike" spc="-1">
                <a:solidFill>
                  <a:srgbClr val="000000"/>
                </a:solidFill>
                <a:latin typeface="Futura Bk"/>
              </a:rPr>
              <a:t>Lin T.-W., Chou Y.-F. A Comparative Study of Zernike Moments for Image Retrieval. In Proc. of 16th IPPR Conference on Computer Vision, Graphics and Image Processing (CVGIP 2003), pp. 621 – 629, 2003.</a:t>
            </a:r>
            <a:endParaRPr lang="en-US" sz="1600" b="0" strike="noStrike" spc="-1">
              <a:solidFill>
                <a:srgbClr val="000000"/>
              </a:solidFill>
              <a:latin typeface="Futura Bk"/>
            </a:endParaRPr>
          </a:p>
          <a:p>
            <a:pPr marL="533520" indent="-533520">
              <a:lnSpc>
                <a:spcPct val="80000"/>
              </a:lnSpc>
              <a:spcBef>
                <a:spcPts val="1001"/>
              </a:spcBef>
              <a:spcAft>
                <a:spcPts val="201"/>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600" b="0" strike="noStrike" spc="-1">
                <a:solidFill>
                  <a:srgbClr val="000000"/>
                </a:solidFill>
                <a:latin typeface="Futura Bk"/>
              </a:rPr>
              <a:t>Loncaric S. A survey of shape analysis techniques. In Pattern Recognition, vol. 31(8), pp. 983 – 1001, 1998.</a:t>
            </a:r>
            <a:endParaRPr lang="en-US" sz="1600" b="0" strike="noStrike" spc="-1">
              <a:solidFill>
                <a:srgbClr val="000000"/>
              </a:solidFill>
              <a:latin typeface="Futura Bk"/>
            </a:endParaRPr>
          </a:p>
          <a:p>
            <a:pPr marL="533520" indent="-533520">
              <a:lnSpc>
                <a:spcPct val="80000"/>
              </a:lnSpc>
              <a:spcBef>
                <a:spcPts val="1001"/>
              </a:spcBef>
              <a:spcAft>
                <a:spcPts val="201"/>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600" b="0" strike="noStrike" spc="-1">
                <a:solidFill>
                  <a:srgbClr val="000000"/>
                </a:solidFill>
                <a:latin typeface="Futura Bk"/>
              </a:rPr>
              <a:t>Luren Y., Fritz A. Fast computation of invariant geometric moments: A new method giving correct results. In Proc. of  IEEE International Conference on Image Processing, 1994.</a:t>
            </a:r>
            <a:endParaRPr lang="en-US" sz="1600" b="0" strike="noStrike" spc="-1">
              <a:solidFill>
                <a:srgbClr val="000000"/>
              </a:solidFill>
              <a:latin typeface="Futura Bk"/>
            </a:endParaRPr>
          </a:p>
          <a:p>
            <a:pPr marL="533520" indent="-533520">
              <a:lnSpc>
                <a:spcPct val="80000"/>
              </a:lnSpc>
              <a:spcBef>
                <a:spcPts val="1001"/>
              </a:spcBef>
              <a:spcAft>
                <a:spcPts val="201"/>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600" b="0" strike="noStrike" spc="-1">
                <a:solidFill>
                  <a:srgbClr val="000000"/>
                </a:solidFill>
                <a:latin typeface="Futura Bk"/>
              </a:rPr>
              <a:t>Zakaria M. F., Vroomen L. J., Zsombor-Murray P. J. A., van Kessel J. M. H. M. Fast algorithm for the computation of moment invariants. In Pattern Recognition, vol. 20(6), pp. 639 – 643, 1987.</a:t>
            </a:r>
            <a:endParaRPr lang="en-US" sz="1600" b="0" strike="noStrike" spc="-1">
              <a:solidFill>
                <a:srgbClr val="000000"/>
              </a:solidFill>
              <a:latin typeface="Futura Bk"/>
            </a:endParaRPr>
          </a:p>
          <a:p>
            <a:pPr marL="533520" indent="-533520">
              <a:lnSpc>
                <a:spcPct val="80000"/>
              </a:lnSpc>
              <a:spcBef>
                <a:spcPts val="1001"/>
              </a:spcBef>
              <a:spcAft>
                <a:spcPts val="201"/>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600" b="0" strike="noStrike" spc="-1">
                <a:solidFill>
                  <a:srgbClr val="000000"/>
                </a:solidFill>
                <a:latin typeface="Futura Bk"/>
              </a:rPr>
              <a:t>Zernike polynomials. Wikipedia, the free encyclopedia. </a:t>
            </a:r>
            <a:br>
              <a:rPr sz="1600"/>
            </a:br>
            <a:r>
              <a:rPr lang="ru-RU" sz="1600" b="0" strike="noStrike" spc="-1">
                <a:solidFill>
                  <a:srgbClr val="000000"/>
                </a:solidFill>
                <a:latin typeface="Futura Bk"/>
              </a:rPr>
              <a:t>http://en.wikipedia.org/wiki/Zernike_polynomials</a:t>
            </a:r>
            <a:endParaRPr lang="en-US" sz="1600" b="0" strike="noStrike" spc="-1">
              <a:solidFill>
                <a:srgbClr val="000000"/>
              </a:solidFill>
              <a:latin typeface="Futura Bk"/>
            </a:endParaRPr>
          </a:p>
          <a:p>
            <a:pPr marL="533520" indent="-533520">
              <a:lnSpc>
                <a:spcPct val="80000"/>
              </a:lnSpc>
              <a:spcBef>
                <a:spcPts val="1001"/>
              </a:spcBef>
              <a:spcAft>
                <a:spcPts val="201"/>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600" b="0" strike="noStrike" spc="-1">
                <a:solidFill>
                  <a:srgbClr val="000000"/>
                </a:solidFill>
                <a:latin typeface="Futura Bk"/>
              </a:rPr>
              <a:t>Zhang D., Lu G. Shape-based image retrieval using generic Fourier descriptor. In Signal Processing: Image Communication, vol. 17, pp. 825 – 848, 2002.</a:t>
            </a:r>
            <a:endParaRPr lang="en-US" sz="1600" b="0" strike="noStrike" spc="-1">
              <a:solidFill>
                <a:srgbClr val="000000"/>
              </a:solidFill>
              <a:latin typeface="Futura Bk"/>
            </a:endParaRPr>
          </a:p>
          <a:p>
            <a:pPr marL="533520" indent="-533520">
              <a:lnSpc>
                <a:spcPct val="80000"/>
              </a:lnSpc>
              <a:spcBef>
                <a:spcPts val="1001"/>
              </a:spcBef>
              <a:spcAft>
                <a:spcPts val="201"/>
              </a:spcAft>
              <a:buClr>
                <a:srgbClr val="ABA69F"/>
              </a:buClr>
              <a:buSzPct val="85000"/>
              <a:buFont typeface="Futura Bk"/>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1600" b="0" strike="noStrike" spc="-1">
                <a:solidFill>
                  <a:srgbClr val="000000"/>
                </a:solidFill>
                <a:latin typeface="Futura Bk"/>
              </a:rPr>
              <a:t>Zhang D., Lu G. A Comparative Study on Shape Retrieval Using Fourier Descriptors with Different Shape Signatures. In Proc. of the International Conference on Multimedia, 2001.</a:t>
            </a:r>
            <a:endParaRPr lang="en-US" sz="1600" b="0" strike="noStrike" spc="-1">
              <a:solidFill>
                <a:srgbClr val="000000"/>
              </a:solidFill>
              <a:latin typeface="Futura Bk"/>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_rels/theme4.xml.rels><?xml version="1.0" encoding="UTF-8" standalone="yes"?><Relationships xmlns="http://schemas.openxmlformats.org/package/2006/relationships"></Relationships>
</file>

<file path=ppt/theme/_rels/theme5.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solidFill>
        <a:solidFill>
          <a:schemeClr val="phClr"/>
        </a:soli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solidFill>
        <a:solidFill>
          <a:schemeClr val="phClr"/>
        </a:solidFill>
      </a:bgFillStyleLst>
    </a:fmtScheme>
  </a:themeElements>
  <a:objectDefaults/>
</a:theme>
</file>

<file path=ppt/theme/theme3.xml><?xml version="1.0" encoding="utf-8"?>
<a:theme xmlns:a="http://schemas.openxmlformats.org/drawingml/2006/main" xmlns:r="http://schemas.openxmlformats.org/officeDocument/2006/relationships" xmlns:p="http://schemas.openxmlformats.org/presentation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solidFill>
        <a:solidFill>
          <a:schemeClr val="phClr"/>
        </a:solidFill>
      </a:bgFillStyleLst>
    </a:fmtScheme>
  </a:themeElements>
  <a:objectDefaults/>
</a:theme>
</file>

<file path=ppt/theme/theme4.xml><?xml version="1.0" encoding="utf-8"?>
<a:theme xmlns:a="http://schemas.openxmlformats.org/drawingml/2006/main" xmlns:r="http://schemas.openxmlformats.org/officeDocument/2006/relationships" xmlns:p="http://schemas.openxmlformats.org/presentation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solidFill>
        <a:solidFill>
          <a:schemeClr val="phClr"/>
        </a:solidFill>
      </a:bgFillStyleLst>
    </a:fmtScheme>
  </a:themeElements>
  <a:objectDefaults/>
</a:theme>
</file>

<file path=ppt/theme/theme5.xml><?xml version="1.0" encoding="utf-8"?>
<a:theme xmlns:a="http://schemas.openxmlformats.org/drawingml/2006/main" xmlns:r="http://schemas.openxmlformats.org/officeDocument/2006/relationships" xmlns:p="http://schemas.openxmlformats.org/presentation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solidFill>
        <a:solidFill>
          <a:schemeClr val="phClr"/>
        </a:soli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R7-Office/2024.1.1.375</Application>
  <DocSecurity>0</DocSecurity>
  <PresentationFormat/>
  <Paragraphs>0</Paragraphs>
  <Slides>51</Slides>
  <Notes>51</Notes>
  <HiddenSlides>0</HiddenSlides>
  <MMClips>2</MMClips>
  <ScaleCrop>0</ScaleCrop>
  <HeadingPairs>
    <vt:vector size="4" baseType="variant">
      <vt:variant>
        <vt:lpstr>Theme</vt:lpstr>
      </vt:variant>
      <vt:variant>
        <vt:i4>4</vt:i4>
      </vt:variant>
      <vt:variant>
        <vt:lpstr>Slide Titles</vt:lpstr>
      </vt:variant>
      <vt:variant>
        <vt:i4>51</vt:i4>
      </vt:variant>
    </vt:vector>
  </HeadingPairs>
  <TitlesOfParts>
    <vt:vector size="55" baseType="lpstr">
      <vt:lpstr>Theme 1</vt:lpstr>
      <vt:lpstr>Theme 2</vt:lpstr>
      <vt:lpstr>Theme 3</vt:lpstr>
      <vt:lpstr>Theme 4</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Similarity Retrieval Algorithm for Natural Images</dc:title>
  <dc:subject/>
  <dc:creator>Nata</dc:creator>
  <cp:keywords/>
  <dc:description/>
  <dc:identifier/>
  <dc:language>en-US</dc:language>
  <cp:lastModifiedBy>Носова Светлана</cp:lastModifiedBy>
  <cp:revision>338</cp:revision>
  <dcterms:created xsi:type="dcterms:W3CDTF">2004-05-23T13:34:52Z</dcterms:created>
  <dcterms:modified xsi:type="dcterms:W3CDTF">2025-11-01T10:06:23Z</dcterms:modified>
  <cp:category/>
  <cp:contentStatus/>
  <cp:version/>
</cp:coreProperties>
</file>